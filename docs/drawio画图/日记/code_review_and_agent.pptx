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4" d="100"/>
          <a:sy n="74" d="100"/>
        </p:scale>
        <p:origin x="21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E7C919-6E5C-48B5-8F3E-B0D26EDFA013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C65618-95F2-4B99-8C45-117EEE9FC6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584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C65618-95F2-4B99-8C45-117EEE9FC6D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288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0E2562-FAC7-6B7D-13EC-8592CBBAE3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20EF494-9331-F698-367A-B86462027D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D2EE76-B7E9-8EC4-BD3C-FC2133657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A9E32-8FC3-4507-825F-6A0E9D5920A2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9CF6D5-3A91-2AB8-7F13-245F865DE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E5DE0B-F8C8-9AC0-470C-469DE79C3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20C79-9AC4-46C2-A354-A5FFCC5CA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2217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94B9A9-EC73-5EDD-F865-85CB67CFB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4439B0-7A99-122E-6951-D3C56DDC9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EB853E-467D-CA97-3C07-077A4E128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A9E32-8FC3-4507-825F-6A0E9D5920A2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289424-A88C-FDAD-86CA-59B04666C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CE5445-B177-D2F2-D5C7-C93C8AEA7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20C79-9AC4-46C2-A354-A5FFCC5CA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2774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2A873C-EF66-3E4A-F4E1-8DE3432B0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0DBE39-9E6E-4AFC-0ABB-987DAC3E0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83E311-6084-AC8A-E1D7-8BC4BB33E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A9E32-8FC3-4507-825F-6A0E9D5920A2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123D8A-33D8-6623-636F-1075D2E9E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6896C8-8E6C-B638-F288-AB3E22EB9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20C79-9AC4-46C2-A354-A5FFCC5CA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9808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0215AF-3B77-00B7-E5B1-B4BD4A8D6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2C7694-D041-4CA8-2AE6-16F24BC393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E819BCA-3561-F006-B510-94350DFAA4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C9D7F0-21A6-7E73-0149-2EA8C441F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A9E32-8FC3-4507-825F-6A0E9D5920A2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245D2B-2565-3387-DFCD-AD68744F0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C9C78B-5559-9517-C6FD-859AB347E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20C79-9AC4-46C2-A354-A5FFCC5CA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526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8F0507-60C6-6873-56B0-9BA8474C0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074241-F9C6-5CD7-DB71-8CBD9560F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6048E6-60DB-0647-FFE0-F8EF9F3E75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6C2DD08-8E2B-9CFB-2D83-446F852BA4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5D54F1F-E2B7-FE2B-CB5C-90D74B5AC6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2156758-83D4-0968-4DE9-F4CB87EB0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A9E32-8FC3-4507-825F-6A0E9D5920A2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A253A7E-FEF5-94B2-74D6-463F5B33B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6E6E0A1-F6E3-B08B-AE6A-DDCCD2682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20C79-9AC4-46C2-A354-A5FFCC5CA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948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FA9B06-48DB-1155-26DA-A2BAFB2F8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832CAB5-B71F-AE51-919C-6AF26BC2F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A9E32-8FC3-4507-825F-6A0E9D5920A2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88B6F9F-07AB-2F78-3135-6EB086176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D636364-D02F-1C70-0555-D163513E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20C79-9AC4-46C2-A354-A5FFCC5CA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6573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94B8D28-4944-3D2A-BEF7-596D6442A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A9E32-8FC3-4507-825F-6A0E9D5920A2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6239AC3-9087-24FA-7891-E6B2B0FD8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AF1A55-4591-1986-3C6E-476DC51A5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20C79-9AC4-46C2-A354-A5FFCC5CA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5467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C8BFA3-6D5B-9FB7-F264-87983E63F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766BE3-2669-6850-3247-3055FF6F4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26912B-2642-73AD-AE1A-2559CD337B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F9227F-6553-A648-A1FC-3BC46408F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A9E32-8FC3-4507-825F-6A0E9D5920A2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346E28-67E4-F3B7-DB44-F3940B35E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C06321-2BF2-5260-50E2-DBEA331C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20C79-9AC4-46C2-A354-A5FFCC5CA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4349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CE27D0-27EB-42A1-04AF-9ED0D82A2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781D903-EB50-0466-86BD-34C685A20F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F157B52-7D4E-3799-93ED-5A2AD86D51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D0F6BF-F157-596F-8662-0EA756D1A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A9E32-8FC3-4507-825F-6A0E9D5920A2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813670-35B1-6C6A-ABD9-DB7945519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AC432F-FF6F-ED26-7A98-9CFAD364E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20C79-9AC4-46C2-A354-A5FFCC5CA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9432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2FAA4E-3045-C1BB-6281-918E4ABFE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89DC2BA-8E85-F623-DF47-FDABB4D31D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AC2AA5-4BF4-FABD-54B5-40069B3B5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A9E32-8FC3-4507-825F-6A0E9D5920A2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8C8F4A-7D94-0B75-05F8-6B27A1BDF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A19C94-D73F-1303-6154-D4854195C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20C79-9AC4-46C2-A354-A5FFCC5CA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102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8F572D1-7F4F-D9FE-4FB3-F10A9876E3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903AC59-4206-C7DF-FDBD-77750C3EF1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D1B159-F462-3067-2F06-9618143D4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A9E32-8FC3-4507-825F-6A0E9D5920A2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490944-02F7-DADE-818B-4E4A78722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629A00-4EF5-4A82-CC48-2E5B298CA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20C79-9AC4-46C2-A354-A5FFCC5CA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9010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810165B-6442-25AE-0F5B-13B4648C4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4447DC-FC3B-6179-7D79-64DE1A0ED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0D00B4-9A13-0968-D589-54656F11F1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A9E32-8FC3-4507-825F-6A0E9D5920A2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C805E5-8677-E72E-7867-09D785D63A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7B0244-51A5-1973-2FE3-DA060B2D0C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020C79-9AC4-46C2-A354-A5FFCC5CA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191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onf.researchr.org/program/fse-2025/program-fse-2025/?date=Wed%2025%20Jun%202025%2BThu%2026%20Jun%202025%2BFri%2027%20Jun%202025%2B&#21608;&#20116;%202025%20&#24180;%206%20&#26376;%2027%20&#26085;%2B&#21608;&#22235;%2026%206&#26376;%202025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3E87D3B8-5C72-60F6-D435-BBBE495DEAF0}"/>
              </a:ext>
            </a:extLst>
          </p:cNvPr>
          <p:cNvCxnSpPr>
            <a:cxnSpLocks/>
          </p:cNvCxnSpPr>
          <p:nvPr/>
        </p:nvCxnSpPr>
        <p:spPr>
          <a:xfrm>
            <a:off x="2234045" y="550718"/>
            <a:ext cx="0" cy="52474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1">
            <a:extLst>
              <a:ext uri="{FF2B5EF4-FFF2-40B4-BE49-F238E27FC236}">
                <a16:creationId xmlns:a16="http://schemas.microsoft.com/office/drawing/2014/main" id="{5217A070-B7E5-490A-FE20-2A3151A0A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6579" y="801813"/>
            <a:ext cx="3962398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Iosevka Curly"/>
                <a:hlinkClick r:id="rId3"/>
              </a:rPr>
              <a:t>Expectations, outcomes, and challenges of modern code review</a:t>
            </a:r>
            <a:endParaRPr kumimoji="0" lang="zh-CN" altLang="zh-CN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Iosevka Curly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06F7614-C8C0-CBB5-1918-BAABD0B4BD85}"/>
              </a:ext>
            </a:extLst>
          </p:cNvPr>
          <p:cNvSpPr txBox="1"/>
          <p:nvPr/>
        </p:nvSpPr>
        <p:spPr>
          <a:xfrm>
            <a:off x="2308860" y="723900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2013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E9982F0-CDE8-E356-89F2-B2E6B733CE5C}"/>
              </a:ext>
            </a:extLst>
          </p:cNvPr>
          <p:cNvSpPr txBox="1"/>
          <p:nvPr/>
        </p:nvSpPr>
        <p:spPr>
          <a:xfrm>
            <a:off x="3201833" y="4114619"/>
            <a:ext cx="76504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综述      </a:t>
            </a:r>
            <a:r>
              <a:rPr lang="en-US" altLang="zh-CN" dirty="0" err="1"/>
              <a:t>arXiv</a:t>
            </a:r>
            <a:r>
              <a:rPr lang="zh-CN" altLang="en-US" dirty="0"/>
              <a:t>      </a:t>
            </a:r>
            <a:r>
              <a:rPr lang="zh-CN" altLang="en-US" sz="1000" dirty="0"/>
              <a:t>Automating Code Review: A Systematic Literature Review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FEB2F6C-4143-6994-FCE2-82EE820B5E87}"/>
              </a:ext>
            </a:extLst>
          </p:cNvPr>
          <p:cNvSpPr txBox="1"/>
          <p:nvPr/>
        </p:nvSpPr>
        <p:spPr>
          <a:xfrm>
            <a:off x="2325516" y="4561683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2025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3D9A091-098E-771D-ADF6-9DC9056E3CB9}"/>
              </a:ext>
            </a:extLst>
          </p:cNvPr>
          <p:cNvSpPr txBox="1"/>
          <p:nvPr/>
        </p:nvSpPr>
        <p:spPr>
          <a:xfrm>
            <a:off x="3125633" y="4369601"/>
            <a:ext cx="8176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CORAL   </a:t>
            </a:r>
            <a:r>
              <a:rPr lang="en-US" altLang="zh-CN" dirty="0" err="1"/>
              <a:t>arXiv</a:t>
            </a:r>
            <a:r>
              <a:rPr lang="en-US" altLang="zh-CN" dirty="0"/>
              <a:t>      </a:t>
            </a:r>
            <a:r>
              <a:rPr lang="en-US" altLang="zh-CN" sz="1000" dirty="0"/>
              <a:t>  </a:t>
            </a:r>
            <a:r>
              <a:rPr lang="zh-CN" altLang="en-US" sz="1000" dirty="0"/>
              <a:t>Leveraging Reward Models for Guiding Code Review Comment Generation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9B933D3-93FE-F5D3-892E-44E7B0838553}"/>
              </a:ext>
            </a:extLst>
          </p:cNvPr>
          <p:cNvSpPr txBox="1"/>
          <p:nvPr/>
        </p:nvSpPr>
        <p:spPr>
          <a:xfrm>
            <a:off x="3079912" y="23638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CodeReviewer</a:t>
            </a:r>
            <a:r>
              <a:rPr lang="en-US" altLang="zh-CN" dirty="0"/>
              <a:t>  FSE  </a:t>
            </a:r>
            <a:r>
              <a:rPr lang="zh-CN" altLang="en-US" sz="1000" dirty="0"/>
              <a:t>Automating Code Review Activities by Large-Scale Pre-training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848C3BB-CB7C-C94F-D2D3-0CAF10B2C768}"/>
              </a:ext>
            </a:extLst>
          </p:cNvPr>
          <p:cNvSpPr txBox="1"/>
          <p:nvPr/>
        </p:nvSpPr>
        <p:spPr>
          <a:xfrm>
            <a:off x="2295037" y="2450939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2022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19736A4-D7B3-C834-A16A-A72F83FD9098}"/>
              </a:ext>
            </a:extLst>
          </p:cNvPr>
          <p:cNvSpPr txBox="1"/>
          <p:nvPr/>
        </p:nvSpPr>
        <p:spPr>
          <a:xfrm>
            <a:off x="3064672" y="3523674"/>
            <a:ext cx="7650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DISCOREV FSE  </a:t>
            </a:r>
            <a:r>
              <a:rPr lang="zh-CN" altLang="en-US" sz="1000" dirty="0"/>
              <a:t>Improving the Learning of Code Review Successive Tasks with Cross-Task Knowledge Distillation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E638B4F-77FC-2A0E-E776-BCB52E6E2AEC}"/>
              </a:ext>
            </a:extLst>
          </p:cNvPr>
          <p:cNvSpPr txBox="1"/>
          <p:nvPr/>
        </p:nvSpPr>
        <p:spPr>
          <a:xfrm>
            <a:off x="2295036" y="3446139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2024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E5B73B7-79F5-8058-41EB-8B22009FDA59}"/>
              </a:ext>
            </a:extLst>
          </p:cNvPr>
          <p:cNvSpPr txBox="1"/>
          <p:nvPr/>
        </p:nvSpPr>
        <p:spPr>
          <a:xfrm>
            <a:off x="2997495" y="5002885"/>
            <a:ext cx="7581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   </a:t>
            </a:r>
            <a:r>
              <a:rPr lang="en-US" altLang="zh-CN" dirty="0" err="1"/>
              <a:t>SeRe</a:t>
            </a:r>
            <a:r>
              <a:rPr lang="en-US" altLang="zh-CN" dirty="0"/>
              <a:t>  ICSE </a:t>
            </a:r>
            <a:r>
              <a:rPr lang="en-US" altLang="zh-CN" dirty="0" err="1"/>
              <a:t>arXiv</a:t>
            </a:r>
            <a:r>
              <a:rPr lang="zh-CN" altLang="en-US" dirty="0"/>
              <a:t>   </a:t>
            </a:r>
            <a:r>
              <a:rPr lang="zh-CN" altLang="en-US" sz="1000" dirty="0"/>
              <a:t>SeRe: A Security-Related Code Review Dataset Aligned with Real-World Review Activities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2E8A778-01C4-F31C-9F70-B8DDB82E7F40}"/>
              </a:ext>
            </a:extLst>
          </p:cNvPr>
          <p:cNvSpPr txBox="1"/>
          <p:nvPr/>
        </p:nvSpPr>
        <p:spPr>
          <a:xfrm>
            <a:off x="3102772" y="4703540"/>
            <a:ext cx="7650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ClearCRC</a:t>
            </a:r>
            <a:r>
              <a:rPr lang="en-US" altLang="zh-CN" dirty="0"/>
              <a:t> ISSTA   </a:t>
            </a:r>
            <a:r>
              <a:rPr lang="zh-CN" altLang="en-US" sz="1000" dirty="0"/>
              <a:t>Understanding Practitioners’ Expectations on Clear Code Review Comments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8808BBA-96CC-2D95-41C0-28E38E966135}"/>
              </a:ext>
            </a:extLst>
          </p:cNvPr>
          <p:cNvSpPr txBox="1"/>
          <p:nvPr/>
        </p:nvSpPr>
        <p:spPr>
          <a:xfrm>
            <a:off x="3069569" y="3189735"/>
            <a:ext cx="69099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Task Factor ASE-journal    </a:t>
            </a:r>
            <a:r>
              <a:rPr lang="zh-CN" altLang="en-US" sz="1000" dirty="0"/>
              <a:t>Exploring the impact of code review factors on the code review comment generation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CC3375A-66B4-CCA4-6B25-45CCDD1360D4}"/>
              </a:ext>
            </a:extLst>
          </p:cNvPr>
          <p:cNvSpPr txBox="1"/>
          <p:nvPr/>
        </p:nvSpPr>
        <p:spPr>
          <a:xfrm>
            <a:off x="3034162" y="138428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Encode-decoder ICSE </a:t>
            </a:r>
            <a:r>
              <a:rPr lang="zh-CN" altLang="en-US" sz="1000" dirty="0"/>
              <a:t>Towards Automating Code Review Activities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B88D40C-18FB-167E-A61A-88D8FBE9122E}"/>
              </a:ext>
            </a:extLst>
          </p:cNvPr>
          <p:cNvSpPr txBox="1"/>
          <p:nvPr/>
        </p:nvSpPr>
        <p:spPr>
          <a:xfrm>
            <a:off x="2308859" y="1384280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2021</a:t>
            </a:r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BEA7708-2FD6-CCD0-E8A3-A5E7E9D04C99}"/>
              </a:ext>
            </a:extLst>
          </p:cNvPr>
          <p:cNvSpPr txBox="1"/>
          <p:nvPr/>
        </p:nvSpPr>
        <p:spPr>
          <a:xfrm>
            <a:off x="3125633" y="204466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T5  ICSE </a:t>
            </a:r>
            <a:r>
              <a:rPr lang="zh-CN" altLang="en-US" sz="1000" dirty="0"/>
              <a:t>Using Pre-Trained Models to Boost Code Review Automation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4D5412B-E6EF-9467-1591-11A8016FD889}"/>
              </a:ext>
            </a:extLst>
          </p:cNvPr>
          <p:cNvSpPr txBox="1"/>
          <p:nvPr/>
        </p:nvSpPr>
        <p:spPr>
          <a:xfrm>
            <a:off x="3125633" y="269783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AUGER FSE </a:t>
            </a:r>
            <a:r>
              <a:rPr lang="zh-CN" altLang="en-US" sz="1000" dirty="0"/>
              <a:t>AUGER: Automatically Generating Review Comments with Pre-training Models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6C97BBE-1D95-E463-77CF-DFEDE9D561CD}"/>
              </a:ext>
            </a:extLst>
          </p:cNvPr>
          <p:cNvSpPr txBox="1"/>
          <p:nvPr/>
        </p:nvSpPr>
        <p:spPr>
          <a:xfrm>
            <a:off x="3125633" y="529246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LargeLSFT</a:t>
            </a:r>
            <a:r>
              <a:rPr lang="en-US" altLang="zh-CN" dirty="0"/>
              <a:t> TSE </a:t>
            </a:r>
            <a:r>
              <a:rPr lang="en-US" altLang="zh-CN" dirty="0" err="1"/>
              <a:t>arXiv</a:t>
            </a:r>
            <a:r>
              <a:rPr lang="en-US" altLang="zh-CN" dirty="0"/>
              <a:t>   </a:t>
            </a:r>
            <a:r>
              <a:rPr lang="zh-CN" altLang="en-US" sz="1000" dirty="0"/>
              <a:t>AI-Assisted Fixes to Code Review Comments at  Scale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8A33C85-B5A3-DA0D-63B6-1CBB41CA67EF}"/>
              </a:ext>
            </a:extLst>
          </p:cNvPr>
          <p:cNvSpPr txBox="1"/>
          <p:nvPr/>
        </p:nvSpPr>
        <p:spPr>
          <a:xfrm>
            <a:off x="697937" y="824896"/>
            <a:ext cx="1410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Code review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9131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B921D3FA-4C10-5185-12D1-161D1A452ADE}"/>
              </a:ext>
            </a:extLst>
          </p:cNvPr>
          <p:cNvCxnSpPr>
            <a:cxnSpLocks/>
          </p:cNvCxnSpPr>
          <p:nvPr/>
        </p:nvCxnSpPr>
        <p:spPr>
          <a:xfrm>
            <a:off x="2234045" y="550718"/>
            <a:ext cx="0" cy="52474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D5F9FE43-311D-87C6-3DAE-D4450987DF80}"/>
              </a:ext>
            </a:extLst>
          </p:cNvPr>
          <p:cNvSpPr txBox="1"/>
          <p:nvPr/>
        </p:nvSpPr>
        <p:spPr>
          <a:xfrm>
            <a:off x="697937" y="824896"/>
            <a:ext cx="784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Agent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315DA08-6F63-8AE8-C579-E0103DB6544A}"/>
              </a:ext>
            </a:extLst>
          </p:cNvPr>
          <p:cNvSpPr txBox="1"/>
          <p:nvPr/>
        </p:nvSpPr>
        <p:spPr>
          <a:xfrm>
            <a:off x="2590800" y="10865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AEGIS: An Agent-based Framework for Bug Reproduction from Issue Descriptions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48DB974-E5A6-C3F8-2361-92E403D761A6}"/>
              </a:ext>
            </a:extLst>
          </p:cNvPr>
          <p:cNvSpPr txBox="1"/>
          <p:nvPr/>
        </p:nvSpPr>
        <p:spPr>
          <a:xfrm>
            <a:off x="2514600" y="203141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CodeVisionary: An Agent-based Framework for Evaluating Large Language Models in Code Generation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3291201-1647-C689-F670-32989789C378}"/>
              </a:ext>
            </a:extLst>
          </p:cNvPr>
          <p:cNvSpPr txBox="1"/>
          <p:nvPr/>
        </p:nvSpPr>
        <p:spPr>
          <a:xfrm>
            <a:off x="2590800" y="297629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Agentless: Demystifying LLM-based Software Engineering Agents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1DBAAA0-2CFC-5201-6146-4217220ABC6A}"/>
              </a:ext>
            </a:extLst>
          </p:cNvPr>
          <p:cNvSpPr txBox="1"/>
          <p:nvPr/>
        </p:nvSpPr>
        <p:spPr>
          <a:xfrm>
            <a:off x="2590800" y="376115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SWE-agent: Agent-Computer Interfaces Enable Automated 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269198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</TotalTime>
  <Words>210</Words>
  <Application>Microsoft Office PowerPoint</Application>
  <PresentationFormat>宽屏</PresentationFormat>
  <Paragraphs>24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 x</dc:creator>
  <cp:lastModifiedBy>sc x</cp:lastModifiedBy>
  <cp:revision>21</cp:revision>
  <dcterms:created xsi:type="dcterms:W3CDTF">2025-08-19T04:27:20Z</dcterms:created>
  <dcterms:modified xsi:type="dcterms:W3CDTF">2025-09-22T12:45:22Z</dcterms:modified>
</cp:coreProperties>
</file>