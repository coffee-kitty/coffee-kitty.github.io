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0" r:id="rId3"/>
    <p:sldId id="261" r:id="rId4"/>
    <p:sldId id="257" r:id="rId5"/>
    <p:sldId id="259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6" r:id="rId21"/>
    <p:sldId id="278" r:id="rId22"/>
    <p:sldId id="279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4" d="100"/>
          <a:sy n="74" d="100"/>
        </p:scale>
        <p:origin x="21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5F477-E431-4287-BBCF-F0B82B99CDE8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AB976-BA1F-498A-94D9-C58C4E3246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26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AB976-BA1F-498A-94D9-C58C4E3246D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767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A66E9-F094-23D3-8755-DEA8BB9B8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BC0E15-0E75-2A32-8A19-FA35F7A26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5DE7B5-AF8A-3571-4B14-D4DCFA2B1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9C-0FB6-4165-824A-A36BB34C0D0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93D5F-0558-CE43-2EE1-1A6A2A6D9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E14944-83F6-FFA0-B422-27AE3106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B18D-9695-42F1-838B-439BD4F248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84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5FBAE8-67A0-E79F-0FDE-85BF62EB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0DBBB-D8C3-71D5-A1A5-E05313299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9057D3-2675-2F33-FDCD-3849B9A66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9C-0FB6-4165-824A-A36BB34C0D0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1D63CE-D30C-5344-A2F7-20D4C4CCF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DE75C-CDEA-85CE-3D60-EDAC4848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B18D-9695-42F1-838B-439BD4F248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94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B1988-93A3-FC07-F567-A62858AF2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1E66AE-F3E1-D7A3-3BEB-4F3AEEC5D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C7460C-8F0D-86E4-A61D-1E54932D7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9C-0FB6-4165-824A-A36BB34C0D0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C0DDA-19D9-5BD9-47D3-BBAE362BD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202C0F-7553-AC93-3F05-3EE0E65B1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B18D-9695-42F1-838B-439BD4F248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7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E0ACC-7CF4-5BFB-65AF-3CA305FC0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CA323D-A02B-17FB-96D9-9202272DB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CAC90A-2C33-AEE3-04EA-E60A9F8CA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EE8465-8E7A-52E4-703B-478B630E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9C-0FB6-4165-824A-A36BB34C0D0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77EEE7-8EEF-095B-7048-963501E1E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F63DB9-EBFA-2D2C-727C-011F006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B18D-9695-42F1-838B-439BD4F248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57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A0A69-00AC-86F9-4808-3AC0A8FB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D78F85-4F95-7835-8BC7-FCD9C0633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39D09E-71FD-2E4B-19AB-F0F57AF8C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E00D2B-3E3C-AC0F-DAE1-A6772897E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A2B9C5-6F68-A3D3-2F1E-5F1E89499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3548B9-96E5-93B9-AA61-A7D5E260A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9C-0FB6-4165-824A-A36BB34C0D0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6D229B-1B64-033B-A4BB-BC04CD5A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3942F4-4F2A-F640-B98F-F4DE9114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B18D-9695-42F1-838B-439BD4F248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92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F4FDA-4849-8A16-3BF5-BA0C197B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F3DB86-9432-3EE3-C950-15A83801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9C-0FB6-4165-824A-A36BB34C0D0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52B5E3-DDA2-6419-5C75-51B1B47A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E5969A-F184-AF23-E6A5-4084DDC3E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B18D-9695-42F1-838B-439BD4F248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83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B10DD8-6DAF-1E9A-F9B1-49284B61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9C-0FB6-4165-824A-A36BB34C0D0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30B967-2C9F-CEC3-CEEA-181BBB04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7ADF04-94F5-FB8E-ABD1-A51C1CFAD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B18D-9695-42F1-838B-439BD4F248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27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C1535-DA8A-64BF-E738-903384B63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A86FF7-E6B9-2CAD-9C8A-61AAE92EF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B775FA-5F1C-2690-5977-63565244A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F8E9C9-D666-ACB7-B53B-769E71F4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9C-0FB6-4165-824A-A36BB34C0D0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007300-B643-7C2C-3432-0707D5C4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D433D1-2E9F-3BD3-4AB6-E5A9A24B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B18D-9695-42F1-838B-439BD4F248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130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1277D-6F56-C652-48FA-331BCC232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5A8000-F4B4-2A80-1378-45CFF80C9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7EA6B2-8053-06AF-619A-C58A83CCF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D821CB-1C6A-3EB2-EA0C-0586EDEE8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9C-0FB6-4165-824A-A36BB34C0D0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F27913-007F-81A8-535F-14C010B27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962DD1-4AFE-E4AA-64FF-AECAFA535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B18D-9695-42F1-838B-439BD4F248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959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04F7E6-69F7-DCFC-F5C7-511F09C77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B39F73-189E-A3ED-44D0-AE1619A80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19C65-CDE0-223C-3541-F81AA978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9C-0FB6-4165-824A-A36BB34C0D0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690568-AF1E-3908-06D6-6A58763E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F1DABB-943A-DDAE-AD8A-C013DF3CD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B18D-9695-42F1-838B-439BD4F248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897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603650-7825-EA8F-3252-5B6EA9C03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590858-1FE5-89FD-26D1-A40FD09A5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D53376-53E6-B3BC-5C9B-D8BF2547B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9C-0FB6-4165-824A-A36BB34C0D0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664C50-0BBF-4185-2244-D758430DA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15B9CA-3D17-1A49-116C-3DA25C1EB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B18D-9695-42F1-838B-439BD4F248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819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C6330E3-78A0-6879-A7F7-7D631880C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8A084C-65B1-DC21-A556-B5DB7ABEC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4C7657-427E-6AF3-CA1A-63C2484B8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9C-0FB6-4165-824A-A36BB34C0D0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556D09-AD01-35D9-87BF-001CEC9A0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4ACF31-2335-C5CA-683E-48241136F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1B18D-9695-42F1-838B-439BD4F248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6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9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2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.svg"/><Relationship Id="rId5" Type="http://schemas.openxmlformats.org/officeDocument/2006/relationships/image" Target="../media/image14.svg"/><Relationship Id="rId10" Type="http://schemas.openxmlformats.org/officeDocument/2006/relationships/image" Target="../media/image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7E699B61-9CE5-3964-976A-DB1106DEA108}"/>
              </a:ext>
            </a:extLst>
          </p:cNvPr>
          <p:cNvGrpSpPr/>
          <p:nvPr/>
        </p:nvGrpSpPr>
        <p:grpSpPr>
          <a:xfrm>
            <a:off x="4528438" y="265952"/>
            <a:ext cx="2654710" cy="2906056"/>
            <a:chOff x="1140543" y="338589"/>
            <a:chExt cx="2654710" cy="2906056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152FBA5-2F95-1F85-97FB-F9AA512DBF42}"/>
                </a:ext>
              </a:extLst>
            </p:cNvPr>
            <p:cNvSpPr txBox="1"/>
            <p:nvPr/>
          </p:nvSpPr>
          <p:spPr>
            <a:xfrm>
              <a:off x="2177847" y="338589"/>
              <a:ext cx="5801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PR</a:t>
              </a:r>
              <a:endParaRPr lang="zh-CN" altLang="en-US" dirty="0"/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84F41D84-BFA7-13F0-49C8-70D71C6945CB}"/>
                </a:ext>
              </a:extLst>
            </p:cNvPr>
            <p:cNvGrpSpPr/>
            <p:nvPr/>
          </p:nvGrpSpPr>
          <p:grpSpPr>
            <a:xfrm>
              <a:off x="1140543" y="707921"/>
              <a:ext cx="2654710" cy="2536724"/>
              <a:chOff x="1140543" y="707921"/>
              <a:chExt cx="2654710" cy="2536724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5B8BE05-0FE7-6871-79C1-1332CECA38BE}"/>
                  </a:ext>
                </a:extLst>
              </p:cNvPr>
              <p:cNvSpPr/>
              <p:nvPr/>
            </p:nvSpPr>
            <p:spPr>
              <a:xfrm>
                <a:off x="1140543" y="707921"/>
                <a:ext cx="2654710" cy="2536724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37E4B6D-F0E2-CD94-00AF-97DBBCFB5E82}"/>
                  </a:ext>
                </a:extLst>
              </p:cNvPr>
              <p:cNvSpPr/>
              <p:nvPr/>
            </p:nvSpPr>
            <p:spPr>
              <a:xfrm>
                <a:off x="1289256" y="800417"/>
                <a:ext cx="2357284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Commit 1</a:t>
                </a:r>
                <a:endParaRPr lang="zh-CN" altLang="en-US" dirty="0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BD731AA-EE13-9125-C7A5-4F1E02D7ADB8}"/>
                  </a:ext>
                </a:extLst>
              </p:cNvPr>
              <p:cNvSpPr/>
              <p:nvPr/>
            </p:nvSpPr>
            <p:spPr>
              <a:xfrm>
                <a:off x="1289256" y="1346395"/>
                <a:ext cx="2357284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Commit 2</a:t>
                </a:r>
                <a:endParaRPr lang="zh-CN" altLang="en-US" dirty="0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8B67575-AE12-25C2-FA75-5D882B95C11E}"/>
                  </a:ext>
                </a:extLst>
              </p:cNvPr>
              <p:cNvSpPr/>
              <p:nvPr/>
            </p:nvSpPr>
            <p:spPr>
              <a:xfrm>
                <a:off x="1289256" y="1900392"/>
                <a:ext cx="2357284" cy="124593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C6DE518D-A71D-8E73-2461-849AEAC609FD}"/>
                  </a:ext>
                </a:extLst>
              </p:cNvPr>
              <p:cNvSpPr/>
              <p:nvPr/>
            </p:nvSpPr>
            <p:spPr>
              <a:xfrm>
                <a:off x="1388808" y="2085059"/>
                <a:ext cx="2158181" cy="36147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File 1</a:t>
                </a:r>
                <a:endParaRPr lang="zh-CN" altLang="en-US" dirty="0"/>
              </a:p>
            </p:txBody>
          </p:sp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CF1EDAC4-3177-A72E-27BA-1A62F5932E43}"/>
                  </a:ext>
                </a:extLst>
              </p:cNvPr>
              <p:cNvSpPr/>
              <p:nvPr/>
            </p:nvSpPr>
            <p:spPr>
              <a:xfrm>
                <a:off x="1388808" y="2578197"/>
                <a:ext cx="2158181" cy="436463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B062276D-5F06-D86A-8A6B-D6E895F3318E}"/>
                  </a:ext>
                </a:extLst>
              </p:cNvPr>
              <p:cNvSpPr/>
              <p:nvPr/>
            </p:nvSpPr>
            <p:spPr>
              <a:xfrm>
                <a:off x="1479145" y="2595716"/>
                <a:ext cx="935293" cy="39628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Diff 1</a:t>
                </a:r>
                <a:endParaRPr lang="zh-CN" altLang="en-US" dirty="0"/>
              </a:p>
            </p:txBody>
          </p:sp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FEFCF215-A342-3C0A-E97C-82597B9004A8}"/>
                  </a:ext>
                </a:extLst>
              </p:cNvPr>
              <p:cNvSpPr/>
              <p:nvPr/>
            </p:nvSpPr>
            <p:spPr>
              <a:xfrm>
                <a:off x="2538571" y="2595716"/>
                <a:ext cx="935293" cy="39628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Diff 2</a:t>
                </a:r>
                <a:endParaRPr lang="zh-CN" altLang="en-US" dirty="0"/>
              </a:p>
            </p:txBody>
          </p:sp>
        </p:grpSp>
      </p:grpSp>
      <p:pic>
        <p:nvPicPr>
          <p:cNvPr id="26" name="图形 25" descr="用户 纯色填充">
            <a:extLst>
              <a:ext uri="{FF2B5EF4-FFF2-40B4-BE49-F238E27FC236}">
                <a16:creationId xmlns:a16="http://schemas.microsoft.com/office/drawing/2014/main" id="{EBDC160B-8F6B-5C27-FC5D-80B6D9915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8587" y="1377003"/>
            <a:ext cx="914400" cy="914400"/>
          </a:xfrm>
          <a:prstGeom prst="rect">
            <a:avLst/>
          </a:prstGeom>
        </p:spPr>
      </p:pic>
      <p:pic>
        <p:nvPicPr>
          <p:cNvPr id="28" name="图形 27" descr="用户 纯色填充">
            <a:extLst>
              <a:ext uri="{FF2B5EF4-FFF2-40B4-BE49-F238E27FC236}">
                <a16:creationId xmlns:a16="http://schemas.microsoft.com/office/drawing/2014/main" id="{0A342525-D004-DE42-DB89-91B08EE355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77566" y="1279860"/>
            <a:ext cx="914400" cy="91440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FB8747FF-E270-C92C-72F9-31211FA800DD}"/>
              </a:ext>
            </a:extLst>
          </p:cNvPr>
          <p:cNvSpPr/>
          <p:nvPr/>
        </p:nvSpPr>
        <p:spPr>
          <a:xfrm>
            <a:off x="2207414" y="2167514"/>
            <a:ext cx="245674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contributor</a:t>
            </a:r>
            <a:endParaRPr lang="zh-CN" altLang="en-US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C6ACE9C6-53D2-0FFC-943D-0FEA12EDE7D2}"/>
              </a:ext>
            </a:extLst>
          </p:cNvPr>
          <p:cNvSpPr/>
          <p:nvPr/>
        </p:nvSpPr>
        <p:spPr>
          <a:xfrm>
            <a:off x="8593395" y="1476870"/>
            <a:ext cx="1120878" cy="996593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repo</a:t>
            </a:r>
            <a:endParaRPr lang="zh-CN" altLang="en-US" dirty="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1949D2D5-E716-5107-9CB1-6EDC423E5D41}"/>
              </a:ext>
            </a:extLst>
          </p:cNvPr>
          <p:cNvSpPr/>
          <p:nvPr/>
        </p:nvSpPr>
        <p:spPr>
          <a:xfrm>
            <a:off x="1648467" y="5377511"/>
            <a:ext cx="935293" cy="39628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Diff 2</a:t>
            </a:r>
            <a:endParaRPr lang="zh-CN" altLang="en-US" dirty="0"/>
          </a:p>
        </p:txBody>
      </p:sp>
      <p:pic>
        <p:nvPicPr>
          <p:cNvPr id="34" name="图形 33" descr="用户 纯色填充">
            <a:extLst>
              <a:ext uri="{FF2B5EF4-FFF2-40B4-BE49-F238E27FC236}">
                <a16:creationId xmlns:a16="http://schemas.microsoft.com/office/drawing/2014/main" id="{52772972-AC7F-1CB5-CF96-0D5AF5ED85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16291" y="5578649"/>
            <a:ext cx="708540" cy="708540"/>
          </a:xfrm>
          <a:prstGeom prst="rect">
            <a:avLst/>
          </a:prstGeom>
        </p:spPr>
      </p:pic>
      <p:pic>
        <p:nvPicPr>
          <p:cNvPr id="35" name="图形 34" descr="用户 纯色填充">
            <a:extLst>
              <a:ext uri="{FF2B5EF4-FFF2-40B4-BE49-F238E27FC236}">
                <a16:creationId xmlns:a16="http://schemas.microsoft.com/office/drawing/2014/main" id="{1B7352DD-1B67-5509-8E66-859EA6FAF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691" y="5451139"/>
            <a:ext cx="708540" cy="708540"/>
          </a:xfrm>
          <a:prstGeom prst="rect">
            <a:avLst/>
          </a:prstGeom>
        </p:spPr>
      </p:pic>
      <p:pic>
        <p:nvPicPr>
          <p:cNvPr id="36" name="图形 35" descr="用户 纯色填充">
            <a:extLst>
              <a:ext uri="{FF2B5EF4-FFF2-40B4-BE49-F238E27FC236}">
                <a16:creationId xmlns:a16="http://schemas.microsoft.com/office/drawing/2014/main" id="{3B5E5F96-D771-8D18-D0EE-EB9AC4FF7B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80996" y="4790835"/>
            <a:ext cx="708540" cy="708540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4F6E434C-C711-FC5A-2AAC-ED5834182851}"/>
              </a:ext>
            </a:extLst>
          </p:cNvPr>
          <p:cNvSpPr/>
          <p:nvPr/>
        </p:nvSpPr>
        <p:spPr>
          <a:xfrm>
            <a:off x="0" y="6010817"/>
            <a:ext cx="245674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contributor</a:t>
            </a:r>
            <a:endParaRPr lang="zh-CN" altLang="en-US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9BE0028-8D77-8F56-BD09-5C93046D96A9}"/>
              </a:ext>
            </a:extLst>
          </p:cNvPr>
          <p:cNvSpPr/>
          <p:nvPr/>
        </p:nvSpPr>
        <p:spPr>
          <a:xfrm>
            <a:off x="1868134" y="4527810"/>
            <a:ext cx="245674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Basic  robot</a:t>
            </a:r>
            <a:endParaRPr lang="zh-CN" altLang="en-US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CF93400-CA50-2620-A01C-12CE62F26A47}"/>
              </a:ext>
            </a:extLst>
          </p:cNvPr>
          <p:cNvSpPr/>
          <p:nvPr/>
        </p:nvSpPr>
        <p:spPr>
          <a:xfrm>
            <a:off x="2892621" y="6078167"/>
            <a:ext cx="245674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reviewer</a:t>
            </a:r>
            <a:endParaRPr lang="zh-CN" altLang="en-US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6CCE0D45-E556-F997-0067-BA09964F17A6}"/>
              </a:ext>
            </a:extLst>
          </p:cNvPr>
          <p:cNvCxnSpPr>
            <a:cxnSpLocks/>
          </p:cNvCxnSpPr>
          <p:nvPr/>
        </p:nvCxnSpPr>
        <p:spPr>
          <a:xfrm flipH="1">
            <a:off x="1451231" y="5998893"/>
            <a:ext cx="22807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思想气泡: 云 47">
            <a:extLst>
              <a:ext uri="{FF2B5EF4-FFF2-40B4-BE49-F238E27FC236}">
                <a16:creationId xmlns:a16="http://schemas.microsoft.com/office/drawing/2014/main" id="{E0CF84C3-0C19-9405-2642-23036513FE6F}"/>
              </a:ext>
            </a:extLst>
          </p:cNvPr>
          <p:cNvSpPr/>
          <p:nvPr/>
        </p:nvSpPr>
        <p:spPr>
          <a:xfrm>
            <a:off x="4251761" y="4664672"/>
            <a:ext cx="1993479" cy="1425678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0A0FD6A-8B31-E2A5-10C3-8D56C8ADC471}"/>
              </a:ext>
            </a:extLst>
          </p:cNvPr>
          <p:cNvCxnSpPr/>
          <p:nvPr/>
        </p:nvCxnSpPr>
        <p:spPr>
          <a:xfrm flipV="1">
            <a:off x="6065280" y="5998893"/>
            <a:ext cx="1358075" cy="11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8F9E6F71-1953-3C09-B6DD-4E88DECD733A}"/>
              </a:ext>
            </a:extLst>
          </p:cNvPr>
          <p:cNvSpPr/>
          <p:nvPr/>
        </p:nvSpPr>
        <p:spPr>
          <a:xfrm>
            <a:off x="7705728" y="5451139"/>
            <a:ext cx="1358075" cy="70853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  merged</a:t>
            </a:r>
            <a:endParaRPr lang="zh-CN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7ADB22C-BB7C-878E-6C24-A3D8FC16A01C}"/>
              </a:ext>
            </a:extLst>
          </p:cNvPr>
          <p:cNvSpPr/>
          <p:nvPr/>
        </p:nvSpPr>
        <p:spPr>
          <a:xfrm>
            <a:off x="9213413" y="1963427"/>
            <a:ext cx="245674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Authors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885A67B-B00C-9B7F-AE54-0DABF5BF96A8}"/>
              </a:ext>
            </a:extLst>
          </p:cNvPr>
          <p:cNvSpPr/>
          <p:nvPr/>
        </p:nvSpPr>
        <p:spPr>
          <a:xfrm>
            <a:off x="9213413" y="2308716"/>
            <a:ext cx="245674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Teammates</a:t>
            </a:r>
            <a:endParaRPr lang="zh-CN" altLang="en-US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4" name="标题 1">
            <a:extLst>
              <a:ext uri="{FF2B5EF4-FFF2-40B4-BE49-F238E27FC236}">
                <a16:creationId xmlns:a16="http://schemas.microsoft.com/office/drawing/2014/main" id="{FE6B5F60-D3BE-410F-ABE9-D74CD683300E}"/>
              </a:ext>
            </a:extLst>
          </p:cNvPr>
          <p:cNvSpPr txBox="1">
            <a:spLocks/>
          </p:cNvSpPr>
          <p:nvPr/>
        </p:nvSpPr>
        <p:spPr>
          <a:xfrm>
            <a:off x="556766" y="276491"/>
            <a:ext cx="2343728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场景</a:t>
            </a:r>
          </a:p>
        </p:txBody>
      </p:sp>
    </p:spTree>
    <p:extLst>
      <p:ext uri="{BB962C8B-B14F-4D97-AF65-F5344CB8AC3E}">
        <p14:creationId xmlns:p14="http://schemas.microsoft.com/office/powerpoint/2010/main" val="1060532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4E1BA2A-BA44-155A-FE77-133E112A5030}"/>
              </a:ext>
            </a:extLst>
          </p:cNvPr>
          <p:cNvSpPr txBox="1"/>
          <p:nvPr/>
        </p:nvSpPr>
        <p:spPr>
          <a:xfrm>
            <a:off x="4538035" y="1163409"/>
            <a:ext cx="6499122" cy="184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"""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--- Starting analysis for histogram ---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Analyzed 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JetBrains Mono"/>
              </a:rPr>
              <a:t>9158</a:t>
            </a: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 </a:t>
            </a:r>
            <a:r>
              <a:rPr lang="en-US" altLang="zh-CN" b="0" dirty="0">
                <a:solidFill>
                  <a:srgbClr val="00B050"/>
                </a:solidFill>
                <a:effectLst/>
                <a:latin typeface="JetBrains Mono"/>
              </a:rPr>
              <a:t>review threads </a:t>
            </a: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from 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JetBrains Mono"/>
              </a:rPr>
              <a:t>6191 </a:t>
            </a: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Pull Requests.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Counter({1: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JetBrains Mono"/>
              </a:rPr>
              <a:t>4292</a:t>
            </a: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, 2: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JetBrains Mono"/>
              </a:rPr>
              <a:t>3256</a:t>
            </a: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, 3: 880, 4: 399, 5: 161, 6: 81, 7: 47, 8: 19, 10: 8, 9: 6, 12: 3, 11: 3, 16: 2, 14: 1})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"""</a:t>
            </a:r>
          </a:p>
          <a:p>
            <a:pPr>
              <a:lnSpc>
                <a:spcPts val="1650"/>
              </a:lnSpc>
              <a:buNone/>
            </a:pPr>
            <a:b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</a:br>
            <a:endParaRPr lang="en-US" altLang="zh-CN" b="0" dirty="0">
              <a:solidFill>
                <a:schemeClr val="accent1"/>
              </a:solidFill>
              <a:effectLst/>
              <a:latin typeface="JetBrains Mono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9E3FC9-4B25-75DE-D4A3-C74B790C5109}"/>
              </a:ext>
            </a:extLst>
          </p:cNvPr>
          <p:cNvSpPr txBox="1"/>
          <p:nvPr/>
        </p:nvSpPr>
        <p:spPr>
          <a:xfrm>
            <a:off x="4621162" y="3006221"/>
            <a:ext cx="6096000" cy="336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"""</a:t>
            </a:r>
            <a:endParaRPr lang="zh-CN" altLang="en-US" b="0" dirty="0">
              <a:solidFill>
                <a:schemeClr val="accent1"/>
              </a:solidFill>
              <a:effectLst/>
              <a:latin typeface="JetBrains Mono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FF0000"/>
                </a:solidFill>
                <a:effectLst/>
                <a:latin typeface="JetBrains Mono"/>
              </a:rPr>
              <a:t>6491</a:t>
            </a:r>
            <a:r>
              <a:rPr lang="zh-CN" altLang="en-US" b="0" dirty="0">
                <a:solidFill>
                  <a:srgbClr val="FF0000"/>
                </a:solidFill>
                <a:effectLst/>
                <a:latin typeface="JetBrains Mono"/>
              </a:rPr>
              <a:t>个</a:t>
            </a: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pr    </a:t>
            </a:r>
            <a:r>
              <a:rPr lang="en-US" altLang="zh-CN" b="0" dirty="0">
                <a:solidFill>
                  <a:srgbClr val="00B050"/>
                </a:solidFill>
                <a:effectLst/>
                <a:latin typeface="JetBrains Mono"/>
              </a:rPr>
              <a:t>commits</a:t>
            </a:r>
          </a:p>
          <a:p>
            <a:pPr>
              <a:lnSpc>
                <a:spcPts val="1650"/>
              </a:lnSpc>
              <a:buNone/>
            </a:pPr>
            <a:b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</a:b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Counter({1: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JetBrains Mono"/>
              </a:rPr>
              <a:t>3886</a:t>
            </a: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, 2: 899, 3: 496, 4: 281, 5: 193, 6: 137, 7: 110, 8: 76, 9: 59, 11: 32, 10: 28, 13: 26, 15: 24, 12: 23, 14: 22, 16: 18, 21: 12, 0: 11, 17: 11, 18: 10, 20: 10, 23: 9, 26: 7, 28: 7, 22: 6, 19: 6, 27: 5, 30: 5, 29: 4, 39: 4, 25: 4, 40: 3, 33: 3, 31: 3, 34: 3, 84: 2, 59: 2, 135: 2, 24: 2, 70: 2, 47: 2, 38: 2, 219: 2, 42: 2, 32: 2, 87: 1, 60: 1, 235: 1, 274: 1, 51: 1, 36: 1, 52: 1, 46: 1, 67: 1, 44: 1, 61: 1, 967: 1, 83: 1, 133: 1, 122: 1, 112: 1, 64: 1, 63: 1, 232: 1, 37: 1, 65: 1, 180: 1, 58: 1, 1180: 1, 489: 1, 78: 1, 213: 1, 82: 1, 109: 1, 144: 1, 207: 1, 182: 1, 198: 1, 758: 1, 275: 1, 466: 1, 166: 1, 35: 1})</a:t>
            </a:r>
          </a:p>
          <a:p>
            <a:pPr>
              <a:lnSpc>
                <a:spcPts val="1650"/>
              </a:lnSpc>
              <a:buNone/>
            </a:pPr>
            <a:b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</a:br>
            <a:r>
              <a:rPr lang="en-US" altLang="zh-CN" b="0" dirty="0">
                <a:solidFill>
                  <a:schemeClr val="accent1"/>
                </a:solidFill>
                <a:effectLst/>
                <a:latin typeface="JetBrains Mono"/>
              </a:rPr>
              <a:t>"""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AD3B34-02E0-CB94-A032-317AA66E8C49}"/>
              </a:ext>
            </a:extLst>
          </p:cNvPr>
          <p:cNvSpPr txBox="1"/>
          <p:nvPr/>
        </p:nvSpPr>
        <p:spPr>
          <a:xfrm>
            <a:off x="245807" y="482908"/>
            <a:ext cx="5043948" cy="4894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query($after: String) {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repository(owner: "</a:t>
            </a:r>
            <a:r>
              <a:rPr lang="en-US" altLang="zh-CN" b="0" dirty="0" err="1">
                <a:solidFill>
                  <a:srgbClr val="FF0000"/>
                </a:solidFill>
                <a:effectLst/>
                <a:latin typeface="JetBrains Mono"/>
              </a:rPr>
              <a:t>pytorch</a:t>
            </a:r>
            <a:r>
              <a:rPr lang="en-US" altLang="zh-CN" b="0" dirty="0">
                <a:effectLst/>
                <a:latin typeface="JetBrains Mono"/>
              </a:rPr>
              <a:t>", name: "</a:t>
            </a:r>
            <a:r>
              <a:rPr lang="en-US" altLang="zh-CN" b="0" dirty="0" err="1">
                <a:solidFill>
                  <a:srgbClr val="FF0000"/>
                </a:solidFill>
                <a:effectLst/>
                <a:latin typeface="JetBrains Mono"/>
              </a:rPr>
              <a:t>pytorch</a:t>
            </a:r>
            <a:r>
              <a:rPr lang="en-US" altLang="zh-CN" b="0" dirty="0">
                <a:effectLst/>
                <a:latin typeface="JetBrains Mono"/>
              </a:rPr>
              <a:t>") {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</a:t>
            </a:r>
            <a:r>
              <a:rPr lang="en-US" altLang="zh-CN" b="0" dirty="0" err="1">
                <a:effectLst/>
                <a:latin typeface="JetBrains Mono"/>
              </a:rPr>
              <a:t>pullRequests</a:t>
            </a:r>
            <a:r>
              <a:rPr lang="en-US" altLang="zh-CN" b="0" dirty="0">
                <a:effectLst/>
                <a:latin typeface="JetBrains Mono"/>
              </a:rPr>
              <a:t>(first: 100, after: $after, states: [MERGED]) {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</a:t>
            </a:r>
            <a:r>
              <a:rPr lang="en-US" altLang="zh-CN" b="0" dirty="0" err="1">
                <a:effectLst/>
                <a:latin typeface="JetBrains Mono"/>
              </a:rPr>
              <a:t>pageInfo</a:t>
            </a:r>
            <a:r>
              <a:rPr lang="en-US" altLang="zh-CN" b="0" dirty="0">
                <a:effectLst/>
                <a:latin typeface="JetBrains Mono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  </a:t>
            </a:r>
            <a:r>
              <a:rPr lang="en-US" altLang="zh-CN" b="0" dirty="0" err="1">
                <a:effectLst/>
                <a:latin typeface="JetBrains Mono"/>
              </a:rPr>
              <a:t>hasNextPage</a:t>
            </a:r>
            <a:endParaRPr lang="en-US" altLang="zh-CN" b="0" dirty="0">
              <a:effectLst/>
              <a:latin typeface="JetBrains Mono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  </a:t>
            </a:r>
            <a:r>
              <a:rPr lang="en-US" altLang="zh-CN" b="0" dirty="0" err="1">
                <a:effectLst/>
                <a:latin typeface="JetBrains Mono"/>
              </a:rPr>
              <a:t>endCursor</a:t>
            </a:r>
            <a:endParaRPr lang="en-US" altLang="zh-CN" b="0" dirty="0">
              <a:effectLst/>
              <a:latin typeface="JetBrains Mono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}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nodes {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  number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  title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  </a:t>
            </a:r>
            <a:r>
              <a:rPr lang="en-US" altLang="zh-CN" b="0" dirty="0" err="1">
                <a:effectLst/>
                <a:latin typeface="JetBrains Mono"/>
              </a:rPr>
              <a:t>url</a:t>
            </a:r>
            <a:endParaRPr lang="en-US" altLang="zh-CN" b="0" dirty="0">
              <a:effectLst/>
              <a:latin typeface="JetBrains Mono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  </a:t>
            </a:r>
            <a:r>
              <a:rPr lang="en-US" altLang="zh-CN" b="0" dirty="0" err="1">
                <a:effectLst/>
                <a:latin typeface="JetBrains Mono"/>
              </a:rPr>
              <a:t>createdAt</a:t>
            </a:r>
            <a:endParaRPr lang="en-US" altLang="zh-CN" b="0" dirty="0">
              <a:effectLst/>
              <a:latin typeface="JetBrains Mono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  </a:t>
            </a:r>
            <a:r>
              <a:rPr lang="en-US" altLang="zh-CN" b="0" dirty="0" err="1">
                <a:effectLst/>
                <a:latin typeface="JetBrains Mono"/>
              </a:rPr>
              <a:t>mergedAt</a:t>
            </a:r>
            <a:endParaRPr lang="en-US" altLang="zh-CN" b="0" dirty="0">
              <a:effectLst/>
              <a:latin typeface="JetBrains Mono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  state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  commits {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      </a:t>
            </a:r>
            <a:r>
              <a:rPr lang="en-US" altLang="zh-CN" b="0" dirty="0" err="1">
                <a:effectLst/>
                <a:latin typeface="JetBrains Mono"/>
              </a:rPr>
              <a:t>totalCount</a:t>
            </a:r>
            <a:endParaRPr lang="en-US" altLang="zh-CN" b="0" dirty="0">
              <a:effectLst/>
              <a:latin typeface="JetBrains Mono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    }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  }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  }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  }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effectLst/>
                <a:latin typeface="JetBrains Mono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371658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A67735-6540-247D-0037-B352D3CCC108}"/>
              </a:ext>
            </a:extLst>
          </p:cNvPr>
          <p:cNvSpPr txBox="1"/>
          <p:nvPr/>
        </p:nvSpPr>
        <p:spPr>
          <a:xfrm>
            <a:off x="187037" y="1194954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Tufano 21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1B1F8E-787C-FB1C-EFBB-9035AC1B4EB1}"/>
              </a:ext>
            </a:extLst>
          </p:cNvPr>
          <p:cNvSpPr txBox="1"/>
          <p:nvPr/>
        </p:nvSpPr>
        <p:spPr>
          <a:xfrm>
            <a:off x="187037" y="1899258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Tufano 22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E2A3D7-5438-60AE-A7CB-0EE723058076}"/>
              </a:ext>
            </a:extLst>
          </p:cNvPr>
          <p:cNvSpPr txBox="1"/>
          <p:nvPr/>
        </p:nvSpPr>
        <p:spPr>
          <a:xfrm>
            <a:off x="187036" y="2603562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CodeReviewer</a:t>
            </a:r>
            <a:r>
              <a:rPr lang="en-US" altLang="zh-CN" dirty="0"/>
              <a:t> 22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5D7BB3-ACD5-8E46-8BDF-C1BDA303BABD}"/>
              </a:ext>
            </a:extLst>
          </p:cNvPr>
          <p:cNvSpPr txBox="1"/>
          <p:nvPr/>
        </p:nvSpPr>
        <p:spPr>
          <a:xfrm>
            <a:off x="2417617" y="2557443"/>
            <a:ext cx="9371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只保留一轮</a:t>
            </a:r>
            <a:r>
              <a:rPr lang="en-US" altLang="zh-CN" dirty="0">
                <a:solidFill>
                  <a:srgbClr val="00B050"/>
                </a:solidFill>
              </a:rPr>
              <a:t>commit level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PR</a:t>
            </a:r>
            <a:r>
              <a:rPr lang="en-US" altLang="zh-CN" dirty="0"/>
              <a:t>, </a:t>
            </a:r>
            <a:r>
              <a:rPr lang="zh-CN" altLang="en-US" dirty="0"/>
              <a:t>主要提出来 </a:t>
            </a:r>
            <a:r>
              <a:rPr lang="en-US" altLang="zh-CN" dirty="0"/>
              <a:t>code diff</a:t>
            </a:r>
            <a:r>
              <a:rPr lang="zh-CN" altLang="en-US" dirty="0"/>
              <a:t>格式、四种预训练任务、做了</a:t>
            </a:r>
            <a:r>
              <a:rPr lang="en-US" altLang="zh-CN" dirty="0"/>
              <a:t>pretrain T5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6E68A8-6221-F7CA-470C-A495731F03DC}"/>
              </a:ext>
            </a:extLst>
          </p:cNvPr>
          <p:cNvSpPr txBox="1"/>
          <p:nvPr/>
        </p:nvSpPr>
        <p:spPr>
          <a:xfrm>
            <a:off x="179021" y="3325090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AUGER 22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BC13412-2440-9E16-D897-44A2F7477F63}"/>
              </a:ext>
            </a:extLst>
          </p:cNvPr>
          <p:cNvSpPr txBox="1"/>
          <p:nvPr/>
        </p:nvSpPr>
        <p:spPr>
          <a:xfrm>
            <a:off x="2417618" y="1304700"/>
            <a:ext cx="10044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收集了</a:t>
            </a:r>
            <a:r>
              <a:rPr lang="zh-CN" altLang="en-US" dirty="0">
                <a:solidFill>
                  <a:srgbClr val="00B050"/>
                </a:solidFill>
              </a:rPr>
              <a:t>多个</a:t>
            </a:r>
            <a:r>
              <a:rPr lang="en-US" altLang="zh-CN" dirty="0">
                <a:solidFill>
                  <a:srgbClr val="00B050"/>
                </a:solidFill>
              </a:rPr>
              <a:t>commit level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PR</a:t>
            </a:r>
            <a:r>
              <a:rPr lang="zh-CN" altLang="en-US" dirty="0">
                <a:solidFill>
                  <a:srgbClr val="00B050"/>
                </a:solidFill>
              </a:rPr>
              <a:t>的数据</a:t>
            </a:r>
            <a:r>
              <a:rPr lang="zh-CN" altLang="en-US" dirty="0"/>
              <a:t>，但是只关注</a:t>
            </a:r>
            <a:r>
              <a:rPr lang="en-US" altLang="zh-CN" dirty="0"/>
              <a:t>function level</a:t>
            </a:r>
            <a:r>
              <a:rPr lang="zh-CN" altLang="en-US" dirty="0"/>
              <a:t>、预研究做了</a:t>
            </a:r>
            <a:r>
              <a:rPr lang="en-US" altLang="zh-CN" dirty="0"/>
              <a:t>abstract</a:t>
            </a:r>
            <a:r>
              <a:rPr lang="zh-CN" altLang="en-US" dirty="0"/>
              <a:t>、然后预训练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48F8F66-C5E3-39EE-64D1-9897957E5C78}"/>
              </a:ext>
            </a:extLst>
          </p:cNvPr>
          <p:cNvSpPr txBox="1"/>
          <p:nvPr/>
        </p:nvSpPr>
        <p:spPr>
          <a:xfrm>
            <a:off x="2417617" y="1899258"/>
            <a:ext cx="6739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相同的收集过程</a:t>
            </a:r>
            <a:r>
              <a:rPr lang="zh-CN" altLang="en-US" dirty="0"/>
              <a:t>，同样只关注</a:t>
            </a:r>
            <a:r>
              <a:rPr lang="en-US" altLang="zh-CN" dirty="0"/>
              <a:t>function level</a:t>
            </a:r>
            <a:r>
              <a:rPr lang="zh-CN" altLang="en-US" dirty="0"/>
              <a:t>、做了正经</a:t>
            </a:r>
            <a:r>
              <a:rPr lang="en-US" altLang="zh-CN" dirty="0"/>
              <a:t>pretrain T5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B689655-1F02-C892-F8DD-A6A914ED8013}"/>
              </a:ext>
            </a:extLst>
          </p:cNvPr>
          <p:cNvSpPr txBox="1"/>
          <p:nvPr/>
        </p:nvSpPr>
        <p:spPr>
          <a:xfrm>
            <a:off x="2417617" y="3256102"/>
            <a:ext cx="10508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没说保不保留，默认保留</a:t>
            </a:r>
            <a:r>
              <a:rPr lang="zh-CN" altLang="en-US" dirty="0"/>
              <a:t>，主要提出</a:t>
            </a:r>
            <a:r>
              <a:rPr lang="en-US" altLang="zh-CN" dirty="0"/>
              <a:t>&lt;review line tag&gt;</a:t>
            </a:r>
            <a:r>
              <a:rPr lang="zh-CN" altLang="en-US" dirty="0"/>
              <a:t>标签，将该标签放到对应的</a:t>
            </a:r>
            <a:r>
              <a:rPr lang="en-US" altLang="zh-CN" dirty="0"/>
              <a:t>line</a:t>
            </a:r>
            <a:r>
              <a:rPr lang="zh-CN" altLang="en-US" dirty="0"/>
              <a:t>，然后</a:t>
            </a:r>
            <a:r>
              <a:rPr lang="en-US" altLang="zh-CN" dirty="0"/>
              <a:t>pretrain T5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98FC725-F03E-ABBA-F95B-0C6D1FE84F52}"/>
              </a:ext>
            </a:extLst>
          </p:cNvPr>
          <p:cNvSpPr txBox="1"/>
          <p:nvPr/>
        </p:nvSpPr>
        <p:spPr>
          <a:xfrm>
            <a:off x="187036" y="3954761"/>
            <a:ext cx="1745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Task Factor  24 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574437C-E90B-9969-4C3F-738020BB79CE}"/>
              </a:ext>
            </a:extLst>
          </p:cNvPr>
          <p:cNvSpPr txBox="1"/>
          <p:nvPr/>
        </p:nvSpPr>
        <p:spPr>
          <a:xfrm>
            <a:off x="2417617" y="3954761"/>
            <a:ext cx="10643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没说保不保留，默认保留，</a:t>
            </a:r>
            <a:r>
              <a:rPr lang="zh-CN" altLang="en-US" dirty="0"/>
              <a:t>主要探究不同输入格式的影响，然后加了一个图注意力网络模块给</a:t>
            </a:r>
            <a:r>
              <a:rPr lang="en-US" altLang="zh-CN" dirty="0"/>
              <a:t>CodeT5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2BD0B55-6075-ACD9-D2A1-F0619581AB56}"/>
              </a:ext>
            </a:extLst>
          </p:cNvPr>
          <p:cNvSpPr txBox="1"/>
          <p:nvPr/>
        </p:nvSpPr>
        <p:spPr>
          <a:xfrm>
            <a:off x="179021" y="4424628"/>
            <a:ext cx="1753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DISCOREV 24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13E3EF3-2A64-CB29-31ED-3A00F2B2373B}"/>
              </a:ext>
            </a:extLst>
          </p:cNvPr>
          <p:cNvSpPr txBox="1"/>
          <p:nvPr/>
        </p:nvSpPr>
        <p:spPr>
          <a:xfrm>
            <a:off x="2417617" y="4424628"/>
            <a:ext cx="10044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用的 </a:t>
            </a:r>
            <a:r>
              <a:rPr lang="en-US" altLang="zh-CN" dirty="0" err="1">
                <a:solidFill>
                  <a:srgbClr val="00B050"/>
                </a:solidFill>
              </a:rPr>
              <a:t>CodeReviewer</a:t>
            </a:r>
            <a:r>
              <a:rPr lang="zh-CN" altLang="en-US" dirty="0">
                <a:solidFill>
                  <a:srgbClr val="00B050"/>
                </a:solidFill>
              </a:rPr>
              <a:t>的数据集</a:t>
            </a:r>
            <a:r>
              <a:rPr lang="zh-CN" altLang="en-US" dirty="0"/>
              <a:t>，  联合训练</a:t>
            </a:r>
            <a:r>
              <a:rPr lang="en-US" altLang="zh-CN" dirty="0"/>
              <a:t>Teacher-Student</a:t>
            </a:r>
            <a:r>
              <a:rPr lang="zh-CN" altLang="en-US" dirty="0"/>
              <a:t>模型， 但还是</a:t>
            </a:r>
            <a:r>
              <a:rPr lang="en-US" altLang="zh-CN" dirty="0"/>
              <a:t>T5</a:t>
            </a:r>
            <a:r>
              <a:rPr lang="zh-CN" altLang="en-US" dirty="0"/>
              <a:t>、</a:t>
            </a:r>
            <a:r>
              <a:rPr lang="en-US" altLang="zh-CN" dirty="0"/>
              <a:t>CodeT5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3996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7917B5CE-B665-BB28-46DA-068A6BB3EE7B}"/>
              </a:ext>
            </a:extLst>
          </p:cNvPr>
          <p:cNvSpPr/>
          <p:nvPr/>
        </p:nvSpPr>
        <p:spPr>
          <a:xfrm>
            <a:off x="6547483" y="5923705"/>
            <a:ext cx="1966854" cy="85072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r>
              <a:rPr lang="en-US" altLang="zh-CN" sz="1600" dirty="0"/>
              <a:t>1.Question</a:t>
            </a:r>
          </a:p>
          <a:p>
            <a:r>
              <a:rPr lang="en-US" altLang="zh-CN" sz="1600" dirty="0"/>
              <a:t>2.Request Change</a:t>
            </a:r>
          </a:p>
          <a:p>
            <a:r>
              <a:rPr lang="en-US" altLang="zh-CN" sz="1600" dirty="0"/>
              <a:t>3.Approve</a:t>
            </a:r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AF6753B-E729-A391-9363-717D8449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现在实现的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04D74F9-A2AD-6FAD-DF9D-D99FF39DCFA0}"/>
              </a:ext>
            </a:extLst>
          </p:cNvPr>
          <p:cNvSpPr/>
          <p:nvPr/>
        </p:nvSpPr>
        <p:spPr>
          <a:xfrm>
            <a:off x="749311" y="4773926"/>
            <a:ext cx="935293" cy="39628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Diff 2</a:t>
            </a:r>
            <a:endParaRPr lang="zh-CN" altLang="en-US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1D219FC-ECED-4030-1836-8AA2F9FEC986}"/>
              </a:ext>
            </a:extLst>
          </p:cNvPr>
          <p:cNvCxnSpPr>
            <a:cxnSpLocks/>
          </p:cNvCxnSpPr>
          <p:nvPr/>
        </p:nvCxnSpPr>
        <p:spPr>
          <a:xfrm>
            <a:off x="1986115" y="4957378"/>
            <a:ext cx="1720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形 9" descr="机器人 纯色填充">
            <a:extLst>
              <a:ext uri="{FF2B5EF4-FFF2-40B4-BE49-F238E27FC236}">
                <a16:creationId xmlns:a16="http://schemas.microsoft.com/office/drawing/2014/main" id="{46C193AA-E4D2-F966-1788-0B41A6FCF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6761" y="4500178"/>
            <a:ext cx="914400" cy="914400"/>
          </a:xfrm>
          <a:prstGeom prst="rect">
            <a:avLst/>
          </a:prstGeom>
        </p:spPr>
      </p:pic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60B14AEA-D87E-42E8-6AC7-CD9F72008706}"/>
              </a:ext>
            </a:extLst>
          </p:cNvPr>
          <p:cNvSpPr/>
          <p:nvPr/>
        </p:nvSpPr>
        <p:spPr>
          <a:xfrm>
            <a:off x="3398940" y="2373030"/>
            <a:ext cx="2492478" cy="1875299"/>
          </a:xfrm>
          <a:prstGeom prst="wedgeRoundRectCallou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形 12" descr="用户 纯色填充">
            <a:extLst>
              <a:ext uri="{FF2B5EF4-FFF2-40B4-BE49-F238E27FC236}">
                <a16:creationId xmlns:a16="http://schemas.microsoft.com/office/drawing/2014/main" id="{4D8D067B-AF76-C904-4A94-D722F82780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660" y="5215165"/>
            <a:ext cx="708540" cy="70854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B600954-FE82-EEA4-90EE-23E3FD05310B}"/>
              </a:ext>
            </a:extLst>
          </p:cNvPr>
          <p:cNvSpPr/>
          <p:nvPr/>
        </p:nvSpPr>
        <p:spPr>
          <a:xfrm>
            <a:off x="-576986" y="5727981"/>
            <a:ext cx="245674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contributor</a:t>
            </a:r>
            <a:endParaRPr lang="zh-CN" altLang="en-US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5DDBD8A-C014-9CDE-2E29-271A0164F3D7}"/>
              </a:ext>
            </a:extLst>
          </p:cNvPr>
          <p:cNvGrpSpPr/>
          <p:nvPr/>
        </p:nvGrpSpPr>
        <p:grpSpPr>
          <a:xfrm>
            <a:off x="6248002" y="626038"/>
            <a:ext cx="4564296" cy="2120772"/>
            <a:chOff x="6656439" y="3394547"/>
            <a:chExt cx="4564296" cy="2120772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43F5EFF-156D-5B35-94BE-AE85AF2C0E47}"/>
                </a:ext>
              </a:extLst>
            </p:cNvPr>
            <p:cNvSpPr/>
            <p:nvPr/>
          </p:nvSpPr>
          <p:spPr>
            <a:xfrm>
              <a:off x="6656439" y="3394547"/>
              <a:ext cx="4564296" cy="212077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" name="图形 16" descr="机器人 纯色填充">
              <a:extLst>
                <a:ext uri="{FF2B5EF4-FFF2-40B4-BE49-F238E27FC236}">
                  <a16:creationId xmlns:a16="http://schemas.microsoft.com/office/drawing/2014/main" id="{AD67AB96-CD58-30A5-336E-3005EE726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69277" y="3543197"/>
              <a:ext cx="914400" cy="914400"/>
            </a:xfrm>
            <a:prstGeom prst="rect">
              <a:avLst/>
            </a:prstGeom>
          </p:spPr>
        </p:pic>
        <p:pic>
          <p:nvPicPr>
            <p:cNvPr id="18" name="图形 17" descr="机器人 纯色填充">
              <a:extLst>
                <a:ext uri="{FF2B5EF4-FFF2-40B4-BE49-F238E27FC236}">
                  <a16:creationId xmlns:a16="http://schemas.microsoft.com/office/drawing/2014/main" id="{88900C56-F5E7-38FB-E2A9-0E4B24EAD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008374" y="3543197"/>
              <a:ext cx="914400" cy="914400"/>
            </a:xfrm>
            <a:prstGeom prst="rect">
              <a:avLst/>
            </a:prstGeom>
          </p:spPr>
        </p:pic>
        <p:pic>
          <p:nvPicPr>
            <p:cNvPr id="19" name="图形 18" descr="机器人 纯色填充">
              <a:extLst>
                <a:ext uri="{FF2B5EF4-FFF2-40B4-BE49-F238E27FC236}">
                  <a16:creationId xmlns:a16="http://schemas.microsoft.com/office/drawing/2014/main" id="{FA1869AB-0823-66E3-DF79-40BA8369D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47471" y="3541865"/>
              <a:ext cx="914400" cy="914400"/>
            </a:xfrm>
            <a:prstGeom prst="rect">
              <a:avLst/>
            </a:prstGeom>
          </p:spPr>
        </p:pic>
        <p:pic>
          <p:nvPicPr>
            <p:cNvPr id="20" name="图形 19" descr="机器人 纯色填充">
              <a:extLst>
                <a:ext uri="{FF2B5EF4-FFF2-40B4-BE49-F238E27FC236}">
                  <a16:creationId xmlns:a16="http://schemas.microsoft.com/office/drawing/2014/main" id="{8DFBAC70-4172-E47A-A7FD-FEB5AF4A4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07910" y="3540533"/>
              <a:ext cx="914400" cy="914400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1C3695B-A933-2FC5-1328-4364FC1015B6}"/>
                </a:ext>
              </a:extLst>
            </p:cNvPr>
            <p:cNvSpPr/>
            <p:nvPr/>
          </p:nvSpPr>
          <p:spPr>
            <a:xfrm>
              <a:off x="7844105" y="4625316"/>
              <a:ext cx="1278192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2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security</a:t>
              </a:r>
              <a:endParaRPr lang="zh-CN" altLang="en-US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3BD82A3-9FF8-4D88-C23A-9483B476721B}"/>
                </a:ext>
              </a:extLst>
            </p:cNvPr>
            <p:cNvSpPr/>
            <p:nvPr/>
          </p:nvSpPr>
          <p:spPr>
            <a:xfrm>
              <a:off x="9227244" y="4606501"/>
              <a:ext cx="1920887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24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performance</a:t>
              </a:r>
              <a:endParaRPr lang="zh-CN" altLang="en-US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D12F570-2B48-6C25-7E16-BCE4EB1720C3}"/>
                </a:ext>
              </a:extLst>
            </p:cNvPr>
            <p:cNvSpPr/>
            <p:nvPr/>
          </p:nvSpPr>
          <p:spPr>
            <a:xfrm>
              <a:off x="8608142" y="4315755"/>
              <a:ext cx="914400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24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style</a:t>
              </a:r>
              <a:endParaRPr lang="zh-CN" altLang="en-US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CF82FC3-3D04-5E72-6953-2C69DDA6A3A3}"/>
                </a:ext>
              </a:extLst>
            </p:cNvPr>
            <p:cNvSpPr/>
            <p:nvPr/>
          </p:nvSpPr>
          <p:spPr>
            <a:xfrm>
              <a:off x="6789504" y="4329291"/>
              <a:ext cx="1837972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24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functionality</a:t>
              </a:r>
              <a:endParaRPr lang="zh-CN" altLang="en-US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F8B44CFE-AEBB-0157-6CB6-67B8F7F22D40}"/>
              </a:ext>
            </a:extLst>
          </p:cNvPr>
          <p:cNvSpPr/>
          <p:nvPr/>
        </p:nvSpPr>
        <p:spPr>
          <a:xfrm>
            <a:off x="3603522" y="1919288"/>
            <a:ext cx="9332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Plan</a:t>
            </a:r>
            <a:endParaRPr lang="zh-CN" altLang="en-U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9" name="图形 28" descr="机器人 纯色填充">
            <a:extLst>
              <a:ext uri="{FF2B5EF4-FFF2-40B4-BE49-F238E27FC236}">
                <a16:creationId xmlns:a16="http://schemas.microsoft.com/office/drawing/2014/main" id="{6473216B-EF7E-DD47-F2BF-A15F80B8BA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5524" y="2504063"/>
            <a:ext cx="629264" cy="629264"/>
          </a:xfrm>
          <a:prstGeom prst="rect">
            <a:avLst/>
          </a:prstGeom>
        </p:spPr>
      </p:pic>
      <p:pic>
        <p:nvPicPr>
          <p:cNvPr id="30" name="图形 29" descr="机器人 纯色填充">
            <a:extLst>
              <a:ext uri="{FF2B5EF4-FFF2-40B4-BE49-F238E27FC236}">
                <a16:creationId xmlns:a16="http://schemas.microsoft.com/office/drawing/2014/main" id="{FAFB6570-3A3D-631E-2982-471A73976E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19051" y="3209654"/>
            <a:ext cx="702209" cy="702209"/>
          </a:xfrm>
          <a:prstGeom prst="rect">
            <a:avLst/>
          </a:prstGeom>
        </p:spPr>
      </p:pic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CE84539-EA69-F48E-9545-6A4267BD704C}"/>
              </a:ext>
            </a:extLst>
          </p:cNvPr>
          <p:cNvCxnSpPr>
            <a:cxnSpLocks/>
          </p:cNvCxnSpPr>
          <p:nvPr/>
        </p:nvCxnSpPr>
        <p:spPr>
          <a:xfrm flipH="1">
            <a:off x="4477108" y="1884483"/>
            <a:ext cx="1860135" cy="1439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2F17A507-FA58-6A31-8AB5-96EC08A15AEC}"/>
              </a:ext>
            </a:extLst>
          </p:cNvPr>
          <p:cNvSpPr/>
          <p:nvPr/>
        </p:nvSpPr>
        <p:spPr>
          <a:xfrm>
            <a:off x="4877154" y="2299657"/>
            <a:ext cx="118173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select</a:t>
            </a:r>
            <a:endParaRPr lang="zh-CN" altLang="en-U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A774CF4-341F-6BB5-D6DE-957B60940E2A}"/>
              </a:ext>
            </a:extLst>
          </p:cNvPr>
          <p:cNvCxnSpPr>
            <a:cxnSpLocks/>
          </p:cNvCxnSpPr>
          <p:nvPr/>
        </p:nvCxnSpPr>
        <p:spPr>
          <a:xfrm>
            <a:off x="4546852" y="4964214"/>
            <a:ext cx="1720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形 39" descr="机器人 纯色填充">
            <a:extLst>
              <a:ext uri="{FF2B5EF4-FFF2-40B4-BE49-F238E27FC236}">
                <a16:creationId xmlns:a16="http://schemas.microsoft.com/office/drawing/2014/main" id="{F2AFD9E6-ABCA-19C8-1EBC-9F9C7EFE7B3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03640" y="4507014"/>
            <a:ext cx="914400" cy="914400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D7660EEE-7E2A-7BAB-E0EC-6F6CA83D142C}"/>
              </a:ext>
            </a:extLst>
          </p:cNvPr>
          <p:cNvSpPr/>
          <p:nvPr/>
        </p:nvSpPr>
        <p:spPr>
          <a:xfrm>
            <a:off x="6365407" y="4078676"/>
            <a:ext cx="131157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Step n</a:t>
            </a:r>
            <a:endParaRPr lang="zh-CN" altLang="en-U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F2F2085-A010-A750-E420-637AC70D2C8D}"/>
              </a:ext>
            </a:extLst>
          </p:cNvPr>
          <p:cNvSpPr/>
          <p:nvPr/>
        </p:nvSpPr>
        <p:spPr>
          <a:xfrm>
            <a:off x="6058890" y="5297218"/>
            <a:ext cx="175636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Robot n</a:t>
            </a:r>
            <a:endParaRPr lang="zh-CN" altLang="en-US" sz="1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93C1208-3524-469E-FC9A-2754B4E8E015}"/>
              </a:ext>
            </a:extLst>
          </p:cNvPr>
          <p:cNvCxnSpPr>
            <a:cxnSpLocks/>
          </p:cNvCxnSpPr>
          <p:nvPr/>
        </p:nvCxnSpPr>
        <p:spPr>
          <a:xfrm flipH="1">
            <a:off x="1592826" y="5638075"/>
            <a:ext cx="4772581" cy="2856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81F1F51D-1F0B-7AD9-44AC-51E30BF78D2E}"/>
              </a:ext>
            </a:extLst>
          </p:cNvPr>
          <p:cNvSpPr/>
          <p:nvPr/>
        </p:nvSpPr>
        <p:spPr>
          <a:xfrm>
            <a:off x="2501722" y="5666427"/>
            <a:ext cx="313686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Communicate</a:t>
            </a:r>
            <a:endParaRPr lang="zh-CN" altLang="en-U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9EBAD87-0B03-75AD-B74F-D1A5574CE988}"/>
              </a:ext>
            </a:extLst>
          </p:cNvPr>
          <p:cNvSpPr/>
          <p:nvPr/>
        </p:nvSpPr>
        <p:spPr>
          <a:xfrm>
            <a:off x="6790162" y="5557364"/>
            <a:ext cx="148149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Actions</a:t>
            </a:r>
            <a:endParaRPr lang="zh-CN" altLang="en-U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313A0C8-983A-57D7-D05A-4FC432968F7F}"/>
              </a:ext>
            </a:extLst>
          </p:cNvPr>
          <p:cNvSpPr/>
          <p:nvPr/>
        </p:nvSpPr>
        <p:spPr>
          <a:xfrm>
            <a:off x="565383" y="6124454"/>
            <a:ext cx="1570703" cy="59299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1.Answer  2.Change</a:t>
            </a:r>
            <a:endParaRPr lang="zh-CN" altLang="en-US" dirty="0"/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C477C20F-0226-CCD3-851F-00D8205CC6E9}"/>
              </a:ext>
            </a:extLst>
          </p:cNvPr>
          <p:cNvCxnSpPr>
            <a:cxnSpLocks/>
          </p:cNvCxnSpPr>
          <p:nvPr/>
        </p:nvCxnSpPr>
        <p:spPr>
          <a:xfrm>
            <a:off x="7530910" y="4968054"/>
            <a:ext cx="1720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图形 55" descr="机器人 纯色填充">
            <a:extLst>
              <a:ext uri="{FF2B5EF4-FFF2-40B4-BE49-F238E27FC236}">
                <a16:creationId xmlns:a16="http://schemas.microsoft.com/office/drawing/2014/main" id="{11C49E72-1BDF-0884-6A43-5BFA6C7A760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240529" y="4474637"/>
            <a:ext cx="914400" cy="914400"/>
          </a:xfrm>
          <a:prstGeom prst="rect">
            <a:avLst/>
          </a:prstGeom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D821526F-2427-AAB2-AE11-CE5CD7DC53F7}"/>
              </a:ext>
            </a:extLst>
          </p:cNvPr>
          <p:cNvSpPr/>
          <p:nvPr/>
        </p:nvSpPr>
        <p:spPr>
          <a:xfrm>
            <a:off x="8883329" y="4012404"/>
            <a:ext cx="185179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Conclude</a:t>
            </a:r>
            <a:endParaRPr lang="zh-CN" altLang="en-U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EACF53D0-9CAA-0BBB-A958-9BAC23191035}"/>
              </a:ext>
            </a:extLst>
          </p:cNvPr>
          <p:cNvSpPr/>
          <p:nvPr/>
        </p:nvSpPr>
        <p:spPr>
          <a:xfrm>
            <a:off x="10086383" y="4931837"/>
            <a:ext cx="647179" cy="584775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23531171-0F41-8BBA-C3AC-567C1F6CB6D0}"/>
              </a:ext>
            </a:extLst>
          </p:cNvPr>
          <p:cNvSpPr/>
          <p:nvPr/>
        </p:nvSpPr>
        <p:spPr>
          <a:xfrm>
            <a:off x="10086383" y="5604871"/>
            <a:ext cx="647179" cy="584775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E123ACD-8AAF-AF16-F983-ABFD23E5E88C}"/>
              </a:ext>
            </a:extLst>
          </p:cNvPr>
          <p:cNvSpPr/>
          <p:nvPr/>
        </p:nvSpPr>
        <p:spPr>
          <a:xfrm>
            <a:off x="10255072" y="5045888"/>
            <a:ext cx="175636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Review comment</a:t>
            </a:r>
            <a:endParaRPr lang="zh-CN" altLang="en-US" sz="1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4B12541-4B58-B0BC-5BAF-AD26F01B4C1F}"/>
              </a:ext>
            </a:extLst>
          </p:cNvPr>
          <p:cNvSpPr/>
          <p:nvPr/>
        </p:nvSpPr>
        <p:spPr>
          <a:xfrm>
            <a:off x="10255072" y="5751714"/>
            <a:ext cx="175636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Revised code</a:t>
            </a:r>
            <a:endParaRPr lang="zh-CN" altLang="en-US" sz="1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4904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4090902-E5A0-BAEE-AACB-C1C6E99CB6FA}"/>
              </a:ext>
            </a:extLst>
          </p:cNvPr>
          <p:cNvSpPr/>
          <p:nvPr/>
        </p:nvSpPr>
        <p:spPr>
          <a:xfrm>
            <a:off x="3544837" y="3691866"/>
            <a:ext cx="2225756" cy="27507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Commit 2</a:t>
            </a:r>
            <a:endParaRPr lang="zh-CN" altLang="en-US" dirty="0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2D640139-B0F8-23A8-EB9D-EC7D79C8B759}"/>
              </a:ext>
            </a:extLst>
          </p:cNvPr>
          <p:cNvSpPr/>
          <p:nvPr/>
        </p:nvSpPr>
        <p:spPr>
          <a:xfrm>
            <a:off x="3552540" y="5649052"/>
            <a:ext cx="2195687" cy="4732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Diff </a:t>
            </a:r>
            <a:r>
              <a:rPr lang="en-US" altLang="zh-CN" dirty="0" err="1"/>
              <a:t>i</a:t>
            </a:r>
            <a:endParaRPr lang="en-US" altLang="zh-CN" dirty="0"/>
          </a:p>
          <a:p>
            <a:pPr algn="ctr"/>
            <a:r>
              <a:rPr lang="en-US" altLang="zh-CN" dirty="0"/>
              <a:t>Class   Skeleton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2879749-7AF2-85C4-730A-4F75C30B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</a:t>
            </a:r>
            <a:endParaRPr lang="zh-CN" altLang="en-US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79F2659C-05B3-BA76-608C-0C212AFAF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013" y="749832"/>
            <a:ext cx="6916532" cy="3361210"/>
          </a:xfrm>
          <a:prstGeom prst="rect">
            <a:avLst/>
          </a:prstGeom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id="{9410FA04-8F0C-91CC-D6E2-228C803DF080}"/>
              </a:ext>
            </a:extLst>
          </p:cNvPr>
          <p:cNvGrpSpPr/>
          <p:nvPr/>
        </p:nvGrpSpPr>
        <p:grpSpPr>
          <a:xfrm>
            <a:off x="75964" y="3356553"/>
            <a:ext cx="2480913" cy="2697257"/>
            <a:chOff x="1140543" y="338589"/>
            <a:chExt cx="2654710" cy="2906056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15AFCD57-53B0-0300-043D-B1493ECD09DB}"/>
                </a:ext>
              </a:extLst>
            </p:cNvPr>
            <p:cNvSpPr txBox="1"/>
            <p:nvPr/>
          </p:nvSpPr>
          <p:spPr>
            <a:xfrm>
              <a:off x="2177847" y="338589"/>
              <a:ext cx="5801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PR</a:t>
              </a:r>
              <a:endParaRPr lang="zh-CN" altLang="en-US" dirty="0"/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F766A430-77AE-33D5-E65F-3E308B6988EC}"/>
                </a:ext>
              </a:extLst>
            </p:cNvPr>
            <p:cNvGrpSpPr/>
            <p:nvPr/>
          </p:nvGrpSpPr>
          <p:grpSpPr>
            <a:xfrm>
              <a:off x="1140543" y="707921"/>
              <a:ext cx="2654710" cy="2536724"/>
              <a:chOff x="1140543" y="707921"/>
              <a:chExt cx="2654710" cy="2536724"/>
            </a:xfrm>
          </p:grpSpPr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487DA555-F42D-A4DF-F66D-40757ADCAB9E}"/>
                  </a:ext>
                </a:extLst>
              </p:cNvPr>
              <p:cNvSpPr/>
              <p:nvPr/>
            </p:nvSpPr>
            <p:spPr>
              <a:xfrm>
                <a:off x="1140543" y="707921"/>
                <a:ext cx="2654710" cy="2536724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2BCA8737-D309-3CF6-37FA-8DD5CED03B1F}"/>
                  </a:ext>
                </a:extLst>
              </p:cNvPr>
              <p:cNvSpPr/>
              <p:nvPr/>
            </p:nvSpPr>
            <p:spPr>
              <a:xfrm>
                <a:off x="1289256" y="800417"/>
                <a:ext cx="2357284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Commit 1</a:t>
                </a:r>
                <a:endParaRPr lang="zh-CN" altLang="en-US" dirty="0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30194B06-D156-8B08-0ECD-5311ED32C0B8}"/>
                  </a:ext>
                </a:extLst>
              </p:cNvPr>
              <p:cNvSpPr/>
              <p:nvPr/>
            </p:nvSpPr>
            <p:spPr>
              <a:xfrm>
                <a:off x="1289256" y="1346395"/>
                <a:ext cx="2357284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Commit 2</a:t>
                </a:r>
                <a:endParaRPr lang="zh-CN" altLang="en-US" dirty="0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744FA233-FBC9-6DA1-A7E0-41144A39C4CD}"/>
                  </a:ext>
                </a:extLst>
              </p:cNvPr>
              <p:cNvSpPr/>
              <p:nvPr/>
            </p:nvSpPr>
            <p:spPr>
              <a:xfrm>
                <a:off x="1289256" y="1900392"/>
                <a:ext cx="2357284" cy="124593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矩形: 圆角 68">
                <a:extLst>
                  <a:ext uri="{FF2B5EF4-FFF2-40B4-BE49-F238E27FC236}">
                    <a16:creationId xmlns:a16="http://schemas.microsoft.com/office/drawing/2014/main" id="{4C5EAD4E-7D6F-94F4-F6A9-D251BECE7BEA}"/>
                  </a:ext>
                </a:extLst>
              </p:cNvPr>
              <p:cNvSpPr/>
              <p:nvPr/>
            </p:nvSpPr>
            <p:spPr>
              <a:xfrm>
                <a:off x="1388808" y="2085059"/>
                <a:ext cx="2158181" cy="36147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File 1</a:t>
                </a:r>
                <a:endParaRPr lang="zh-CN" altLang="en-US" dirty="0"/>
              </a:p>
            </p:txBody>
          </p:sp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85915931-99A6-E387-A2E8-8CA7FC40A5BD}"/>
                  </a:ext>
                </a:extLst>
              </p:cNvPr>
              <p:cNvSpPr/>
              <p:nvPr/>
            </p:nvSpPr>
            <p:spPr>
              <a:xfrm>
                <a:off x="1388808" y="2578197"/>
                <a:ext cx="2158181" cy="436463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7FA991F2-084B-3D35-CA7C-6B12887C18AD}"/>
                  </a:ext>
                </a:extLst>
              </p:cNvPr>
              <p:cNvSpPr/>
              <p:nvPr/>
            </p:nvSpPr>
            <p:spPr>
              <a:xfrm>
                <a:off x="2566823" y="2043439"/>
                <a:ext cx="935293" cy="39628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Diff 1</a:t>
                </a:r>
                <a:endParaRPr lang="zh-CN" altLang="en-US" dirty="0"/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F192A2DC-BE25-7BB6-9BB0-EE636E149D3A}"/>
                  </a:ext>
                </a:extLst>
              </p:cNvPr>
              <p:cNvSpPr/>
              <p:nvPr/>
            </p:nvSpPr>
            <p:spPr>
              <a:xfrm>
                <a:off x="2571275" y="2598284"/>
                <a:ext cx="935293" cy="39628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Diff 2</a:t>
                </a:r>
                <a:endParaRPr lang="zh-CN" altLang="en-US" dirty="0"/>
              </a:p>
            </p:txBody>
          </p:sp>
        </p:grpSp>
      </p:grp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3BE6FA0A-7F61-4585-2635-AF861E306069}"/>
              </a:ext>
            </a:extLst>
          </p:cNvPr>
          <p:cNvCxnSpPr/>
          <p:nvPr/>
        </p:nvCxnSpPr>
        <p:spPr>
          <a:xfrm>
            <a:off x="2344041" y="5510151"/>
            <a:ext cx="12893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>
            <a:extLst>
              <a:ext uri="{FF2B5EF4-FFF2-40B4-BE49-F238E27FC236}">
                <a16:creationId xmlns:a16="http://schemas.microsoft.com/office/drawing/2014/main" id="{A85FF680-28EA-4B82-8EF2-52C563A630E9}"/>
              </a:ext>
            </a:extLst>
          </p:cNvPr>
          <p:cNvSpPr/>
          <p:nvPr/>
        </p:nvSpPr>
        <p:spPr>
          <a:xfrm>
            <a:off x="8772773" y="4111042"/>
            <a:ext cx="2994351" cy="226094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B22F6E8D-3BE9-5860-4459-2F6D21CC1AF8}"/>
              </a:ext>
            </a:extLst>
          </p:cNvPr>
          <p:cNvSpPr/>
          <p:nvPr/>
        </p:nvSpPr>
        <p:spPr>
          <a:xfrm>
            <a:off x="3641939" y="4758080"/>
            <a:ext cx="2016890" cy="33550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File 1 Skeleton</a:t>
            </a:r>
            <a:endParaRPr lang="zh-CN" altLang="en-US" dirty="0"/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0A109564-63C2-92DF-2E5B-46A78E718914}"/>
              </a:ext>
            </a:extLst>
          </p:cNvPr>
          <p:cNvSpPr/>
          <p:nvPr/>
        </p:nvSpPr>
        <p:spPr>
          <a:xfrm>
            <a:off x="3641939" y="5161265"/>
            <a:ext cx="2016890" cy="33550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File 2 Skeleton</a:t>
            </a:r>
            <a:endParaRPr lang="zh-CN" altLang="en-US" dirty="0"/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E6B72BC9-030D-66DC-3AA8-9724475D8B65}"/>
              </a:ext>
            </a:extLst>
          </p:cNvPr>
          <p:cNvSpPr/>
          <p:nvPr/>
        </p:nvSpPr>
        <p:spPr>
          <a:xfrm>
            <a:off x="3579467" y="5708577"/>
            <a:ext cx="253690" cy="36781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96A9EDF8-2439-1F18-CAB6-1D8E80F48A3B}"/>
              </a:ext>
            </a:extLst>
          </p:cNvPr>
          <p:cNvSpPr/>
          <p:nvPr/>
        </p:nvSpPr>
        <p:spPr>
          <a:xfrm>
            <a:off x="3649270" y="3794836"/>
            <a:ext cx="2016890" cy="27513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 </a:t>
            </a:r>
            <a:r>
              <a:rPr lang="en-US" altLang="zh-CN" dirty="0" err="1"/>
              <a:t>Discript</a:t>
            </a:r>
            <a:endParaRPr lang="zh-CN" altLang="en-US" dirty="0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D2E9A038-5FEE-3898-CA11-C217F57150AF}"/>
              </a:ext>
            </a:extLst>
          </p:cNvPr>
          <p:cNvSpPr/>
          <p:nvPr/>
        </p:nvSpPr>
        <p:spPr>
          <a:xfrm>
            <a:off x="5789576" y="5684193"/>
            <a:ext cx="1641987" cy="914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Map  </a:t>
            </a:r>
          </a:p>
          <a:p>
            <a:pPr algn="ctr"/>
            <a:r>
              <a:rPr lang="zh-CN" altLang="en-US" dirty="0"/>
              <a:t>详细信息</a:t>
            </a:r>
            <a:endParaRPr lang="en-US" altLang="zh-CN" dirty="0"/>
          </a:p>
          <a:p>
            <a:pPr algn="ctr"/>
            <a:r>
              <a:rPr lang="en-US" altLang="zh-CN" dirty="0"/>
              <a:t>tool</a:t>
            </a:r>
            <a:endParaRPr lang="zh-CN" altLang="en-US" dirty="0"/>
          </a:p>
        </p:txBody>
      </p:sp>
      <p:pic>
        <p:nvPicPr>
          <p:cNvPr id="93" name="图形 92" descr="机器人 纯色填充">
            <a:extLst>
              <a:ext uri="{FF2B5EF4-FFF2-40B4-BE49-F238E27FC236}">
                <a16:creationId xmlns:a16="http://schemas.microsoft.com/office/drawing/2014/main" id="{C3A9B729-E268-4095-3083-630E1E9018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8623" y="4734652"/>
            <a:ext cx="914400" cy="914400"/>
          </a:xfrm>
          <a:prstGeom prst="rect">
            <a:avLst/>
          </a:prstGeom>
        </p:spPr>
      </p:pic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4F89AE39-B758-D857-2454-CD994EBEE29C}"/>
              </a:ext>
            </a:extLst>
          </p:cNvPr>
          <p:cNvCxnSpPr>
            <a:cxnSpLocks/>
          </p:cNvCxnSpPr>
          <p:nvPr/>
        </p:nvCxnSpPr>
        <p:spPr>
          <a:xfrm>
            <a:off x="5505111" y="5269962"/>
            <a:ext cx="9841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D9B788F2-0EE9-3050-8D08-4737D83A8C5E}"/>
              </a:ext>
            </a:extLst>
          </p:cNvPr>
          <p:cNvCxnSpPr>
            <a:cxnSpLocks/>
          </p:cNvCxnSpPr>
          <p:nvPr/>
        </p:nvCxnSpPr>
        <p:spPr>
          <a:xfrm>
            <a:off x="7189763" y="5306723"/>
            <a:ext cx="1241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162BCAF8-887C-F2F1-9C5B-824173F37299}"/>
              </a:ext>
            </a:extLst>
          </p:cNvPr>
          <p:cNvSpPr/>
          <p:nvPr/>
        </p:nvSpPr>
        <p:spPr>
          <a:xfrm>
            <a:off x="8839513" y="4193903"/>
            <a:ext cx="2860875" cy="50192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  Explain,  current and Expect completion</a:t>
            </a:r>
            <a:endParaRPr lang="zh-CN" altLang="en-US" dirty="0"/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44D60937-C6BD-44F4-F060-BF24DD864FF3}"/>
              </a:ext>
            </a:extLst>
          </p:cNvPr>
          <p:cNvSpPr/>
          <p:nvPr/>
        </p:nvSpPr>
        <p:spPr>
          <a:xfrm>
            <a:off x="8839513" y="5240672"/>
            <a:ext cx="2727441" cy="33550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Relevent</a:t>
            </a:r>
            <a:r>
              <a:rPr lang="en-US" altLang="zh-CN" dirty="0"/>
              <a:t> Files Skeleton</a:t>
            </a:r>
            <a:endParaRPr lang="zh-CN" altLang="en-US" dirty="0"/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A8CE7743-3C1E-3ECE-6123-4352367D775C}"/>
              </a:ext>
            </a:extLst>
          </p:cNvPr>
          <p:cNvSpPr/>
          <p:nvPr/>
        </p:nvSpPr>
        <p:spPr>
          <a:xfrm>
            <a:off x="9078698" y="5718661"/>
            <a:ext cx="2195687" cy="4732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Diff and Explain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DA4E39-668E-F36D-C531-86EDDC7AFF36}"/>
              </a:ext>
            </a:extLst>
          </p:cNvPr>
          <p:cNvSpPr/>
          <p:nvPr/>
        </p:nvSpPr>
        <p:spPr>
          <a:xfrm>
            <a:off x="3746350" y="4163940"/>
            <a:ext cx="1808066" cy="541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Commit message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4CB900-7E45-B39E-59B3-64FAB780E5A8}"/>
              </a:ext>
            </a:extLst>
          </p:cNvPr>
          <p:cNvSpPr/>
          <p:nvPr/>
        </p:nvSpPr>
        <p:spPr>
          <a:xfrm>
            <a:off x="8833699" y="4676033"/>
            <a:ext cx="2811168" cy="43469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Last commit   and  review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885A9E-DE3D-09F5-8A8B-327C008C364C}"/>
              </a:ext>
            </a:extLst>
          </p:cNvPr>
          <p:cNvSpPr/>
          <p:nvPr/>
        </p:nvSpPr>
        <p:spPr>
          <a:xfrm>
            <a:off x="3649270" y="3770152"/>
            <a:ext cx="2009560" cy="89635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Last commit   and  review</a:t>
            </a:r>
            <a:endParaRPr lang="zh-CN" altLang="en-US" dirty="0"/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1F607E53-AB78-6F46-D9DF-B8C0D872FEEC}"/>
              </a:ext>
            </a:extLst>
          </p:cNvPr>
          <p:cNvSpPr/>
          <p:nvPr/>
        </p:nvSpPr>
        <p:spPr>
          <a:xfrm>
            <a:off x="10293859" y="310050"/>
            <a:ext cx="1517686" cy="102415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tools</a:t>
            </a:r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5EE398B-A653-8834-6092-C6778A2CC8F8}"/>
              </a:ext>
            </a:extLst>
          </p:cNvPr>
          <p:cNvSpPr/>
          <p:nvPr/>
        </p:nvSpPr>
        <p:spPr>
          <a:xfrm>
            <a:off x="5658829" y="758389"/>
            <a:ext cx="2165526" cy="5758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F62F68-09C9-BA21-E3D7-35872BA7BDE0}"/>
              </a:ext>
            </a:extLst>
          </p:cNvPr>
          <p:cNvSpPr/>
          <p:nvPr/>
        </p:nvSpPr>
        <p:spPr>
          <a:xfrm>
            <a:off x="401010" y="3150261"/>
            <a:ext cx="2016890" cy="27513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 </a:t>
            </a:r>
            <a:r>
              <a:rPr lang="en-US" altLang="zh-CN" dirty="0" err="1"/>
              <a:t>Discript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30786A-34C6-D7B2-1A73-01F9D6029580}"/>
              </a:ext>
            </a:extLst>
          </p:cNvPr>
          <p:cNvSpPr/>
          <p:nvPr/>
        </p:nvSpPr>
        <p:spPr>
          <a:xfrm>
            <a:off x="516800" y="2561638"/>
            <a:ext cx="1808066" cy="541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Commit message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9137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CED3F-3E99-CE30-1897-90DF8536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数据收集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8DA0610-3FA2-4FC8-91EB-C435E8077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494" y="2435879"/>
            <a:ext cx="6067425" cy="24953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7371CFB-5BCC-867D-E102-B60BED477D9E}"/>
              </a:ext>
            </a:extLst>
          </p:cNvPr>
          <p:cNvSpPr txBox="1"/>
          <p:nvPr/>
        </p:nvSpPr>
        <p:spPr>
          <a:xfrm>
            <a:off x="1017494" y="1910443"/>
            <a:ext cx="3684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利用</a:t>
            </a:r>
            <a:r>
              <a:rPr lang="en-US" altLang="zh-CN" dirty="0" err="1"/>
              <a:t>graphql</a:t>
            </a:r>
            <a:r>
              <a:rPr lang="en-US" altLang="zh-CN" dirty="0"/>
              <a:t> </a:t>
            </a:r>
            <a:r>
              <a:rPr lang="zh-CN" altLang="en-US" dirty="0"/>
              <a:t>以及 </a:t>
            </a:r>
            <a:r>
              <a:rPr lang="en-US" altLang="zh-CN" dirty="0" err="1"/>
              <a:t>github</a:t>
            </a:r>
            <a:r>
              <a:rPr lang="en-US" altLang="zh-CN" dirty="0"/>
              <a:t> restful </a:t>
            </a:r>
            <a:r>
              <a:rPr lang="en-US" altLang="zh-CN" dirty="0" err="1"/>
              <a:t>api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7A8C2B-366C-2BE1-4224-2A2970F2C2B9}"/>
              </a:ext>
            </a:extLst>
          </p:cNvPr>
          <p:cNvSpPr txBox="1"/>
          <p:nvPr/>
        </p:nvSpPr>
        <p:spPr>
          <a:xfrm>
            <a:off x="908317" y="5182382"/>
            <a:ext cx="932498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获取了：</a:t>
            </a:r>
            <a:endParaRPr lang="en-US" altLang="zh-CN" sz="2800" dirty="0"/>
          </a:p>
          <a:p>
            <a:pPr marL="342900" indent="-342900">
              <a:buAutoNum type="arabicPeriod"/>
            </a:pPr>
            <a:r>
              <a:rPr lang="en-US" altLang="zh-CN" sz="2800" dirty="0"/>
              <a:t>merge-base </a:t>
            </a:r>
            <a:r>
              <a:rPr lang="zh-CN" altLang="en-US" sz="2800" dirty="0"/>
              <a:t>以及</a:t>
            </a:r>
            <a:r>
              <a:rPr lang="en-US" altLang="zh-CN" sz="2800" dirty="0"/>
              <a:t>feature</a:t>
            </a:r>
            <a:r>
              <a:rPr lang="zh-CN" altLang="en-US" sz="2800" dirty="0"/>
              <a:t>的 </a:t>
            </a:r>
            <a:r>
              <a:rPr lang="en-US" altLang="zh-CN" sz="2800" dirty="0"/>
              <a:t>repo</a:t>
            </a:r>
          </a:p>
          <a:p>
            <a:pPr marL="342900" indent="-342900">
              <a:buAutoNum type="arabicPeriod"/>
            </a:pPr>
            <a:r>
              <a:rPr lang="zh-CN" altLang="en-US" sz="2800" dirty="0"/>
              <a:t>获取该</a:t>
            </a:r>
            <a:r>
              <a:rPr lang="en-US" altLang="zh-CN" sz="2800" dirty="0"/>
              <a:t>pr</a:t>
            </a:r>
            <a:r>
              <a:rPr lang="zh-CN" altLang="en-US" sz="2800" dirty="0"/>
              <a:t>的 </a:t>
            </a:r>
            <a:r>
              <a:rPr lang="en-US" altLang="zh-CN" sz="2800" dirty="0"/>
              <a:t>&lt;</a:t>
            </a:r>
            <a:r>
              <a:rPr lang="en-US" altLang="zh-CN" sz="2800" dirty="0" err="1"/>
              <a:t>diff_hunk</a:t>
            </a:r>
            <a:r>
              <a:rPr lang="en-US" altLang="zh-CN" sz="2800" dirty="0"/>
              <a:t>,  review comment,  revised code&gt;</a:t>
            </a:r>
          </a:p>
          <a:p>
            <a:pPr marL="342900" indent="-342900">
              <a:buAutoNum type="arabicPeriod"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68274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D7C75D8-ECF5-B28A-1105-8630C56D00B8}"/>
              </a:ext>
            </a:extLst>
          </p:cNvPr>
          <p:cNvSpPr/>
          <p:nvPr/>
        </p:nvSpPr>
        <p:spPr>
          <a:xfrm>
            <a:off x="9788013" y="2186594"/>
            <a:ext cx="1794387" cy="146179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由</a:t>
            </a:r>
            <a:r>
              <a:rPr lang="en-US" altLang="zh-CN" dirty="0">
                <a:solidFill>
                  <a:schemeClr val="tx1"/>
                </a:solidFill>
              </a:rPr>
              <a:t>depth</a:t>
            </a:r>
            <a:r>
              <a:rPr lang="zh-CN" altLang="en-US" dirty="0">
                <a:solidFill>
                  <a:schemeClr val="tx1"/>
                </a:solidFill>
              </a:rPr>
              <a:t>限制的可获取具体内容的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Callee 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 Caller Tree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C7D9DC-8AB8-B7D6-B365-88FA85F305C2}"/>
              </a:ext>
            </a:extLst>
          </p:cNvPr>
          <p:cNvSpPr/>
          <p:nvPr/>
        </p:nvSpPr>
        <p:spPr>
          <a:xfrm>
            <a:off x="4129548" y="244138"/>
            <a:ext cx="2546555" cy="28138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C0E5B60-BB1C-F1E5-FB6A-E3DE77BF4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</a:t>
            </a:r>
            <a:r>
              <a:rPr lang="en-US" altLang="zh-CN" dirty="0"/>
              <a:t>Context</a:t>
            </a:r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FD6E864-79E2-A0B2-61C1-41E106C7C384}"/>
              </a:ext>
            </a:extLst>
          </p:cNvPr>
          <p:cNvSpPr/>
          <p:nvPr/>
        </p:nvSpPr>
        <p:spPr>
          <a:xfrm>
            <a:off x="838200" y="2703871"/>
            <a:ext cx="1101212" cy="11503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repo</a:t>
            </a:r>
            <a:endParaRPr lang="zh-CN" altLang="en-US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D3837D1-D5E9-B400-4DAD-2EB43599229A}"/>
              </a:ext>
            </a:extLst>
          </p:cNvPr>
          <p:cNvCxnSpPr/>
          <p:nvPr/>
        </p:nvCxnSpPr>
        <p:spPr>
          <a:xfrm flipV="1">
            <a:off x="2035277" y="2231923"/>
            <a:ext cx="2094271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AD3DA91-0455-68FA-07B2-7EC25B78C83A}"/>
              </a:ext>
            </a:extLst>
          </p:cNvPr>
          <p:cNvSpPr txBox="1"/>
          <p:nvPr/>
        </p:nvSpPr>
        <p:spPr>
          <a:xfrm>
            <a:off x="2418736" y="2186594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Repo structure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910E0E-125A-1BEE-B60C-E684297F8D74}"/>
              </a:ext>
            </a:extLst>
          </p:cNvPr>
          <p:cNvSpPr txBox="1"/>
          <p:nvPr/>
        </p:nvSpPr>
        <p:spPr>
          <a:xfrm>
            <a:off x="4225413" y="244138"/>
            <a:ext cx="290297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fixed_test_project/</a:t>
            </a:r>
          </a:p>
          <a:p>
            <a:r>
              <a:rPr lang="zh-CN" altLang="en-US" sz="1400" dirty="0"/>
              <a:t>├── features/</a:t>
            </a:r>
          </a:p>
          <a:p>
            <a:r>
              <a:rPr lang="zh-CN" altLang="en-US" sz="1400" dirty="0"/>
              <a:t>│   ├── __init__.py</a:t>
            </a:r>
          </a:p>
          <a:p>
            <a:r>
              <a:rPr lang="zh-CN" altLang="en-US" sz="1400" dirty="0"/>
              <a:t>│   ├── dynamic_features.py</a:t>
            </a:r>
          </a:p>
          <a:p>
            <a:r>
              <a:rPr lang="zh-CN" altLang="en-US" sz="1400" dirty="0"/>
              <a:t>│   └── special_methods.py</a:t>
            </a:r>
          </a:p>
          <a:p>
            <a:r>
              <a:rPr lang="zh-CN" altLang="en-US" sz="1400" dirty="0"/>
              <a:t>├── helpers/</a:t>
            </a:r>
          </a:p>
          <a:p>
            <a:r>
              <a:rPr lang="zh-CN" altLang="en-US" sz="1400" dirty="0"/>
              <a:t>│   ├── __init__.py</a:t>
            </a:r>
          </a:p>
          <a:p>
            <a:r>
              <a:rPr lang="zh-CN" altLang="en-US" sz="1400" dirty="0"/>
              <a:t>│   └── string_utils.py</a:t>
            </a:r>
          </a:p>
          <a:p>
            <a:r>
              <a:rPr lang="zh-CN" altLang="en-US" sz="1400" dirty="0"/>
              <a:t>├── models/</a:t>
            </a:r>
          </a:p>
          <a:p>
            <a:r>
              <a:rPr lang="zh-CN" altLang="en-US" sz="1400" dirty="0"/>
              <a:t>│   ├── __init__.py</a:t>
            </a:r>
          </a:p>
          <a:p>
            <a:r>
              <a:rPr lang="zh-CN" altLang="en-US" sz="1400" dirty="0"/>
              <a:t>│   ├── base.py</a:t>
            </a:r>
          </a:p>
          <a:p>
            <a:r>
              <a:rPr lang="zh-CN" altLang="en-US" sz="1400" dirty="0"/>
              <a:t>│   └── pets.py</a:t>
            </a:r>
          </a:p>
          <a:p>
            <a:r>
              <a:rPr lang="zh-CN" altLang="en-US" sz="1400" dirty="0"/>
              <a:t>└── main.py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B30BE5B-EC6D-982C-10B1-D0C04C2C3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233" y="3565238"/>
            <a:ext cx="4249605" cy="2599126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40C8E20-DD4A-FADC-30B6-B6DA02060558}"/>
              </a:ext>
            </a:extLst>
          </p:cNvPr>
          <p:cNvCxnSpPr/>
          <p:nvPr/>
        </p:nvCxnSpPr>
        <p:spPr>
          <a:xfrm>
            <a:off x="1388806" y="4041058"/>
            <a:ext cx="1216742" cy="1052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276F4F4-DF67-4FCA-CF71-0CFB713EA4B1}"/>
              </a:ext>
            </a:extLst>
          </p:cNvPr>
          <p:cNvSpPr txBox="1"/>
          <p:nvPr/>
        </p:nvSpPr>
        <p:spPr>
          <a:xfrm>
            <a:off x="1061884" y="448351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调用链构造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ADD682C-7ED0-4BC4-404E-9858275E6540}"/>
              </a:ext>
            </a:extLst>
          </p:cNvPr>
          <p:cNvCxnSpPr>
            <a:cxnSpLocks/>
          </p:cNvCxnSpPr>
          <p:nvPr/>
        </p:nvCxnSpPr>
        <p:spPr>
          <a:xfrm>
            <a:off x="6302477" y="4897211"/>
            <a:ext cx="1170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54B5648-C6B4-CAD4-39A6-3AB1AE2EA146}"/>
              </a:ext>
            </a:extLst>
          </p:cNvPr>
          <p:cNvSpPr txBox="1"/>
          <p:nvPr/>
        </p:nvSpPr>
        <p:spPr>
          <a:xfrm>
            <a:off x="3238832" y="6371171"/>
            <a:ext cx="5202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利用</a:t>
            </a:r>
            <a:r>
              <a:rPr lang="en-US" altLang="zh-CN" dirty="0"/>
              <a:t>pyre</a:t>
            </a:r>
            <a:r>
              <a:rPr lang="zh-CN" altLang="en-US" dirty="0"/>
              <a:t>查询各个</a:t>
            </a:r>
            <a:r>
              <a:rPr lang="en-US" altLang="zh-CN" dirty="0" err="1"/>
              <a:t>func</a:t>
            </a:r>
            <a:r>
              <a:rPr lang="zh-CN" altLang="en-US" dirty="0"/>
              <a:t>的调用关系，构造一个</a:t>
            </a:r>
            <a:r>
              <a:rPr lang="en-US" altLang="zh-CN" dirty="0"/>
              <a:t>DAG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7080DC-CD39-D2BB-7F6A-5915B1CD4698}"/>
              </a:ext>
            </a:extLst>
          </p:cNvPr>
          <p:cNvSpPr txBox="1"/>
          <p:nvPr/>
        </p:nvSpPr>
        <p:spPr>
          <a:xfrm>
            <a:off x="7426200" y="4769944"/>
            <a:ext cx="3778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对于给定的</a:t>
            </a:r>
            <a:r>
              <a:rPr lang="en-US" altLang="zh-CN" dirty="0" err="1"/>
              <a:t>func</a:t>
            </a:r>
            <a:r>
              <a:rPr lang="zh-CN" altLang="en-US" dirty="0"/>
              <a:t>如</a:t>
            </a:r>
            <a:r>
              <a:rPr lang="en-US" altLang="zh-CN" dirty="0" err="1"/>
              <a:t>main.run_oo_tests</a:t>
            </a:r>
            <a:endParaRPr lang="en-US" altLang="zh-CN" dirty="0"/>
          </a:p>
          <a:p>
            <a:r>
              <a:rPr lang="en-US" altLang="zh-CN" dirty="0"/>
              <a:t>BFS</a:t>
            </a:r>
            <a:r>
              <a:rPr lang="zh-CN" altLang="en-US" dirty="0"/>
              <a:t>获取其 </a:t>
            </a:r>
            <a:r>
              <a:rPr lang="en-US" altLang="zh-CN" dirty="0"/>
              <a:t>callee</a:t>
            </a:r>
            <a:r>
              <a:rPr lang="zh-CN" altLang="en-US" dirty="0"/>
              <a:t>和</a:t>
            </a:r>
            <a:r>
              <a:rPr lang="en-US" altLang="zh-CN" dirty="0"/>
              <a:t>caller tree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781538C-CFF3-5E4B-9A9E-44DDE46A8983}"/>
              </a:ext>
            </a:extLst>
          </p:cNvPr>
          <p:cNvCxnSpPr>
            <a:cxnSpLocks/>
          </p:cNvCxnSpPr>
          <p:nvPr/>
        </p:nvCxnSpPr>
        <p:spPr>
          <a:xfrm flipV="1">
            <a:off x="2123768" y="3146406"/>
            <a:ext cx="4552335" cy="282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EA13C96-89F7-FD9A-101B-2C6F11B3FC03}"/>
              </a:ext>
            </a:extLst>
          </p:cNvPr>
          <p:cNvSpPr txBox="1"/>
          <p:nvPr/>
        </p:nvSpPr>
        <p:spPr>
          <a:xfrm>
            <a:off x="2703871" y="3279058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Func </a:t>
            </a:r>
            <a:r>
              <a:rPr lang="zh-CN" altLang="en-US" dirty="0"/>
              <a:t>映射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BC224AE-3945-199A-4CB4-A6CCDF2AFFAB}"/>
              </a:ext>
            </a:extLst>
          </p:cNvPr>
          <p:cNvSpPr txBox="1"/>
          <p:nvPr/>
        </p:nvSpPr>
        <p:spPr>
          <a:xfrm>
            <a:off x="5884607" y="2971261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/>
              <a:t>dict</a:t>
            </a:r>
            <a:r>
              <a:rPr lang="en-US" altLang="zh-CN" dirty="0"/>
              <a:t>(  </a:t>
            </a:r>
            <a:r>
              <a:rPr lang="en-US" altLang="zh-CN" dirty="0" err="1"/>
              <a:t>func</a:t>
            </a:r>
            <a:r>
              <a:rPr lang="en-US" altLang="zh-CN" dirty="0"/>
              <a:t> -&gt; </a:t>
            </a:r>
            <a:r>
              <a:rPr lang="en-US" altLang="zh-CN" dirty="0" err="1"/>
              <a:t>func</a:t>
            </a:r>
            <a:r>
              <a:rPr lang="en-US" altLang="zh-CN" dirty="0"/>
              <a:t> content)</a:t>
            </a:r>
            <a:endParaRPr lang="zh-CN" altLang="en-US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327D7DC-B891-59CF-E4E1-0B6F94E67CF9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8932607" y="3155927"/>
            <a:ext cx="865239" cy="147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68A9EBA-90CB-CD86-BD03-09AD24637CDE}"/>
              </a:ext>
            </a:extLst>
          </p:cNvPr>
          <p:cNvCxnSpPr/>
          <p:nvPr/>
        </p:nvCxnSpPr>
        <p:spPr>
          <a:xfrm flipV="1">
            <a:off x="9606116" y="3429000"/>
            <a:ext cx="363794" cy="120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514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B2C28CF-E2F1-94E3-4FD3-53B2A5981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70" y="222269"/>
            <a:ext cx="11288299" cy="63555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01FD632-451A-0AB8-BA49-A499E0F29076}"/>
              </a:ext>
            </a:extLst>
          </p:cNvPr>
          <p:cNvSpPr txBox="1"/>
          <p:nvPr/>
        </p:nvSpPr>
        <p:spPr>
          <a:xfrm>
            <a:off x="9722021" y="373625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函数参数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6DB542-EAEF-FBE4-9485-BB4D455AA681}"/>
              </a:ext>
            </a:extLst>
          </p:cNvPr>
          <p:cNvSpPr txBox="1"/>
          <p:nvPr/>
        </p:nvSpPr>
        <p:spPr>
          <a:xfrm>
            <a:off x="7521677" y="168131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多态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CEEE07-D7FC-EC1B-3233-16A0D9C25671}"/>
              </a:ext>
            </a:extLst>
          </p:cNvPr>
          <p:cNvSpPr txBox="1"/>
          <p:nvPr/>
        </p:nvSpPr>
        <p:spPr>
          <a:xfrm>
            <a:off x="7846142" y="6263148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Special magical method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139468-1913-6B56-6BA9-0C7FC4E9C625}"/>
              </a:ext>
            </a:extLst>
          </p:cNvPr>
          <p:cNvSpPr txBox="1"/>
          <p:nvPr/>
        </p:nvSpPr>
        <p:spPr>
          <a:xfrm>
            <a:off x="8035789" y="450809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变量</a:t>
            </a:r>
            <a:r>
              <a:rPr lang="zh-CN" altLang="en-US" dirty="0">
                <a:solidFill>
                  <a:srgbClr val="FF0000"/>
                </a:solidFill>
              </a:rPr>
              <a:t>作用域遮掩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3FB84B4-3274-FA79-A540-8B1F2E53F7C2}"/>
              </a:ext>
            </a:extLst>
          </p:cNvPr>
          <p:cNvSpPr txBox="1"/>
          <p:nvPr/>
        </p:nvSpPr>
        <p:spPr>
          <a:xfrm>
            <a:off x="2269169" y="287101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跨文件</a:t>
            </a:r>
          </a:p>
        </p:txBody>
      </p:sp>
    </p:spTree>
    <p:extLst>
      <p:ext uri="{BB962C8B-B14F-4D97-AF65-F5344CB8AC3E}">
        <p14:creationId xmlns:p14="http://schemas.microsoft.com/office/powerpoint/2010/main" val="62564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72A31B-AB18-32FB-9344-BB3A256F133E}"/>
              </a:ext>
            </a:extLst>
          </p:cNvPr>
          <p:cNvSpPr txBox="1"/>
          <p:nvPr/>
        </p:nvSpPr>
        <p:spPr>
          <a:xfrm>
            <a:off x="1160206" y="1278194"/>
            <a:ext cx="65421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实际扫描了</a:t>
            </a:r>
            <a:r>
              <a:rPr lang="en-US" altLang="zh-CN" dirty="0" err="1"/>
              <a:t>pytorch</a:t>
            </a:r>
            <a:r>
              <a:rPr lang="zh-CN" altLang="en-US" dirty="0"/>
              <a:t>项目， 结果发现有</a:t>
            </a:r>
            <a:r>
              <a:rPr lang="en-US" altLang="zh-CN" dirty="0"/>
              <a:t>1800</a:t>
            </a:r>
            <a:r>
              <a:rPr lang="zh-CN" altLang="en-US" dirty="0"/>
              <a:t>个</a:t>
            </a:r>
            <a:r>
              <a:rPr lang="en-US" altLang="zh-CN" dirty="0"/>
              <a:t>function</a:t>
            </a:r>
            <a:r>
              <a:rPr lang="zh-CN" altLang="en-US" dirty="0"/>
              <a:t>、</a:t>
            </a:r>
            <a:r>
              <a:rPr lang="en-US" altLang="zh-CN" dirty="0"/>
              <a:t>method</a:t>
            </a:r>
          </a:p>
          <a:p>
            <a:endParaRPr lang="en-US" altLang="zh-CN" dirty="0"/>
          </a:p>
          <a:p>
            <a:r>
              <a:rPr lang="zh-CN" altLang="en-US" dirty="0"/>
              <a:t>构建</a:t>
            </a:r>
            <a:r>
              <a:rPr lang="en-US" altLang="zh-CN" dirty="0"/>
              <a:t>DAG</a:t>
            </a:r>
            <a:r>
              <a:rPr lang="zh-CN" altLang="en-US" dirty="0"/>
              <a:t>用了</a:t>
            </a:r>
            <a:r>
              <a:rPr lang="en-US" altLang="zh-CN" dirty="0"/>
              <a:t>30</a:t>
            </a:r>
            <a:r>
              <a:rPr lang="zh-CN" altLang="en-US" dirty="0"/>
              <a:t>分钟，一个非常大的图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下一步应该考虑基于给定的</a:t>
            </a:r>
            <a:r>
              <a:rPr lang="en-US" altLang="zh-CN" dirty="0"/>
              <a:t>function</a:t>
            </a:r>
            <a:r>
              <a:rPr lang="zh-CN" altLang="en-US" dirty="0"/>
              <a:t>、</a:t>
            </a:r>
            <a:r>
              <a:rPr lang="en-US" altLang="zh-CN" dirty="0"/>
              <a:t>method </a:t>
            </a:r>
            <a:r>
              <a:rPr lang="zh-CN" altLang="en-US" dirty="0"/>
              <a:t>边查边构建</a:t>
            </a:r>
          </a:p>
        </p:txBody>
      </p:sp>
    </p:spTree>
    <p:extLst>
      <p:ext uri="{BB962C8B-B14F-4D97-AF65-F5344CB8AC3E}">
        <p14:creationId xmlns:p14="http://schemas.microsoft.com/office/powerpoint/2010/main" val="1589981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对话气泡: 圆角矩形 42">
            <a:extLst>
              <a:ext uri="{FF2B5EF4-FFF2-40B4-BE49-F238E27FC236}">
                <a16:creationId xmlns:a16="http://schemas.microsoft.com/office/drawing/2014/main" id="{357093CA-78E9-AD61-4632-EF7453214478}"/>
              </a:ext>
            </a:extLst>
          </p:cNvPr>
          <p:cNvSpPr/>
          <p:nvPr/>
        </p:nvSpPr>
        <p:spPr>
          <a:xfrm>
            <a:off x="8559203" y="1150373"/>
            <a:ext cx="3632795" cy="3244645"/>
          </a:xfrm>
          <a:prstGeom prst="wedgeRoundRectCallou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圆柱体 3">
            <a:extLst>
              <a:ext uri="{FF2B5EF4-FFF2-40B4-BE49-F238E27FC236}">
                <a16:creationId xmlns:a16="http://schemas.microsoft.com/office/drawing/2014/main" id="{6410E296-74CD-8C5E-69AD-E61144EA73EE}"/>
              </a:ext>
            </a:extLst>
          </p:cNvPr>
          <p:cNvSpPr/>
          <p:nvPr/>
        </p:nvSpPr>
        <p:spPr>
          <a:xfrm>
            <a:off x="491614" y="1288025"/>
            <a:ext cx="973393" cy="88490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github</a:t>
            </a:r>
            <a:endParaRPr lang="zh-CN" alt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5C6613B-9521-918B-00DC-9C1909C3FF93}"/>
              </a:ext>
            </a:extLst>
          </p:cNvPr>
          <p:cNvCxnSpPr/>
          <p:nvPr/>
        </p:nvCxnSpPr>
        <p:spPr>
          <a:xfrm>
            <a:off x="3165987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204BA5D-F4FF-1B4B-5F93-A50D5267F513}"/>
              </a:ext>
            </a:extLst>
          </p:cNvPr>
          <p:cNvSpPr txBox="1"/>
          <p:nvPr/>
        </p:nvSpPr>
        <p:spPr>
          <a:xfrm>
            <a:off x="424312" y="3834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数据收集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2C5F033-36EE-8ADB-147E-B4F57B8CBDFA}"/>
              </a:ext>
            </a:extLst>
          </p:cNvPr>
          <p:cNvCxnSpPr>
            <a:cxnSpLocks/>
          </p:cNvCxnSpPr>
          <p:nvPr/>
        </p:nvCxnSpPr>
        <p:spPr>
          <a:xfrm>
            <a:off x="1661651" y="2271790"/>
            <a:ext cx="2123767" cy="3077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7808948C-A483-7730-9429-394E4F334FF3}"/>
              </a:ext>
            </a:extLst>
          </p:cNvPr>
          <p:cNvSpPr txBox="1"/>
          <p:nvPr/>
        </p:nvSpPr>
        <p:spPr>
          <a:xfrm>
            <a:off x="117987" y="4872335"/>
            <a:ext cx="25563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1800" dirty="0"/>
              <a:t>merge-base </a:t>
            </a:r>
            <a:r>
              <a:rPr lang="zh-CN" altLang="en-US" sz="1800" dirty="0"/>
              <a:t>以及</a:t>
            </a:r>
            <a:r>
              <a:rPr lang="en-US" altLang="zh-CN" sz="1800" dirty="0"/>
              <a:t>feature</a:t>
            </a:r>
            <a:r>
              <a:rPr lang="zh-CN" altLang="en-US" sz="1800" dirty="0"/>
              <a:t>的 </a:t>
            </a:r>
            <a:r>
              <a:rPr lang="en-US" altLang="zh-CN" sz="1800" dirty="0"/>
              <a:t>repo</a:t>
            </a:r>
          </a:p>
          <a:p>
            <a:pPr marL="1257300" lvl="2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Closed </a:t>
            </a:r>
            <a:r>
              <a:rPr lang="en-US" altLang="zh-CN" sz="1800" dirty="0"/>
              <a:t>pr</a:t>
            </a:r>
            <a:r>
              <a:rPr lang="zh-CN" altLang="en-US" sz="1800" dirty="0"/>
              <a:t>的 </a:t>
            </a:r>
            <a:r>
              <a:rPr lang="en-US" altLang="zh-CN" sz="1800" dirty="0"/>
              <a:t>&lt;</a:t>
            </a:r>
            <a:r>
              <a:rPr lang="en-US" altLang="zh-CN" sz="1800" dirty="0" err="1"/>
              <a:t>diff_hunk</a:t>
            </a:r>
            <a:r>
              <a:rPr lang="en-US" altLang="zh-CN" sz="1800" dirty="0"/>
              <a:t>,  review comment,  revised code&gt; </a:t>
            </a:r>
            <a:r>
              <a:rPr lang="zh-CN" altLang="en-US" sz="1800" dirty="0"/>
              <a:t>三元组</a:t>
            </a:r>
            <a:endParaRPr lang="en-US" altLang="zh-CN" sz="1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1C49CC6-6C27-6B58-1D50-22D467C02409}"/>
              </a:ext>
            </a:extLst>
          </p:cNvPr>
          <p:cNvSpPr txBox="1"/>
          <p:nvPr/>
        </p:nvSpPr>
        <p:spPr>
          <a:xfrm>
            <a:off x="3637934" y="38345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上下文构建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6CA8B97-69FC-42BE-CB42-3A376784AF15}"/>
              </a:ext>
            </a:extLst>
          </p:cNvPr>
          <p:cNvSpPr/>
          <p:nvPr/>
        </p:nvSpPr>
        <p:spPr>
          <a:xfrm>
            <a:off x="3220729" y="2071835"/>
            <a:ext cx="757077" cy="5506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repo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C089254-FF0E-9425-5357-4D992A66B82F}"/>
              </a:ext>
            </a:extLst>
          </p:cNvPr>
          <p:cNvCxnSpPr>
            <a:cxnSpLocks/>
          </p:cNvCxnSpPr>
          <p:nvPr/>
        </p:nvCxnSpPr>
        <p:spPr>
          <a:xfrm flipV="1">
            <a:off x="3856815" y="1782656"/>
            <a:ext cx="480848" cy="221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C94F91A-3024-8713-1FAB-CCD0A9D993D1}"/>
              </a:ext>
            </a:extLst>
          </p:cNvPr>
          <p:cNvCxnSpPr>
            <a:cxnSpLocks/>
          </p:cNvCxnSpPr>
          <p:nvPr/>
        </p:nvCxnSpPr>
        <p:spPr>
          <a:xfrm>
            <a:off x="3774738" y="2588207"/>
            <a:ext cx="518362" cy="503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B7798ACD-01BF-4FF1-3462-E88429C6C955}"/>
              </a:ext>
            </a:extLst>
          </p:cNvPr>
          <p:cNvSpPr/>
          <p:nvPr/>
        </p:nvSpPr>
        <p:spPr>
          <a:xfrm>
            <a:off x="4401575" y="1195157"/>
            <a:ext cx="1582993" cy="1076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Tree structure</a:t>
            </a:r>
            <a:endParaRPr lang="zh-CN" altLang="en-US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EABB3A5-8EC9-D739-987C-35E975F1C68E}"/>
              </a:ext>
            </a:extLst>
          </p:cNvPr>
          <p:cNvSpPr/>
          <p:nvPr/>
        </p:nvSpPr>
        <p:spPr>
          <a:xfrm>
            <a:off x="4334904" y="2339924"/>
            <a:ext cx="1582993" cy="21637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受</a:t>
            </a:r>
            <a:r>
              <a:rPr lang="en-US" altLang="zh-CN" dirty="0"/>
              <a:t>depth</a:t>
            </a:r>
            <a:r>
              <a:rPr lang="zh-CN" altLang="en-US" dirty="0"/>
              <a:t>限制的可获得内容的 </a:t>
            </a:r>
            <a:r>
              <a:rPr lang="en-US" altLang="zh-CN" dirty="0"/>
              <a:t>callee</a:t>
            </a:r>
            <a:r>
              <a:rPr lang="zh-CN" altLang="en-US" dirty="0"/>
              <a:t>和 </a:t>
            </a:r>
            <a:r>
              <a:rPr lang="en-US" altLang="zh-CN" dirty="0"/>
              <a:t>caller tree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3282BEA-5A56-C272-C64A-EEF22B8B3565}"/>
              </a:ext>
            </a:extLst>
          </p:cNvPr>
          <p:cNvCxnSpPr/>
          <p:nvPr/>
        </p:nvCxnSpPr>
        <p:spPr>
          <a:xfrm>
            <a:off x="6567948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5167361-87AC-9AF2-7BA3-958BA3173008}"/>
              </a:ext>
            </a:extLst>
          </p:cNvPr>
          <p:cNvSpPr txBox="1"/>
          <p:nvPr/>
        </p:nvSpPr>
        <p:spPr>
          <a:xfrm>
            <a:off x="6866195" y="38345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两阶段生成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2F0C5F8-6CD1-0C8C-D21A-02ED6E5F53E2}"/>
              </a:ext>
            </a:extLst>
          </p:cNvPr>
          <p:cNvGrpSpPr/>
          <p:nvPr/>
        </p:nvGrpSpPr>
        <p:grpSpPr>
          <a:xfrm>
            <a:off x="8544456" y="1967674"/>
            <a:ext cx="3549222" cy="1069258"/>
            <a:chOff x="6656439" y="3394547"/>
            <a:chExt cx="4564296" cy="2120772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791B9B40-AAEA-21EC-E59C-C04B77F2F0DC}"/>
                </a:ext>
              </a:extLst>
            </p:cNvPr>
            <p:cNvSpPr/>
            <p:nvPr/>
          </p:nvSpPr>
          <p:spPr>
            <a:xfrm>
              <a:off x="6656439" y="3394547"/>
              <a:ext cx="4564296" cy="212077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图形 29" descr="机器人 纯色填充">
              <a:extLst>
                <a:ext uri="{FF2B5EF4-FFF2-40B4-BE49-F238E27FC236}">
                  <a16:creationId xmlns:a16="http://schemas.microsoft.com/office/drawing/2014/main" id="{FDC2CA4C-D9FD-652D-D9F7-B40DE80B2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69277" y="3543197"/>
              <a:ext cx="914400" cy="914400"/>
            </a:xfrm>
            <a:prstGeom prst="rect">
              <a:avLst/>
            </a:prstGeom>
          </p:spPr>
        </p:pic>
        <p:pic>
          <p:nvPicPr>
            <p:cNvPr id="31" name="图形 30" descr="机器人 纯色填充">
              <a:extLst>
                <a:ext uri="{FF2B5EF4-FFF2-40B4-BE49-F238E27FC236}">
                  <a16:creationId xmlns:a16="http://schemas.microsoft.com/office/drawing/2014/main" id="{BD4E682C-4AFF-23A6-8CF1-77550C03C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08374" y="3543197"/>
              <a:ext cx="914400" cy="914400"/>
            </a:xfrm>
            <a:prstGeom prst="rect">
              <a:avLst/>
            </a:prstGeom>
          </p:spPr>
        </p:pic>
        <p:pic>
          <p:nvPicPr>
            <p:cNvPr id="32" name="图形 31" descr="机器人 纯色填充">
              <a:extLst>
                <a:ext uri="{FF2B5EF4-FFF2-40B4-BE49-F238E27FC236}">
                  <a16:creationId xmlns:a16="http://schemas.microsoft.com/office/drawing/2014/main" id="{23459BAA-8612-D2F5-CFCE-083F35205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647471" y="3541865"/>
              <a:ext cx="914400" cy="914400"/>
            </a:xfrm>
            <a:prstGeom prst="rect">
              <a:avLst/>
            </a:prstGeom>
          </p:spPr>
        </p:pic>
        <p:pic>
          <p:nvPicPr>
            <p:cNvPr id="33" name="图形 32" descr="机器人 纯色填充">
              <a:extLst>
                <a:ext uri="{FF2B5EF4-FFF2-40B4-BE49-F238E27FC236}">
                  <a16:creationId xmlns:a16="http://schemas.microsoft.com/office/drawing/2014/main" id="{F1B53883-244B-C2F0-02AD-4F5FB56FB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207910" y="3540533"/>
              <a:ext cx="914400" cy="914400"/>
            </a:xfrm>
            <a:prstGeom prst="rect">
              <a:avLst/>
            </a:prstGeom>
          </p:spPr>
        </p:pic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EF570E48-6CA9-43D0-5C3F-F0C67C89105E}"/>
                </a:ext>
              </a:extLst>
            </p:cNvPr>
            <p:cNvSpPr/>
            <p:nvPr/>
          </p:nvSpPr>
          <p:spPr>
            <a:xfrm>
              <a:off x="7844105" y="4625315"/>
              <a:ext cx="1278192" cy="55969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12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security</a:t>
              </a:r>
              <a:endParaRPr lang="zh-CN" altLang="en-US" sz="1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77D3FC0-50B9-2433-2EE7-640E55BE7584}"/>
                </a:ext>
              </a:extLst>
            </p:cNvPr>
            <p:cNvSpPr/>
            <p:nvPr/>
          </p:nvSpPr>
          <p:spPr>
            <a:xfrm>
              <a:off x="9227244" y="4606502"/>
              <a:ext cx="1920887" cy="55969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12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performance</a:t>
              </a:r>
              <a:endParaRPr lang="zh-CN" altLang="en-US" sz="1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895FF9B-374E-13BC-9C93-60CDEB7D6E49}"/>
                </a:ext>
              </a:extLst>
            </p:cNvPr>
            <p:cNvSpPr/>
            <p:nvPr/>
          </p:nvSpPr>
          <p:spPr>
            <a:xfrm>
              <a:off x="8608142" y="4315755"/>
              <a:ext cx="914400" cy="55969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12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style</a:t>
              </a:r>
              <a:endParaRPr lang="zh-CN" altLang="en-US" sz="1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B3EF33E-076B-CD28-CB6C-514FBBC83926}"/>
                </a:ext>
              </a:extLst>
            </p:cNvPr>
            <p:cNvSpPr/>
            <p:nvPr/>
          </p:nvSpPr>
          <p:spPr>
            <a:xfrm>
              <a:off x="6789504" y="4329290"/>
              <a:ext cx="1837972" cy="55969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12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functionality</a:t>
              </a:r>
              <a:endParaRPr lang="zh-CN" altLang="en-US" sz="1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pic>
        <p:nvPicPr>
          <p:cNvPr id="38" name="图形 37" descr="用户 纯色填充">
            <a:extLst>
              <a:ext uri="{FF2B5EF4-FFF2-40B4-BE49-F238E27FC236}">
                <a16:creationId xmlns:a16="http://schemas.microsoft.com/office/drawing/2014/main" id="{B4C96D25-E2BE-D8A1-E3CA-E01C53A312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21513" y="2093958"/>
            <a:ext cx="602520" cy="602520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77EB8210-A93D-38BD-598A-03B5DC0866AA}"/>
              </a:ext>
            </a:extLst>
          </p:cNvPr>
          <p:cNvSpPr/>
          <p:nvPr/>
        </p:nvSpPr>
        <p:spPr>
          <a:xfrm>
            <a:off x="6695171" y="2640543"/>
            <a:ext cx="1514987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contributor</a:t>
            </a:r>
            <a:endParaRPr lang="zh-CN" altLang="en-US" sz="1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60FB247-34F6-2C29-F752-D38BAB9684AC}"/>
              </a:ext>
            </a:extLst>
          </p:cNvPr>
          <p:cNvSpPr/>
          <p:nvPr/>
        </p:nvSpPr>
        <p:spPr>
          <a:xfrm>
            <a:off x="6757150" y="3005751"/>
            <a:ext cx="1192760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1.Answer  2.Change</a:t>
            </a:r>
            <a:endParaRPr lang="zh-CN" altLang="en-US" sz="12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F0AAD30-AA71-20D5-7B74-CD779C388366}"/>
              </a:ext>
            </a:extLst>
          </p:cNvPr>
          <p:cNvSpPr/>
          <p:nvPr/>
        </p:nvSpPr>
        <p:spPr>
          <a:xfrm>
            <a:off x="9609068" y="3217615"/>
            <a:ext cx="1938252" cy="77679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r>
              <a:rPr lang="en-US" altLang="zh-CN" sz="1200" dirty="0"/>
              <a:t>1.Question</a:t>
            </a:r>
          </a:p>
          <a:p>
            <a:r>
              <a:rPr lang="en-US" altLang="zh-CN" sz="1200" dirty="0"/>
              <a:t>2.Request Change</a:t>
            </a:r>
          </a:p>
          <a:p>
            <a:r>
              <a:rPr lang="en-US" altLang="zh-CN" sz="1200" dirty="0"/>
              <a:t>3.Approve</a:t>
            </a:r>
          </a:p>
          <a:p>
            <a:endParaRPr lang="zh-CN" altLang="en-US" sz="12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FBE5665-FC48-E229-1239-AA3BC71CEA3C}"/>
              </a:ext>
            </a:extLst>
          </p:cNvPr>
          <p:cNvSpPr/>
          <p:nvPr/>
        </p:nvSpPr>
        <p:spPr>
          <a:xfrm>
            <a:off x="9831348" y="2821085"/>
            <a:ext cx="149369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Actions</a:t>
            </a:r>
            <a:endParaRPr lang="zh-CN" alt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8ACCE5E-4FFD-B1F6-A24E-DBB8D90734E8}"/>
              </a:ext>
            </a:extLst>
          </p:cNvPr>
          <p:cNvSpPr/>
          <p:nvPr/>
        </p:nvSpPr>
        <p:spPr>
          <a:xfrm>
            <a:off x="8314073" y="1080085"/>
            <a:ext cx="193755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plan</a:t>
            </a:r>
            <a:endParaRPr lang="zh-CN" altLang="en-US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5712AD9C-A128-4F8F-2EA0-E33A5BA475BE}"/>
              </a:ext>
            </a:extLst>
          </p:cNvPr>
          <p:cNvCxnSpPr/>
          <p:nvPr/>
        </p:nvCxnSpPr>
        <p:spPr>
          <a:xfrm>
            <a:off x="8013290" y="3091621"/>
            <a:ext cx="10854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1D660B6-0EF9-2437-B414-71650B15BC31}"/>
              </a:ext>
            </a:extLst>
          </p:cNvPr>
          <p:cNvCxnSpPr/>
          <p:nvPr/>
        </p:nvCxnSpPr>
        <p:spPr>
          <a:xfrm>
            <a:off x="8013290" y="3273517"/>
            <a:ext cx="10854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85467CD-1A8E-89BB-D78C-8886659E7CF7}"/>
              </a:ext>
            </a:extLst>
          </p:cNvPr>
          <p:cNvSpPr/>
          <p:nvPr/>
        </p:nvSpPr>
        <p:spPr>
          <a:xfrm>
            <a:off x="4051717" y="5155799"/>
            <a:ext cx="1030740" cy="5506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三元组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3F39D42F-A285-2D78-81F1-58E26A36F829}"/>
              </a:ext>
            </a:extLst>
          </p:cNvPr>
          <p:cNvCxnSpPr/>
          <p:nvPr/>
        </p:nvCxnSpPr>
        <p:spPr>
          <a:xfrm flipV="1">
            <a:off x="1691148" y="1967674"/>
            <a:ext cx="1337187" cy="73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箭头: 右 51">
            <a:extLst>
              <a:ext uri="{FF2B5EF4-FFF2-40B4-BE49-F238E27FC236}">
                <a16:creationId xmlns:a16="http://schemas.microsoft.com/office/drawing/2014/main" id="{7716B40D-8924-FA43-BEC1-74AB57E6D079}"/>
              </a:ext>
            </a:extLst>
          </p:cNvPr>
          <p:cNvSpPr/>
          <p:nvPr/>
        </p:nvSpPr>
        <p:spPr>
          <a:xfrm>
            <a:off x="2802194" y="2821085"/>
            <a:ext cx="703636" cy="2705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C9950FE1-4539-BCA8-0B97-17E0D7AA6648}"/>
              </a:ext>
            </a:extLst>
          </p:cNvPr>
          <p:cNvSpPr/>
          <p:nvPr/>
        </p:nvSpPr>
        <p:spPr>
          <a:xfrm>
            <a:off x="6121700" y="2877069"/>
            <a:ext cx="676355" cy="2307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29448552-A17C-A7C3-9C2B-ED7C62AA4EB0}"/>
              </a:ext>
            </a:extLst>
          </p:cNvPr>
          <p:cNvCxnSpPr/>
          <p:nvPr/>
        </p:nvCxnSpPr>
        <p:spPr>
          <a:xfrm>
            <a:off x="6121700" y="1782656"/>
            <a:ext cx="180777" cy="1057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A2BC426F-D2EF-5897-FB2E-2FB385B9E230}"/>
              </a:ext>
            </a:extLst>
          </p:cNvPr>
          <p:cNvCxnSpPr/>
          <p:nvPr/>
        </p:nvCxnSpPr>
        <p:spPr>
          <a:xfrm flipV="1">
            <a:off x="5270090" y="3185602"/>
            <a:ext cx="1032387" cy="2163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55B050CA-11FB-789C-CEC3-32BC0B9786A3}"/>
              </a:ext>
            </a:extLst>
          </p:cNvPr>
          <p:cNvCxnSpPr>
            <a:cxnSpLocks/>
          </p:cNvCxnSpPr>
          <p:nvPr/>
        </p:nvCxnSpPr>
        <p:spPr>
          <a:xfrm flipV="1">
            <a:off x="5901359" y="3117468"/>
            <a:ext cx="335518" cy="126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箭头: 右弧形 67">
            <a:extLst>
              <a:ext uri="{FF2B5EF4-FFF2-40B4-BE49-F238E27FC236}">
                <a16:creationId xmlns:a16="http://schemas.microsoft.com/office/drawing/2014/main" id="{0DCBE249-D454-DD19-B242-855C8FA3987F}"/>
              </a:ext>
            </a:extLst>
          </p:cNvPr>
          <p:cNvSpPr/>
          <p:nvPr/>
        </p:nvSpPr>
        <p:spPr>
          <a:xfrm>
            <a:off x="11330969" y="4290976"/>
            <a:ext cx="609202" cy="116271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0" name="图形 69" descr="机器人 纯色填充">
            <a:extLst>
              <a:ext uri="{FF2B5EF4-FFF2-40B4-BE49-F238E27FC236}">
                <a16:creationId xmlns:a16="http://schemas.microsoft.com/office/drawing/2014/main" id="{C705CC79-0C25-D66E-7A73-DCF167E5F6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97336" y="5212319"/>
            <a:ext cx="669740" cy="669740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B6E245B8-E912-FD11-EA2C-E18EC94D6E3B}"/>
              </a:ext>
            </a:extLst>
          </p:cNvPr>
          <p:cNvSpPr txBox="1"/>
          <p:nvPr/>
        </p:nvSpPr>
        <p:spPr>
          <a:xfrm>
            <a:off x="9332581" y="5777915"/>
            <a:ext cx="2607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Validate and Being clear</a:t>
            </a:r>
            <a:endParaRPr lang="zh-CN" altLang="en-US" sz="1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4A141EA-8BD3-CFE6-FDB7-719F72E2682C}"/>
              </a:ext>
            </a:extLst>
          </p:cNvPr>
          <p:cNvSpPr/>
          <p:nvPr/>
        </p:nvSpPr>
        <p:spPr>
          <a:xfrm>
            <a:off x="6798055" y="5212320"/>
            <a:ext cx="2170631" cy="7725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review_comment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revised_code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C977C908-844F-AA2E-7DAC-2D07A2CCF666}"/>
              </a:ext>
            </a:extLst>
          </p:cNvPr>
          <p:cNvCxnSpPr>
            <a:cxnSpLocks/>
          </p:cNvCxnSpPr>
          <p:nvPr/>
        </p:nvCxnSpPr>
        <p:spPr>
          <a:xfrm flipH="1">
            <a:off x="9098763" y="5675111"/>
            <a:ext cx="8646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476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4B444B-1FE8-9091-C11D-491E124D6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将全局</a:t>
            </a:r>
            <a:r>
              <a:rPr lang="en-US" altLang="zh-CN" dirty="0"/>
              <a:t>call graph DAG</a:t>
            </a:r>
            <a:r>
              <a:rPr lang="zh-CN" altLang="en-US" dirty="0"/>
              <a:t>改为局部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3B8D27-8CA7-01FE-BD8A-78C84B57F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855"/>
            <a:ext cx="10515600" cy="46391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2000" dirty="0"/>
              <a:t>原来是：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0. </a:t>
            </a:r>
            <a:r>
              <a:rPr lang="zh-CN" altLang="en-US" sz="2000" dirty="0"/>
              <a:t>给定待审阅的</a:t>
            </a:r>
            <a:r>
              <a:rPr lang="en-US" altLang="zh-CN" sz="2000" dirty="0"/>
              <a:t>function</a:t>
            </a:r>
            <a:r>
              <a:rPr lang="zh-CN" altLang="en-US" sz="2000" dirty="0"/>
              <a:t>的</a:t>
            </a:r>
            <a:r>
              <a:rPr lang="en-US" altLang="zh-CN" sz="2000" dirty="0" err="1"/>
              <a:t>qname</a:t>
            </a:r>
            <a:r>
              <a:rPr lang="en-US" altLang="zh-CN" sz="2000" dirty="0"/>
              <a:t>, </a:t>
            </a:r>
            <a:r>
              <a:rPr lang="zh-CN" altLang="en-US" sz="2000" dirty="0"/>
              <a:t>以及</a:t>
            </a:r>
            <a:r>
              <a:rPr lang="en-US" altLang="zh-CN" sz="2000" dirty="0" err="1"/>
              <a:t>repo_path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1. </a:t>
            </a:r>
            <a:r>
              <a:rPr lang="en-US" altLang="zh-CN" sz="2000" dirty="0" err="1"/>
              <a:t>ast</a:t>
            </a:r>
            <a:r>
              <a:rPr lang="zh-CN" altLang="en-US" sz="2000" dirty="0"/>
              <a:t>扫描整个</a:t>
            </a:r>
            <a:r>
              <a:rPr lang="en-US" altLang="zh-CN" sz="2000" dirty="0"/>
              <a:t>repo</a:t>
            </a:r>
            <a:r>
              <a:rPr lang="zh-CN" altLang="en-US" sz="2000" dirty="0"/>
              <a:t>，对所有的</a:t>
            </a:r>
            <a:r>
              <a:rPr lang="en-US" altLang="zh-CN" sz="2000" dirty="0" err="1"/>
              <a:t>funtion</a:t>
            </a:r>
            <a:r>
              <a:rPr lang="zh-CN" altLang="en-US" sz="2000" dirty="0"/>
              <a:t>构造一个 </a:t>
            </a:r>
            <a:r>
              <a:rPr lang="en-US" altLang="zh-CN" sz="2000" dirty="0" err="1"/>
              <a:t>qname</a:t>
            </a:r>
            <a:r>
              <a:rPr lang="en-US" altLang="zh-CN" sz="2000" dirty="0"/>
              <a:t>-&gt;content</a:t>
            </a:r>
            <a:r>
              <a:rPr lang="zh-CN" altLang="en-US" sz="2000" dirty="0"/>
              <a:t>的映射表</a:t>
            </a:r>
            <a:r>
              <a:rPr lang="en-US" altLang="zh-CN" sz="2000" dirty="0" err="1"/>
              <a:t>dict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2.</a:t>
            </a:r>
            <a:r>
              <a:rPr lang="zh-CN" altLang="en-US" sz="2000" dirty="0"/>
              <a:t> 对于给定的一个</a:t>
            </a:r>
            <a:r>
              <a:rPr lang="en-US" altLang="zh-CN" sz="2000" dirty="0" err="1"/>
              <a:t>qname</a:t>
            </a:r>
            <a:r>
              <a:rPr lang="zh-CN" altLang="en-US" sz="2000" dirty="0"/>
              <a:t>，利用</a:t>
            </a:r>
            <a:r>
              <a:rPr lang="en-US" altLang="zh-CN" sz="2000" dirty="0"/>
              <a:t>pyre</a:t>
            </a:r>
            <a:r>
              <a:rPr lang="zh-CN" altLang="en-US" sz="2000" dirty="0"/>
              <a:t>查询其</a:t>
            </a:r>
            <a:r>
              <a:rPr lang="en-US" altLang="zh-CN" sz="2000" dirty="0"/>
              <a:t>callee</a:t>
            </a:r>
            <a:r>
              <a:rPr lang="zh-CN" altLang="en-US" sz="2000" dirty="0"/>
              <a:t>和</a:t>
            </a:r>
            <a:r>
              <a:rPr lang="en-US" altLang="zh-CN" sz="2000" dirty="0"/>
              <a:t>caller tree</a:t>
            </a:r>
          </a:p>
          <a:p>
            <a:pPr marL="0" indent="0">
              <a:buNone/>
            </a:pPr>
            <a:r>
              <a:rPr lang="en-US" altLang="zh-CN" sz="2000" dirty="0"/>
              <a:t>	3. </a:t>
            </a:r>
            <a:r>
              <a:rPr lang="en-US" altLang="zh-CN" sz="2000" dirty="0" err="1"/>
              <a:t>bfs</a:t>
            </a:r>
            <a:r>
              <a:rPr lang="zh-CN" altLang="en-US" sz="2000" dirty="0"/>
              <a:t>搜索上面的</a:t>
            </a:r>
            <a:r>
              <a:rPr lang="en-US" altLang="zh-CN" sz="2000" dirty="0"/>
              <a:t>tree</a:t>
            </a:r>
            <a:r>
              <a:rPr lang="zh-CN" altLang="en-US" sz="2000" dirty="0"/>
              <a:t>，并通过映射表</a:t>
            </a:r>
            <a:r>
              <a:rPr lang="en-US" altLang="zh-CN" sz="2000" dirty="0" err="1"/>
              <a:t>dict</a:t>
            </a:r>
            <a:r>
              <a:rPr lang="zh-CN" altLang="en-US" sz="2000" dirty="0"/>
              <a:t>获取对应</a:t>
            </a:r>
            <a:r>
              <a:rPr lang="en-US" altLang="zh-CN" sz="2000" dirty="0"/>
              <a:t>function</a:t>
            </a:r>
            <a:r>
              <a:rPr lang="zh-CN" altLang="en-US" sz="2000" dirty="0"/>
              <a:t>的</a:t>
            </a:r>
            <a:r>
              <a:rPr lang="en-US" altLang="zh-CN" sz="2000" dirty="0"/>
              <a:t>content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现在是：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0. </a:t>
            </a:r>
            <a:r>
              <a:rPr lang="zh-CN" altLang="en-US" sz="2000" dirty="0"/>
              <a:t>给定</a:t>
            </a:r>
            <a:r>
              <a:rPr lang="en-US" altLang="zh-CN" sz="2000" dirty="0"/>
              <a:t>review function</a:t>
            </a:r>
            <a:r>
              <a:rPr lang="zh-CN" altLang="en-US" sz="2000" dirty="0"/>
              <a:t>，以及对应的</a:t>
            </a:r>
            <a:r>
              <a:rPr lang="en-US" altLang="zh-CN" sz="2000" dirty="0" err="1"/>
              <a:t>file_path</a:t>
            </a:r>
            <a:r>
              <a:rPr lang="zh-CN" altLang="en-US" sz="2000" dirty="0"/>
              <a:t>， </a:t>
            </a:r>
            <a:r>
              <a:rPr lang="en-US" altLang="zh-CN" sz="2000" dirty="0" err="1"/>
              <a:t>repo_path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1. </a:t>
            </a:r>
            <a:r>
              <a:rPr lang="en-US" altLang="zh-CN" sz="2000" dirty="0" err="1"/>
              <a:t>ast</a:t>
            </a:r>
            <a:r>
              <a:rPr lang="zh-CN" altLang="en-US" sz="2000" dirty="0"/>
              <a:t>扫描</a:t>
            </a:r>
            <a:r>
              <a:rPr lang="en-US" altLang="zh-CN" sz="2000" dirty="0" err="1"/>
              <a:t>file_path</a:t>
            </a:r>
            <a:r>
              <a:rPr lang="zh-CN" altLang="en-US" sz="2000" dirty="0"/>
              <a:t>，获取对应</a:t>
            </a:r>
            <a:r>
              <a:rPr lang="en-US" altLang="zh-CN" sz="2000" dirty="0" err="1">
                <a:solidFill>
                  <a:srgbClr val="FF0000"/>
                </a:solidFill>
              </a:rPr>
              <a:t>qname</a:t>
            </a:r>
            <a:r>
              <a:rPr lang="en-US" altLang="zh-CN" sz="2000" dirty="0">
                <a:solidFill>
                  <a:srgbClr val="FF0000"/>
                </a:solidFill>
              </a:rPr>
              <a:t>   (</a:t>
            </a:r>
            <a:r>
              <a:rPr lang="zh-CN" altLang="en-US" sz="2000" dirty="0">
                <a:solidFill>
                  <a:srgbClr val="FF0000"/>
                </a:solidFill>
              </a:rPr>
              <a:t>路径名</a:t>
            </a:r>
            <a:r>
              <a:rPr lang="en-US" altLang="zh-CN" sz="2000" dirty="0">
                <a:solidFill>
                  <a:srgbClr val="FF0000"/>
                </a:solidFill>
              </a:rPr>
              <a:t>.</a:t>
            </a:r>
            <a:r>
              <a:rPr lang="zh-CN" altLang="en-US" sz="2000" dirty="0">
                <a:solidFill>
                  <a:srgbClr val="FF0000"/>
                </a:solidFill>
              </a:rPr>
              <a:t>类名</a:t>
            </a:r>
            <a:r>
              <a:rPr lang="en-US" altLang="zh-CN" sz="2000" dirty="0">
                <a:solidFill>
                  <a:srgbClr val="FF0000"/>
                </a:solidFill>
              </a:rPr>
              <a:t>.</a:t>
            </a:r>
            <a:r>
              <a:rPr lang="en-US" altLang="zh-CN" sz="2000" dirty="0" err="1">
                <a:solidFill>
                  <a:srgbClr val="FF0000"/>
                </a:solidFill>
              </a:rPr>
              <a:t>func_name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zh-CN" sz="2000" dirty="0"/>
              <a:t>	2.</a:t>
            </a:r>
            <a:r>
              <a:rPr lang="zh-CN" altLang="en-US" sz="2000" dirty="0"/>
              <a:t> 再扫描一遍，构建</a:t>
            </a:r>
            <a:r>
              <a:rPr lang="en-US" altLang="zh-CN" sz="2000" dirty="0"/>
              <a:t>module call graph (</a:t>
            </a:r>
            <a:r>
              <a:rPr lang="en-US" altLang="zh-CN" sz="2000" dirty="0" err="1"/>
              <a:t>bfs</a:t>
            </a:r>
            <a:r>
              <a:rPr lang="en-US" altLang="zh-CN" sz="2000" dirty="0"/>
              <a:t>)</a:t>
            </a:r>
          </a:p>
          <a:p>
            <a:pPr marL="0" indent="0">
              <a:buNone/>
            </a:pPr>
            <a:r>
              <a:rPr lang="en-US" altLang="zh-CN" sz="2000" dirty="0"/>
              <a:t>	3.  </a:t>
            </a:r>
            <a:r>
              <a:rPr lang="zh-CN" altLang="en-US" sz="2000" dirty="0"/>
              <a:t>扫描所涉及到的</a:t>
            </a:r>
            <a:r>
              <a:rPr lang="en-US" altLang="zh-CN" sz="2000" dirty="0"/>
              <a:t>module</a:t>
            </a:r>
            <a:r>
              <a:rPr lang="zh-CN" altLang="en-US" sz="2000" dirty="0"/>
              <a:t>，构建</a:t>
            </a:r>
            <a:r>
              <a:rPr lang="en-US" altLang="zh-CN" sz="2000" dirty="0" err="1"/>
              <a:t>qname</a:t>
            </a:r>
            <a:r>
              <a:rPr lang="en-US" altLang="zh-CN" sz="2000" dirty="0"/>
              <a:t>-&gt;content</a:t>
            </a:r>
            <a:r>
              <a:rPr lang="zh-CN" altLang="en-US" sz="2000" dirty="0"/>
              <a:t>的映射表</a:t>
            </a:r>
            <a:r>
              <a:rPr lang="en-US" altLang="zh-CN" sz="2000" dirty="0" err="1"/>
              <a:t>dict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4. </a:t>
            </a:r>
            <a:r>
              <a:rPr lang="zh-CN" altLang="en-US" sz="2000" dirty="0"/>
              <a:t>利用</a:t>
            </a:r>
            <a:r>
              <a:rPr lang="en-US" altLang="zh-CN" sz="2000" dirty="0"/>
              <a:t>pyre </a:t>
            </a:r>
            <a:r>
              <a:rPr lang="en-US" altLang="zh-CN" sz="2000" dirty="0" err="1"/>
              <a:t>bfs</a:t>
            </a:r>
            <a:r>
              <a:rPr lang="zh-CN" altLang="en-US" sz="2000" dirty="0"/>
              <a:t>查询</a:t>
            </a:r>
            <a:r>
              <a:rPr lang="en-US" altLang="zh-CN" sz="2000" dirty="0"/>
              <a:t>callee</a:t>
            </a:r>
            <a:r>
              <a:rPr lang="zh-CN" altLang="en-US" sz="2000" dirty="0"/>
              <a:t>和</a:t>
            </a:r>
            <a:r>
              <a:rPr lang="en-US" altLang="zh-CN" sz="2000" dirty="0"/>
              <a:t>caller</a:t>
            </a:r>
            <a:r>
              <a:rPr lang="zh-CN" altLang="en-US" sz="2000" dirty="0"/>
              <a:t> </a:t>
            </a:r>
            <a:r>
              <a:rPr lang="en-US" altLang="zh-CN" sz="2000" dirty="0"/>
              <a:t>tree</a:t>
            </a:r>
            <a:r>
              <a:rPr lang="zh-CN" altLang="en-US" sz="2000" dirty="0"/>
              <a:t>，同时填充</a:t>
            </a:r>
            <a:r>
              <a:rPr lang="en-US" altLang="zh-CN" sz="2000" dirty="0"/>
              <a:t>content</a:t>
            </a:r>
          </a:p>
          <a:p>
            <a:pPr marL="0" indent="0">
              <a:buNone/>
            </a:pPr>
            <a:r>
              <a:rPr lang="en-US" altLang="zh-CN" sz="2000" dirty="0"/>
              <a:t>	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21068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131BF1-DA36-7452-4BA2-BD42FFA66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226" y="238991"/>
            <a:ext cx="10470573" cy="5937972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A809AED-9FC9-5612-CED7-9A8CE91FC802}"/>
              </a:ext>
            </a:extLst>
          </p:cNvPr>
          <p:cNvSpPr txBox="1">
            <a:spLocks/>
          </p:cNvSpPr>
          <p:nvPr/>
        </p:nvSpPr>
        <p:spPr>
          <a:xfrm>
            <a:off x="883226" y="1109445"/>
            <a:ext cx="10515600" cy="5067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/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将获得的 </a:t>
            </a:r>
            <a:r>
              <a:rPr lang="en-US" altLang="zh-CN" sz="2000" dirty="0"/>
              <a:t>module call graph</a:t>
            </a:r>
            <a:r>
              <a:rPr lang="zh-CN" altLang="en-US" sz="2000" dirty="0"/>
              <a:t>、</a:t>
            </a:r>
            <a:r>
              <a:rPr lang="en-US" altLang="zh-CN" sz="2000" dirty="0"/>
              <a:t>callee tree</a:t>
            </a:r>
            <a:r>
              <a:rPr lang="zh-CN" altLang="en-US" sz="2000" dirty="0"/>
              <a:t>、 </a:t>
            </a:r>
            <a:r>
              <a:rPr lang="en-US" altLang="zh-CN" sz="2000" dirty="0"/>
              <a:t>caller tree</a:t>
            </a:r>
            <a:r>
              <a:rPr lang="zh-CN" altLang="en-US" sz="2000" dirty="0"/>
              <a:t>以</a:t>
            </a:r>
            <a:r>
              <a:rPr lang="zh-CN" altLang="en-US" sz="2000" dirty="0">
                <a:solidFill>
                  <a:srgbClr val="00B0F0"/>
                </a:solidFill>
              </a:rPr>
              <a:t>如下格式</a:t>
            </a:r>
            <a:r>
              <a:rPr lang="zh-CN" altLang="en-US" sz="2000" dirty="0"/>
              <a:t>送入</a:t>
            </a:r>
            <a:r>
              <a:rPr lang="en-US" altLang="zh-CN" sz="2000" dirty="0" err="1"/>
              <a:t>llm</a:t>
            </a:r>
            <a:endParaRPr lang="en-US" altLang="zh-CN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/>
              <a:t>module/call tree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/>
              <a:t>-</a:t>
            </a:r>
            <a:r>
              <a:rPr lang="en-US" altLang="zh-CN" sz="2000" dirty="0" err="1"/>
              <a:t>qname</a:t>
            </a:r>
            <a:endParaRPr lang="en-US" altLang="zh-CN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/>
              <a:t>    -callee qname1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/>
              <a:t>	-callee qname12</a:t>
            </a:r>
          </a:p>
          <a:p>
            <a:pPr marL="0" indent="0">
              <a:buNone/>
            </a:pPr>
            <a:r>
              <a:rPr lang="en-US" altLang="zh-CN" sz="2000" dirty="0"/>
              <a:t>    -callee qname2</a:t>
            </a:r>
          </a:p>
          <a:p>
            <a:pPr marL="0" indent="0">
              <a:buNone/>
            </a:pPr>
            <a:r>
              <a:rPr lang="en-US" altLang="zh-CN" sz="2000" dirty="0"/>
              <a:t>    -……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tree node </a:t>
            </a:r>
            <a:r>
              <a:rPr lang="en-US" altLang="zh-CN" sz="2000" dirty="0" err="1"/>
              <a:t>qname</a:t>
            </a:r>
            <a:r>
              <a:rPr lang="en-US" altLang="zh-CN" sz="2000" dirty="0"/>
              <a:t> (</a:t>
            </a:r>
            <a:r>
              <a:rPr lang="zh-CN" altLang="en-US" sz="2000" dirty="0"/>
              <a:t>随便排列</a:t>
            </a:r>
            <a:r>
              <a:rPr lang="en-US" altLang="zh-CN" sz="2000" dirty="0"/>
              <a:t>)</a:t>
            </a:r>
          </a:p>
          <a:p>
            <a:pPr marL="0" indent="0">
              <a:buNone/>
            </a:pPr>
            <a:r>
              <a:rPr lang="en-US" altLang="zh-CN" sz="2000" dirty="0"/>
              <a:t>{function content}</a:t>
            </a:r>
          </a:p>
          <a:p>
            <a:pPr marL="0" indent="0"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87277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93B9A-7D5B-BFCC-C2C9-3C5F9BEF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重构</a:t>
            </a:r>
            <a:r>
              <a:rPr lang="en-US" altLang="zh-CN" dirty="0"/>
              <a:t>agent</a:t>
            </a:r>
            <a:r>
              <a:rPr lang="zh-CN" altLang="en-US" dirty="0"/>
              <a:t>部分代码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2CE7C-7A9A-6081-AF1F-08676D0E3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之前是一个单文件，现在拆成一个</a:t>
            </a:r>
            <a:r>
              <a:rPr lang="en-US" altLang="zh-CN" sz="2000" dirty="0"/>
              <a:t>project</a:t>
            </a:r>
          </a:p>
          <a:p>
            <a:pPr marL="0" indent="0">
              <a:buNone/>
            </a:pPr>
            <a:r>
              <a:rPr lang="zh-CN" altLang="en-US" sz="2000" dirty="0"/>
              <a:t>然后增加</a:t>
            </a:r>
            <a:r>
              <a:rPr lang="en-US" altLang="zh-CN" sz="2000" dirty="0"/>
              <a:t>log</a:t>
            </a:r>
            <a:r>
              <a:rPr lang="zh-CN" altLang="en-US" sz="2000" dirty="0"/>
              <a:t>模块、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修改优化</a:t>
            </a:r>
            <a:r>
              <a:rPr lang="en-US" altLang="zh-CN" sz="2000" dirty="0"/>
              <a:t>prompt</a:t>
            </a:r>
            <a:r>
              <a:rPr lang="zh-CN" altLang="en-US" sz="2000" dirty="0"/>
              <a:t>增加包含</a:t>
            </a:r>
            <a:r>
              <a:rPr lang="en-US" altLang="zh-CN" sz="2000" dirty="0"/>
              <a:t>call graph</a:t>
            </a:r>
            <a:r>
              <a:rPr lang="zh-CN" altLang="en-US" sz="2000" dirty="0"/>
              <a:t>的</a:t>
            </a:r>
            <a:r>
              <a:rPr lang="en-US" altLang="zh-CN" sz="2000" dirty="0"/>
              <a:t>prompt</a:t>
            </a:r>
          </a:p>
          <a:p>
            <a:pPr marL="0" indent="0">
              <a:buNone/>
            </a:pPr>
            <a:r>
              <a:rPr lang="zh-CN" altLang="en-US" sz="2000" dirty="0"/>
              <a:t>等</a:t>
            </a:r>
            <a:endParaRPr lang="en-US" altLang="zh-CN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423B14-15CC-B6B5-EAA9-DB6B4845D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590" y="0"/>
            <a:ext cx="6684840" cy="76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613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0532F-818C-E671-59BB-ACA8E8FC3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尝试效果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94FC96-7825-4589-597F-B98DEAABE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800" dirty="0"/>
              <a:t>爬</a:t>
            </a:r>
            <a:r>
              <a:rPr lang="zh-CN" altLang="en-US" sz="2000" dirty="0"/>
              <a:t>取</a:t>
            </a:r>
            <a:r>
              <a:rPr lang="en-US" altLang="zh-CN" sz="2000" dirty="0"/>
              <a:t>100</a:t>
            </a:r>
            <a:r>
              <a:rPr lang="zh-CN" altLang="en-US" sz="2000" dirty="0"/>
              <a:t>个</a:t>
            </a:r>
            <a:r>
              <a:rPr lang="en-US" altLang="zh-CN" sz="2000" dirty="0"/>
              <a:t>pr</a:t>
            </a:r>
            <a:r>
              <a:rPr lang="zh-CN" altLang="en-US" sz="2000" dirty="0"/>
              <a:t>，尝试接入</a:t>
            </a:r>
            <a:r>
              <a:rPr lang="en-US" altLang="zh-CN" sz="2000" dirty="0"/>
              <a:t>agent</a:t>
            </a:r>
            <a:r>
              <a:rPr lang="zh-CN" altLang="en-US" sz="2000" dirty="0"/>
              <a:t>处理，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获取了</a:t>
            </a:r>
            <a:r>
              <a:rPr lang="en-US" altLang="zh-CN" sz="2000" dirty="0"/>
              <a:t>33</a:t>
            </a:r>
            <a:r>
              <a:rPr lang="zh-CN" altLang="en-US" sz="2000" dirty="0"/>
              <a:t>个有效数据，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err="1"/>
              <a:t>Repo_analysis</a:t>
            </a:r>
            <a:r>
              <a:rPr lang="en-US" altLang="zh-CN" sz="2000" dirty="0"/>
              <a:t>  </a:t>
            </a:r>
            <a:r>
              <a:rPr lang="zh-CN" altLang="en-US" sz="2000" dirty="0"/>
              <a:t>设置</a:t>
            </a:r>
            <a:r>
              <a:rPr lang="en-US" altLang="zh-CN" dirty="0"/>
              <a:t> (</a:t>
            </a:r>
            <a:r>
              <a:rPr lang="en-US" altLang="zh-CN" dirty="0" err="1"/>
              <a:t>module_depth</a:t>
            </a:r>
            <a:r>
              <a:rPr lang="en-US" altLang="zh-CN" dirty="0"/>
              <a:t>=2,callee_func_depth=3,caller_func_depth=1)</a:t>
            </a:r>
          </a:p>
          <a:p>
            <a:pPr marL="0" indent="0">
              <a:buNone/>
            </a:pPr>
            <a:r>
              <a:rPr lang="zh-CN" altLang="en-US" sz="2000" dirty="0"/>
              <a:t>预处理了</a:t>
            </a:r>
            <a:r>
              <a:rPr lang="en-US" altLang="zh-CN" sz="2000" dirty="0"/>
              <a:t>40</a:t>
            </a:r>
            <a:r>
              <a:rPr lang="zh-CN" altLang="en-US" sz="2000" dirty="0"/>
              <a:t>分钟左右，做了一个缓存</a:t>
            </a:r>
            <a:br>
              <a:rPr lang="en-US" altLang="zh-CN" sz="2000" dirty="0"/>
            </a:b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用</a:t>
            </a:r>
            <a:r>
              <a:rPr lang="en-US" altLang="zh-CN" sz="2000" dirty="0"/>
              <a:t>bleu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crystalbleu</a:t>
            </a:r>
            <a:r>
              <a:rPr lang="en-US" altLang="zh-CN" sz="2000" dirty="0"/>
              <a:t> </a:t>
            </a:r>
            <a:r>
              <a:rPr lang="zh-CN" altLang="en-US" sz="2000" dirty="0"/>
              <a:t>评估时发现爬取的数据有问题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18507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2F6CE-AE57-9582-3748-BFDA1535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优化数据爬取流程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EB863-AADD-7219-B26E-D8E50C354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之前：</a:t>
            </a:r>
            <a:endParaRPr lang="en-US" altLang="zh-CN" dirty="0"/>
          </a:p>
          <a:p>
            <a:r>
              <a:rPr lang="zh-CN" altLang="en-US" sz="1800" dirty="0"/>
              <a:t>对一个</a:t>
            </a:r>
            <a:r>
              <a:rPr lang="en-US" altLang="zh-CN" sz="1800" dirty="0"/>
              <a:t>pr</a:t>
            </a:r>
          </a:p>
          <a:p>
            <a:r>
              <a:rPr lang="en-US" altLang="zh-CN" sz="1800" dirty="0"/>
              <a:t>- `</a:t>
            </a:r>
            <a:r>
              <a:rPr lang="en-US" altLang="zh-CN" sz="1800" dirty="0" err="1"/>
              <a:t>baseRefOid</a:t>
            </a:r>
            <a:r>
              <a:rPr lang="en-US" altLang="zh-CN" sz="1800" dirty="0"/>
              <a:t>` = base </a:t>
            </a:r>
            <a:r>
              <a:rPr lang="zh-CN" altLang="en-US" sz="1800" dirty="0"/>
              <a:t>分支当前最新 </a:t>
            </a:r>
            <a:r>
              <a:rPr lang="en-US" altLang="zh-CN" sz="1800" dirty="0"/>
              <a:t>commit SHA</a:t>
            </a:r>
          </a:p>
          <a:p>
            <a:r>
              <a:rPr lang="en-US" altLang="zh-CN" sz="1800" dirty="0"/>
              <a:t>- `</a:t>
            </a:r>
            <a:r>
              <a:rPr lang="en-US" altLang="zh-CN" sz="1800" dirty="0" err="1"/>
              <a:t>headRefOid</a:t>
            </a:r>
            <a:r>
              <a:rPr lang="en-US" altLang="zh-CN" sz="1800" dirty="0"/>
              <a:t>` = PR </a:t>
            </a:r>
            <a:r>
              <a:rPr lang="zh-CN" altLang="en-US" sz="1800" dirty="0"/>
              <a:t>作者分支的最新 </a:t>
            </a:r>
            <a:r>
              <a:rPr lang="en-US" altLang="zh-CN" sz="1800" dirty="0"/>
              <a:t>commit SHA</a:t>
            </a:r>
            <a:endParaRPr lang="zh-CN" altLang="en-US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46D03F-0610-0EE3-977B-5FB676937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2" y="3429000"/>
            <a:ext cx="5829300" cy="266561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F88341F-4387-0569-85B5-90636D5DA420}"/>
              </a:ext>
            </a:extLst>
          </p:cNvPr>
          <p:cNvSpPr txBox="1"/>
          <p:nvPr/>
        </p:nvSpPr>
        <p:spPr>
          <a:xfrm>
            <a:off x="7015016" y="2442647"/>
            <a:ext cx="51074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问题是</a:t>
            </a:r>
            <a:endParaRPr lang="en-US" altLang="zh-CN" dirty="0"/>
          </a:p>
          <a:p>
            <a:r>
              <a:rPr lang="en-US" altLang="zh-CN" dirty="0" err="1"/>
              <a:t>headRefOid</a:t>
            </a:r>
            <a:r>
              <a:rPr lang="zh-CN" altLang="en-US" dirty="0"/>
              <a:t>代表的就是最后多个</a:t>
            </a:r>
            <a:r>
              <a:rPr lang="en-US" altLang="zh-CN" dirty="0"/>
              <a:t>commit</a:t>
            </a:r>
            <a:r>
              <a:rPr lang="zh-CN" altLang="en-US" dirty="0"/>
              <a:t>后的状态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而且一个</a:t>
            </a:r>
            <a:r>
              <a:rPr lang="en-US" altLang="zh-CN" dirty="0"/>
              <a:t>pr</a:t>
            </a:r>
            <a:r>
              <a:rPr lang="zh-CN" altLang="en-US" dirty="0"/>
              <a:t>有很多个</a:t>
            </a:r>
            <a:r>
              <a:rPr lang="en-US" altLang="zh-CN" dirty="0"/>
              <a:t>commit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在其中某个</a:t>
            </a:r>
            <a:r>
              <a:rPr lang="en-US" altLang="zh-CN" dirty="0"/>
              <a:t>commit</a:t>
            </a:r>
            <a:r>
              <a:rPr lang="zh-CN" altLang="en-US" dirty="0"/>
              <a:t>上可能有多个</a:t>
            </a:r>
            <a:r>
              <a:rPr lang="en-US" altLang="zh-CN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753149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7F8CDB6-EF4A-5892-AC52-59127B426186}"/>
              </a:ext>
            </a:extLst>
          </p:cNvPr>
          <p:cNvSpPr/>
          <p:nvPr/>
        </p:nvSpPr>
        <p:spPr>
          <a:xfrm>
            <a:off x="507423" y="3801197"/>
            <a:ext cx="4582391" cy="96916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D5EC25A-D3C5-8C48-2607-A42AB3124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数据爬取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798EFE-D5D0-8000-34B0-5E2E146D0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741704"/>
            <a:ext cx="10515600" cy="4351338"/>
          </a:xfrm>
        </p:spPr>
        <p:txBody>
          <a:bodyPr/>
          <a:lstStyle/>
          <a:p>
            <a:r>
              <a:rPr lang="zh-CN" altLang="en-US" dirty="0"/>
              <a:t>现在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FA1AF83-7C26-E12A-6847-6330EA1C1C28}"/>
              </a:ext>
            </a:extLst>
          </p:cNvPr>
          <p:cNvSpPr/>
          <p:nvPr/>
        </p:nvSpPr>
        <p:spPr>
          <a:xfrm>
            <a:off x="355022" y="2722418"/>
            <a:ext cx="966356" cy="706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main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4EB8FDF-6786-0260-1EF3-9BE82B24E772}"/>
              </a:ext>
            </a:extLst>
          </p:cNvPr>
          <p:cNvSpPr/>
          <p:nvPr/>
        </p:nvSpPr>
        <p:spPr>
          <a:xfrm>
            <a:off x="2180360" y="2722418"/>
            <a:ext cx="803564" cy="706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B6B64AD-649A-B788-647A-293584F36B18}"/>
              </a:ext>
            </a:extLst>
          </p:cNvPr>
          <p:cNvCxnSpPr/>
          <p:nvPr/>
        </p:nvCxnSpPr>
        <p:spPr>
          <a:xfrm>
            <a:off x="1425286" y="3075709"/>
            <a:ext cx="6442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F1E6379-9B64-B781-FE85-E983D4145AFC}"/>
              </a:ext>
            </a:extLst>
          </p:cNvPr>
          <p:cNvSpPr/>
          <p:nvPr/>
        </p:nvSpPr>
        <p:spPr>
          <a:xfrm>
            <a:off x="988868" y="3852213"/>
            <a:ext cx="1080654" cy="706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commit1</a:t>
            </a:r>
            <a:endParaRPr lang="zh-CN" altLang="en-US" sz="11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21EA98E-91BB-AD63-92B7-49F3B79F7D73}"/>
              </a:ext>
            </a:extLst>
          </p:cNvPr>
          <p:cNvSpPr/>
          <p:nvPr/>
        </p:nvSpPr>
        <p:spPr>
          <a:xfrm>
            <a:off x="2332760" y="3852213"/>
            <a:ext cx="803564" cy="706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AD11A37-7B94-EB1E-CB0E-3DC94367587B}"/>
              </a:ext>
            </a:extLst>
          </p:cNvPr>
          <p:cNvSpPr/>
          <p:nvPr/>
        </p:nvSpPr>
        <p:spPr>
          <a:xfrm>
            <a:off x="3600451" y="3852213"/>
            <a:ext cx="803564" cy="706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D9855F4-5292-64BE-D089-9C16D55F8BC5}"/>
              </a:ext>
            </a:extLst>
          </p:cNvPr>
          <p:cNvCxnSpPr>
            <a:endCxn id="8" idx="1"/>
          </p:cNvCxnSpPr>
          <p:nvPr/>
        </p:nvCxnSpPr>
        <p:spPr>
          <a:xfrm>
            <a:off x="988868" y="3532909"/>
            <a:ext cx="158258" cy="422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239CC4A-337C-E814-D84F-6E83ED77F2CF}"/>
              </a:ext>
            </a:extLst>
          </p:cNvPr>
          <p:cNvCxnSpPr>
            <a:endCxn id="9" idx="2"/>
          </p:cNvCxnSpPr>
          <p:nvPr/>
        </p:nvCxnSpPr>
        <p:spPr>
          <a:xfrm>
            <a:off x="2180360" y="4205504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F552F61-D70B-E61E-A2CD-FA09674D3C25}"/>
              </a:ext>
            </a:extLst>
          </p:cNvPr>
          <p:cNvCxnSpPr>
            <a:endCxn id="10" idx="2"/>
          </p:cNvCxnSpPr>
          <p:nvPr/>
        </p:nvCxnSpPr>
        <p:spPr>
          <a:xfrm>
            <a:off x="3264477" y="4205504"/>
            <a:ext cx="335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B101972-F8D9-6CCB-D7C0-6832A3EB74DA}"/>
              </a:ext>
            </a:extLst>
          </p:cNvPr>
          <p:cNvSpPr txBox="1"/>
          <p:nvPr/>
        </p:nvSpPr>
        <p:spPr>
          <a:xfrm>
            <a:off x="544516" y="4143221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</a:t>
            </a:r>
            <a:endParaRPr lang="zh-CN" altLang="en-US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506A3ED-44A2-B308-753B-A3F3EEB10B66}"/>
              </a:ext>
            </a:extLst>
          </p:cNvPr>
          <p:cNvCxnSpPr/>
          <p:nvPr/>
        </p:nvCxnSpPr>
        <p:spPr>
          <a:xfrm flipV="1">
            <a:off x="4062845" y="4512553"/>
            <a:ext cx="0" cy="724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931E8725-1830-7D47-DB11-10269BCF08B1}"/>
              </a:ext>
            </a:extLst>
          </p:cNvPr>
          <p:cNvSpPr/>
          <p:nvPr/>
        </p:nvSpPr>
        <p:spPr>
          <a:xfrm>
            <a:off x="2878281" y="5257660"/>
            <a:ext cx="290354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PR. </a:t>
            </a:r>
            <a:r>
              <a:rPr lang="en-US" altLang="zh-CN" sz="2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headRefOid</a:t>
            </a:r>
            <a:endParaRPr lang="zh-CN" alt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FDA35C7-D1C7-F486-4D0F-38B5E40B2560}"/>
              </a:ext>
            </a:extLst>
          </p:cNvPr>
          <p:cNvSpPr/>
          <p:nvPr/>
        </p:nvSpPr>
        <p:spPr>
          <a:xfrm>
            <a:off x="2514602" y="1947151"/>
            <a:ext cx="290354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PR. </a:t>
            </a:r>
            <a:r>
              <a:rPr lang="en-US" altLang="zh-CN" sz="2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baseRefOid</a:t>
            </a:r>
            <a:endParaRPr lang="zh-CN" alt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1498C5B-C838-2017-3F23-232D9FF1F87C}"/>
              </a:ext>
            </a:extLst>
          </p:cNvPr>
          <p:cNvCxnSpPr/>
          <p:nvPr/>
        </p:nvCxnSpPr>
        <p:spPr>
          <a:xfrm flipH="1">
            <a:off x="2878281" y="2408816"/>
            <a:ext cx="258043" cy="313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BA82DEB-5D79-70A4-6614-AB2267200659}"/>
              </a:ext>
            </a:extLst>
          </p:cNvPr>
          <p:cNvCxnSpPr/>
          <p:nvPr/>
        </p:nvCxnSpPr>
        <p:spPr>
          <a:xfrm flipH="1">
            <a:off x="4769427" y="3075709"/>
            <a:ext cx="1932709" cy="976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C9224E76-1658-3BEE-CEA7-3A694F8207FD}"/>
              </a:ext>
            </a:extLst>
          </p:cNvPr>
          <p:cNvSpPr txBox="1"/>
          <p:nvPr/>
        </p:nvSpPr>
        <p:spPr>
          <a:xfrm>
            <a:off x="5874473" y="1188566"/>
            <a:ext cx="751940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对于一个</a:t>
            </a:r>
            <a:r>
              <a:rPr lang="en-US" altLang="zh-CN" dirty="0"/>
              <a:t>pr</a:t>
            </a:r>
            <a:r>
              <a:rPr lang="zh-CN" altLang="en-US" dirty="0"/>
              <a:t>，获取其</a:t>
            </a:r>
            <a:r>
              <a:rPr lang="en-US" altLang="zh-CN" dirty="0" err="1"/>
              <a:t>reviewThreads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其中每个</a:t>
            </a:r>
            <a:r>
              <a:rPr lang="en-US" altLang="zh-CN" dirty="0">
                <a:solidFill>
                  <a:srgbClr val="FF0000"/>
                </a:solidFill>
              </a:rPr>
              <a:t>review comment</a:t>
            </a:r>
          </a:p>
          <a:p>
            <a:r>
              <a:rPr lang="zh-CN" altLang="en-US" dirty="0"/>
              <a:t>会有</a:t>
            </a:r>
            <a:endParaRPr lang="en-US" altLang="zh-CN" dirty="0"/>
          </a:p>
          <a:p>
            <a:r>
              <a:rPr lang="en-US" altLang="zh-CN" dirty="0"/>
              <a:t>"commit": { "</a:t>
            </a:r>
            <a:r>
              <a:rPr lang="en-US" altLang="zh-CN" dirty="0" err="1"/>
              <a:t>oid</a:t>
            </a:r>
            <a:r>
              <a:rPr lang="en-US" altLang="zh-CN" dirty="0"/>
              <a:t>": "</a:t>
            </a:r>
            <a:r>
              <a:rPr lang="en-US" altLang="zh-CN" dirty="0" err="1"/>
              <a:t>commit_C_sha</a:t>
            </a:r>
            <a:r>
              <a:rPr lang="en-US" altLang="zh-CN" dirty="0"/>
              <a:t>" },        // </a:t>
            </a:r>
            <a:r>
              <a:rPr lang="zh-CN" altLang="en-US" dirty="0"/>
              <a:t>重新定位到最新</a:t>
            </a:r>
            <a:r>
              <a:rPr lang="en-US" altLang="zh-CN" dirty="0"/>
              <a:t>commit</a:t>
            </a:r>
          </a:p>
          <a:p>
            <a:r>
              <a:rPr lang="en-US" altLang="zh-CN" dirty="0"/>
              <a:t>  "</a:t>
            </a:r>
            <a:r>
              <a:rPr lang="en-US" altLang="zh-CN" dirty="0" err="1">
                <a:solidFill>
                  <a:srgbClr val="FF0000"/>
                </a:solidFill>
              </a:rPr>
              <a:t>originalCommit</a:t>
            </a:r>
            <a:r>
              <a:rPr lang="en-US" altLang="zh-CN" dirty="0"/>
              <a:t>": { "</a:t>
            </a:r>
            <a:r>
              <a:rPr lang="en-US" altLang="zh-CN" dirty="0" err="1"/>
              <a:t>oid</a:t>
            </a:r>
            <a:r>
              <a:rPr lang="en-US" altLang="zh-CN" dirty="0"/>
              <a:t>": "</a:t>
            </a:r>
            <a:r>
              <a:rPr lang="en-US" altLang="zh-CN" dirty="0" err="1"/>
              <a:t>commit_A_sha</a:t>
            </a:r>
            <a:r>
              <a:rPr lang="en-US" altLang="zh-CN" dirty="0"/>
              <a:t>" }, // </a:t>
            </a:r>
            <a:r>
              <a:rPr lang="zh-CN" altLang="en-US" dirty="0"/>
              <a:t>仍然是最初的</a:t>
            </a:r>
            <a:r>
              <a:rPr lang="en-US" altLang="zh-CN" dirty="0"/>
              <a:t>commit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originalCommit.oid</a:t>
            </a:r>
            <a:r>
              <a:rPr lang="zh-CN" altLang="en-US" dirty="0"/>
              <a:t>是最初的，</a:t>
            </a:r>
            <a:r>
              <a:rPr lang="en-US" altLang="zh-CN" dirty="0"/>
              <a:t> commit</a:t>
            </a:r>
            <a:r>
              <a:rPr lang="zh-CN" altLang="en-US" dirty="0"/>
              <a:t>指向最新的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但是这个可能是</a:t>
            </a:r>
            <a:r>
              <a:rPr lang="en-US" altLang="zh-CN" dirty="0"/>
              <a:t>null</a:t>
            </a:r>
            <a:r>
              <a:rPr lang="zh-CN" altLang="en-US" dirty="0"/>
              <a:t>，所以就只过滤这个值不是</a:t>
            </a:r>
            <a:r>
              <a:rPr lang="en-US" altLang="zh-CN" dirty="0"/>
              <a:t>null</a:t>
            </a:r>
            <a:r>
              <a:rPr lang="zh-CN" altLang="en-US" dirty="0"/>
              <a:t>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后面用</a:t>
            </a:r>
            <a:r>
              <a:rPr lang="en-US" altLang="zh-CN" dirty="0" err="1"/>
              <a:t>originalCommit</a:t>
            </a:r>
            <a:r>
              <a:rPr lang="zh-CN" altLang="en-US" dirty="0"/>
              <a:t>对应的</a:t>
            </a:r>
            <a:r>
              <a:rPr lang="en-US" altLang="zh-CN" dirty="0"/>
              <a:t>repo</a:t>
            </a:r>
            <a:r>
              <a:rPr lang="zh-CN" altLang="en-US" dirty="0"/>
              <a:t>做</a:t>
            </a:r>
            <a:r>
              <a:rPr lang="en-US" altLang="zh-CN" dirty="0" err="1"/>
              <a:t>diffHunk</a:t>
            </a:r>
            <a:r>
              <a:rPr lang="zh-CN" altLang="en-US" dirty="0"/>
              <a:t>的对应</a:t>
            </a:r>
            <a:r>
              <a:rPr lang="en-US" altLang="zh-CN" dirty="0">
                <a:solidFill>
                  <a:srgbClr val="FF0000"/>
                </a:solidFill>
              </a:rPr>
              <a:t>call graph</a:t>
            </a:r>
            <a:r>
              <a:rPr lang="zh-CN" altLang="en-US" dirty="0"/>
              <a:t>构建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然后用</a:t>
            </a:r>
            <a:r>
              <a:rPr lang="en-US" altLang="zh-CN" dirty="0" err="1"/>
              <a:t>PR.headRefoid</a:t>
            </a:r>
            <a:r>
              <a:rPr lang="zh-CN" altLang="en-US" dirty="0"/>
              <a:t>对应的相同</a:t>
            </a:r>
            <a:r>
              <a:rPr lang="en-US" altLang="zh-CN" dirty="0"/>
              <a:t>path</a:t>
            </a:r>
            <a:r>
              <a:rPr lang="zh-CN" altLang="en-US" dirty="0"/>
              <a:t>的</a:t>
            </a:r>
            <a:r>
              <a:rPr lang="en-US" altLang="zh-CN" dirty="0"/>
              <a:t>file</a:t>
            </a:r>
            <a:r>
              <a:rPr lang="zh-CN" altLang="en-US" dirty="0"/>
              <a:t>，做</a:t>
            </a:r>
            <a:r>
              <a:rPr lang="zh-CN" altLang="en-US" dirty="0">
                <a:solidFill>
                  <a:srgbClr val="FF0000"/>
                </a:solidFill>
              </a:rPr>
              <a:t>函数名称</a:t>
            </a:r>
            <a:r>
              <a:rPr lang="zh-CN" altLang="en-US" dirty="0"/>
              <a:t>匹配，从而获取对应的</a:t>
            </a:r>
            <a:r>
              <a:rPr lang="en-US" altLang="zh-CN" dirty="0" err="1">
                <a:solidFill>
                  <a:srgbClr val="FF0000"/>
                </a:solidFill>
              </a:rPr>
              <a:t>revised_code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A488F89-6009-D1CB-FFA5-117BE1BB41F6}"/>
              </a:ext>
            </a:extLst>
          </p:cNvPr>
          <p:cNvSpPr/>
          <p:nvPr/>
        </p:nvSpPr>
        <p:spPr>
          <a:xfrm>
            <a:off x="1219632" y="5302177"/>
            <a:ext cx="1384589" cy="298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Review comment</a:t>
            </a:r>
            <a:endParaRPr lang="zh-CN" altLang="en-US" sz="12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619BE6-6B4E-2733-FA81-97FF76E02BA6}"/>
              </a:ext>
            </a:extLst>
          </p:cNvPr>
          <p:cNvSpPr txBox="1"/>
          <p:nvPr/>
        </p:nvSpPr>
        <p:spPr>
          <a:xfrm>
            <a:off x="161060" y="5768831"/>
            <a:ext cx="18339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commit1</a:t>
            </a:r>
          </a:p>
          <a:p>
            <a:r>
              <a:rPr lang="en-US" altLang="zh-CN" dirty="0"/>
              <a:t>originalCommit1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5E6CFA2-F141-1216-C616-9DED503E199D}"/>
              </a:ext>
            </a:extLst>
          </p:cNvPr>
          <p:cNvSpPr txBox="1"/>
          <p:nvPr/>
        </p:nvSpPr>
        <p:spPr>
          <a:xfrm>
            <a:off x="1995055" y="5729140"/>
            <a:ext cx="18339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commit2</a:t>
            </a:r>
          </a:p>
          <a:p>
            <a:r>
              <a:rPr lang="en-US" altLang="zh-CN" dirty="0"/>
              <a:t>originalCommit1</a:t>
            </a:r>
          </a:p>
        </p:txBody>
      </p:sp>
    </p:spTree>
    <p:extLst>
      <p:ext uri="{BB962C8B-B14F-4D97-AF65-F5344CB8AC3E}">
        <p14:creationId xmlns:p14="http://schemas.microsoft.com/office/powerpoint/2010/main" val="663669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BF2858-2578-C2AD-1ABD-0237E5FAE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755361"/>
            <a:ext cx="10515600" cy="22933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/>
              <a:t>2.</a:t>
            </a:r>
          </a:p>
          <a:p>
            <a:pPr marL="0" indent="0">
              <a:buNone/>
            </a:pPr>
            <a:r>
              <a:rPr lang="en-US" altLang="zh-CN" sz="2000" dirty="0" err="1"/>
              <a:t>graphql</a:t>
            </a:r>
            <a:r>
              <a:rPr lang="zh-CN" altLang="en-US" sz="2000" dirty="0"/>
              <a:t>请求得到的</a:t>
            </a:r>
            <a:r>
              <a:rPr lang="en-US" altLang="zh-CN" sz="2000" dirty="0" err="1"/>
              <a:t>reviewThread</a:t>
            </a:r>
            <a:r>
              <a:rPr lang="zh-CN" altLang="en-US" sz="2000" dirty="0"/>
              <a:t>里的</a:t>
            </a:r>
            <a:r>
              <a:rPr lang="en-US" altLang="zh-CN" sz="2000" dirty="0"/>
              <a:t>review comment</a:t>
            </a:r>
            <a:r>
              <a:rPr lang="zh-CN" altLang="en-US" sz="2000" dirty="0"/>
              <a:t>对应的</a:t>
            </a:r>
            <a:r>
              <a:rPr lang="en-US" altLang="zh-CN" sz="2000" dirty="0" err="1"/>
              <a:t>diffHunk</a:t>
            </a:r>
            <a:r>
              <a:rPr lang="zh-CN" altLang="en-US" sz="2000" dirty="0"/>
              <a:t>是截断的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对于该</a:t>
            </a:r>
            <a:r>
              <a:rPr lang="en-US" altLang="zh-CN" sz="2000" dirty="0"/>
              <a:t>review comment</a:t>
            </a:r>
            <a:r>
              <a:rPr lang="zh-CN" altLang="en-US" sz="2000" dirty="0"/>
              <a:t>的</a:t>
            </a:r>
            <a:r>
              <a:rPr lang="en-US" altLang="zh-CN" sz="2000" dirty="0" err="1"/>
              <a:t>originalCommit</a:t>
            </a:r>
            <a:r>
              <a:rPr lang="zh-CN" altLang="en-US" sz="2000" dirty="0"/>
              <a:t>，获取其父</a:t>
            </a:r>
            <a:r>
              <a:rPr lang="en-US" altLang="zh-CN" sz="2000" dirty="0"/>
              <a:t>commit</a:t>
            </a:r>
            <a:r>
              <a:rPr lang="zh-CN" altLang="en-US" sz="2000" dirty="0"/>
              <a:t>，从而得到一整个</a:t>
            </a:r>
            <a:r>
              <a:rPr lang="en-US" altLang="zh-CN" sz="2000" dirty="0"/>
              <a:t>diff</a:t>
            </a:r>
            <a:r>
              <a:rPr lang="zh-CN" altLang="en-US" sz="2000" dirty="0"/>
              <a:t>文件。将</a:t>
            </a:r>
            <a:r>
              <a:rPr lang="en-US" altLang="zh-CN" sz="2000" dirty="0" err="1"/>
              <a:t>diffHunk</a:t>
            </a:r>
            <a:r>
              <a:rPr lang="zh-CN" altLang="en-US" sz="2000" dirty="0"/>
              <a:t>在这个文件中搜索，并拓展以</a:t>
            </a:r>
            <a:r>
              <a:rPr lang="en-US" altLang="zh-CN" sz="2000" dirty="0"/>
              <a:t>’-’’+’</a:t>
            </a:r>
            <a:r>
              <a:rPr lang="zh-CN" altLang="en-US" sz="2000" dirty="0"/>
              <a:t>开头的行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但是可能会因为没有父</a:t>
            </a:r>
            <a:r>
              <a:rPr lang="en-US" altLang="zh-CN" sz="2000" dirty="0"/>
              <a:t>commit</a:t>
            </a:r>
            <a:r>
              <a:rPr lang="zh-CN" altLang="en-US" sz="2000" dirty="0"/>
              <a:t>导致无法拓展。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36C799-FF61-132D-F6DF-31F38DC0D762}"/>
              </a:ext>
            </a:extLst>
          </p:cNvPr>
          <p:cNvSpPr txBox="1"/>
          <p:nvPr/>
        </p:nvSpPr>
        <p:spPr>
          <a:xfrm>
            <a:off x="5166879" y="3048724"/>
            <a:ext cx="6094268" cy="358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D1D3DB"/>
                </a:solidFill>
                <a:effectLst/>
                <a:latin typeface="JetBrains Mono"/>
              </a:rPr>
              <a:t>    </a:t>
            </a: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"comments": [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      {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        "</a:t>
            </a:r>
            <a:r>
              <a:rPr lang="en-US" altLang="zh-CN" b="0" dirty="0" err="1">
                <a:solidFill>
                  <a:srgbClr val="00B0F0"/>
                </a:solidFill>
                <a:effectLst/>
                <a:latin typeface="JetBrains Mono"/>
              </a:rPr>
              <a:t>comment_id</a:t>
            </a: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": "MDI0OlB1bGxSZXF1ZXN0UmV2aWV3Q29tbWVudDEwMTg1MjcwMg==",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        "text": "How about this:\</a:t>
            </a:r>
            <a:r>
              <a:rPr lang="en-US" altLang="zh-CN" b="0" dirty="0" err="1">
                <a:solidFill>
                  <a:srgbClr val="00B0F0"/>
                </a:solidFill>
                <a:effectLst/>
                <a:latin typeface="JetBrains Mono"/>
              </a:rPr>
              <a:t>nbuf.mul</a:t>
            </a: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_(momentum).add_(1 - dampening, </a:t>
            </a:r>
            <a:r>
              <a:rPr lang="en-US" altLang="zh-CN" b="0" dirty="0" err="1">
                <a:solidFill>
                  <a:srgbClr val="00B0F0"/>
                </a:solidFill>
                <a:effectLst/>
                <a:latin typeface="JetBrains Mono"/>
              </a:rPr>
              <a:t>d_p</a:t>
            </a: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)\</a:t>
            </a:r>
            <a:r>
              <a:rPr lang="en-US" altLang="zh-CN" b="0" dirty="0" err="1">
                <a:solidFill>
                  <a:srgbClr val="00B0F0"/>
                </a:solidFill>
                <a:effectLst/>
                <a:latin typeface="JetBrains Mono"/>
              </a:rPr>
              <a:t>nif</a:t>
            </a: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 </a:t>
            </a:r>
            <a:r>
              <a:rPr lang="en-US" altLang="zh-CN" b="0" dirty="0" err="1">
                <a:solidFill>
                  <a:srgbClr val="00B0F0"/>
                </a:solidFill>
                <a:effectLst/>
                <a:latin typeface="JetBrains Mono"/>
              </a:rPr>
              <a:t>nesterov</a:t>
            </a: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:\n    </a:t>
            </a:r>
            <a:r>
              <a:rPr lang="en-US" altLang="zh-CN" b="0" dirty="0" err="1">
                <a:solidFill>
                  <a:srgbClr val="00B0F0"/>
                </a:solidFill>
                <a:effectLst/>
                <a:latin typeface="JetBrains Mono"/>
              </a:rPr>
              <a:t>d_p.add</a:t>
            </a: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_(momentum, </a:t>
            </a:r>
            <a:r>
              <a:rPr lang="en-US" altLang="zh-CN" b="0" dirty="0" err="1">
                <a:solidFill>
                  <a:srgbClr val="00B0F0"/>
                </a:solidFill>
                <a:effectLst/>
                <a:latin typeface="JetBrains Mono"/>
              </a:rPr>
              <a:t>buf</a:t>
            </a: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)\</a:t>
            </a:r>
            <a:r>
              <a:rPr lang="en-US" altLang="zh-CN" b="0" dirty="0" err="1">
                <a:solidFill>
                  <a:srgbClr val="00B0F0"/>
                </a:solidFill>
                <a:effectLst/>
                <a:latin typeface="JetBrains Mono"/>
              </a:rPr>
              <a:t>nelse</a:t>
            </a: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:\n    </a:t>
            </a:r>
            <a:r>
              <a:rPr lang="en-US" altLang="zh-CN" b="0" dirty="0" err="1">
                <a:solidFill>
                  <a:srgbClr val="00B0F0"/>
                </a:solidFill>
                <a:effectLst/>
                <a:latin typeface="JetBrains Mono"/>
              </a:rPr>
              <a:t>d_p</a:t>
            </a: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 = </a:t>
            </a:r>
            <a:r>
              <a:rPr lang="en-US" altLang="zh-CN" b="0" dirty="0" err="1">
                <a:solidFill>
                  <a:srgbClr val="00B0F0"/>
                </a:solidFill>
                <a:effectLst/>
                <a:latin typeface="JetBrains Mono"/>
              </a:rPr>
              <a:t>buf</a:t>
            </a: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"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      },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      {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        "</a:t>
            </a:r>
            <a:r>
              <a:rPr lang="en-US" altLang="zh-CN" b="0" dirty="0" err="1">
                <a:solidFill>
                  <a:srgbClr val="00B0F0"/>
                </a:solidFill>
                <a:effectLst/>
                <a:latin typeface="JetBrains Mono"/>
              </a:rPr>
              <a:t>comment_id</a:t>
            </a: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": "MDI0OlB1bGxSZXF1ZXN0UmV2aWV3Q29tbWVudDEwMTkwNTkzMg==",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        "text": "Looks good, I'll change it to this."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      }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0B0F0"/>
                </a:solidFill>
                <a:effectLst/>
                <a:latin typeface="JetBrains Mono"/>
              </a:rPr>
              <a:t>    ],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431AB7-071B-C94E-D5D5-51D0B6154BBB}"/>
              </a:ext>
            </a:extLst>
          </p:cNvPr>
          <p:cNvSpPr txBox="1"/>
          <p:nvPr/>
        </p:nvSpPr>
        <p:spPr>
          <a:xfrm>
            <a:off x="646835" y="3975252"/>
            <a:ext cx="43615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800" dirty="0"/>
              <a:t>3.</a:t>
            </a:r>
          </a:p>
          <a:p>
            <a:pPr marL="0" indent="0">
              <a:buNone/>
            </a:pPr>
            <a:r>
              <a:rPr lang="zh-CN" altLang="en-US" sz="1800" dirty="0"/>
              <a:t>一个</a:t>
            </a:r>
            <a:r>
              <a:rPr lang="en-US" altLang="zh-CN" sz="1800" dirty="0" err="1"/>
              <a:t>diffHunk</a:t>
            </a:r>
            <a:r>
              <a:rPr lang="zh-CN" altLang="en-US" sz="1800" dirty="0"/>
              <a:t>可能有来自</a:t>
            </a:r>
            <a:r>
              <a:rPr lang="en-US" altLang="zh-CN" sz="1800" dirty="0"/>
              <a:t>developer</a:t>
            </a:r>
            <a:r>
              <a:rPr lang="zh-CN" altLang="en-US" sz="1800" dirty="0"/>
              <a:t>和</a:t>
            </a:r>
            <a:r>
              <a:rPr lang="en-US" altLang="zh-CN" sz="1800" dirty="0"/>
              <a:t>reviewer</a:t>
            </a:r>
            <a:r>
              <a:rPr lang="zh-CN" altLang="en-US" sz="1800" dirty="0"/>
              <a:t>的多轮</a:t>
            </a:r>
            <a:r>
              <a:rPr lang="en-US" altLang="zh-CN" sz="1800" dirty="0"/>
              <a:t>review comment</a:t>
            </a:r>
            <a:r>
              <a:rPr lang="zh-CN" altLang="en-US" sz="1800" dirty="0"/>
              <a:t>，这把那个作为最终的答案呢？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目前是暂时先合并这个</a:t>
            </a:r>
            <a:r>
              <a:rPr lang="en-US" altLang="zh-CN" sz="1800" dirty="0"/>
              <a:t>review comment</a:t>
            </a:r>
            <a:r>
              <a:rPr lang="zh-CN" altLang="en-US" sz="1800" dirty="0"/>
              <a:t>，一起作为答案。</a:t>
            </a:r>
            <a:endParaRPr lang="en-US" altLang="zh-CN" sz="18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zh-CN" altLang="en-US" dirty="0"/>
              <a:t>多轮次是由于幻觉？</a:t>
            </a:r>
            <a:r>
              <a:rPr lang="en-US" altLang="zh-CN" dirty="0"/>
              <a:t>Agent</a:t>
            </a:r>
            <a:r>
              <a:rPr lang="zh-CN" altLang="en-US" dirty="0"/>
              <a:t>的多轮次就是为了减少这种幻觉？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459677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38C845A-8C6D-7C02-4533-B0BEBA242C89}"/>
              </a:ext>
            </a:extLst>
          </p:cNvPr>
          <p:cNvSpPr/>
          <p:nvPr/>
        </p:nvSpPr>
        <p:spPr>
          <a:xfrm>
            <a:off x="405245" y="4286458"/>
            <a:ext cx="10349346" cy="24183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4FA510-08B0-BE47-31EC-35A7A9660831}"/>
              </a:ext>
            </a:extLst>
          </p:cNvPr>
          <p:cNvSpPr/>
          <p:nvPr/>
        </p:nvSpPr>
        <p:spPr>
          <a:xfrm>
            <a:off x="405245" y="1478755"/>
            <a:ext cx="10349346" cy="24183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BAD5355-D61F-9A93-14B3-668F6D455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r>
              <a:rPr lang="zh-CN" altLang="en-US" dirty="0"/>
              <a:t>效果</a:t>
            </a:r>
            <a:r>
              <a:rPr lang="en-US" altLang="zh-CN" dirty="0"/>
              <a:t>Case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EF13BF-E005-FE06-71B6-6FEADBEEC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2218"/>
            <a:ext cx="10515600" cy="5054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dirty="0"/>
              <a:t>目前经过处理的</a:t>
            </a:r>
            <a:r>
              <a:rPr lang="en-US" altLang="zh-CN" sz="1800" dirty="0"/>
              <a:t>95</a:t>
            </a:r>
            <a:r>
              <a:rPr lang="zh-CN" altLang="en-US" sz="1800" dirty="0"/>
              <a:t>条数据质量依旧堪忧，看了</a:t>
            </a:r>
            <a:r>
              <a:rPr lang="en-US" altLang="zh-CN" sz="1800" dirty="0"/>
              <a:t>7</a:t>
            </a:r>
            <a:r>
              <a:rPr lang="zh-CN" altLang="en-US" sz="1800" dirty="0"/>
              <a:t>、</a:t>
            </a:r>
            <a:r>
              <a:rPr lang="en-US" altLang="zh-CN" sz="1800" dirty="0"/>
              <a:t>8</a:t>
            </a:r>
            <a:r>
              <a:rPr lang="zh-CN" altLang="en-US" sz="1800" dirty="0"/>
              <a:t>个数据后才发现一条正常数据，但是解决的问题比较</a:t>
            </a:r>
            <a:r>
              <a:rPr lang="en-US" altLang="zh-CN" sz="1800" dirty="0"/>
              <a:t>easy</a:t>
            </a:r>
            <a:endParaRPr lang="zh-CN" altLang="en-US" sz="1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62C25E-3F43-1A7A-7B57-7104540A9097}"/>
              </a:ext>
            </a:extLst>
          </p:cNvPr>
          <p:cNvSpPr txBox="1"/>
          <p:nvPr/>
        </p:nvSpPr>
        <p:spPr>
          <a:xfrm>
            <a:off x="678007" y="1556371"/>
            <a:ext cx="95570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@@ -1151,17 +1152,21 @@ </a:t>
            </a:r>
            <a:r>
              <a:rPr lang="zh-CN" altLang="en-US" dirty="0">
                <a:solidFill>
                  <a:srgbClr val="00B050"/>
                </a:solidFill>
              </a:rPr>
              <a:t>def compare_cpu_gpu(outputs_cpu, outputs_gpu):</a:t>
            </a:r>
          </a:p>
          <a:p>
            <a:r>
              <a:rPr lang="zh-CN" altLang="en-US" dirty="0"/>
              <a:t>             # check grad weights separately, as nested dict</a:t>
            </a:r>
          </a:p>
          <a:p>
            <a:r>
              <a:rPr lang="zh-CN" altLang="en-US" dirty="0"/>
              <a:t>             for cpu_layer_weight, gpu_layer_weight in zip(outputs_cpu['weights'], outputs_gpu['weights']):</a:t>
            </a:r>
          </a:p>
          <a:p>
            <a:r>
              <a:rPr lang="zh-CN" altLang="en-US" dirty="0"/>
              <a:t>                 for (cpu_weight, gpu_weight) in zip(cpu_layer_weight, gpu_layer_weight):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-                    self.assertEqual(cpu_weight.grad.data, gpu_weight.grad.data, prec=5e-5)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+                    if cpu_weight is not None and gpu_weight is not None: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+                        self.assertEqual(cpu_weight.grad.data, gpu_weight.grad.data, prec=5e-5)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3E37F4-6C5E-37F8-B533-35AD88BB4EAE}"/>
              </a:ext>
            </a:extLst>
          </p:cNvPr>
          <p:cNvSpPr txBox="1"/>
          <p:nvPr/>
        </p:nvSpPr>
        <p:spPr>
          <a:xfrm>
            <a:off x="2111953" y="3897105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 Else, can you please assert that they're both Nones?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8C959F-C03D-7343-7A25-2B89E8A7BA5F}"/>
              </a:ext>
            </a:extLst>
          </p:cNvPr>
          <p:cNvSpPr txBox="1"/>
          <p:nvPr/>
        </p:nvSpPr>
        <p:spPr>
          <a:xfrm>
            <a:off x="955963" y="4302792"/>
            <a:ext cx="97986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def compare_cpu_gpu(outputs_cpu, outputs_gpu):</a:t>
            </a:r>
          </a:p>
          <a:p>
            <a:r>
              <a:rPr lang="en-US" altLang="zh-CN" dirty="0"/>
              <a:t>	……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for (cpu_weight, gpu_weight) in zip(cpu_layer_weight, gpu_layer_weight):</a:t>
            </a:r>
          </a:p>
          <a:p>
            <a:r>
              <a:rPr lang="zh-CN" altLang="en-US" dirty="0"/>
              <a:t>                    if cpu_weight is not None and gpu_weight is not None:</a:t>
            </a:r>
          </a:p>
          <a:p>
            <a:r>
              <a:rPr lang="zh-CN" altLang="en-US" dirty="0"/>
              <a:t>                        self.assertEqual(cpu_weight.grad.data, gpu_weight.grad.data, prec=5e-5)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               else: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                   self.assertTrue(cpu_weight is None)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                   self.assertTrue(gpu_weight is None)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3D113E-B5E4-78E9-B02F-FD4B96579963}"/>
              </a:ext>
            </a:extLst>
          </p:cNvPr>
          <p:cNvSpPr txBox="1"/>
          <p:nvPr/>
        </p:nvSpPr>
        <p:spPr>
          <a:xfrm>
            <a:off x="10304190" y="1729870"/>
            <a:ext cx="1887810" cy="958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问题，</a:t>
            </a:r>
            <a:r>
              <a:rPr lang="en-US" altLang="zh-CN" dirty="0" err="1"/>
              <a:t>cpu</a:t>
            </a:r>
            <a:r>
              <a:rPr lang="zh-CN" altLang="en-US" dirty="0"/>
              <a:t>和</a:t>
            </a:r>
            <a:r>
              <a:rPr lang="en-US" altLang="zh-CN" dirty="0" err="1"/>
              <a:t>gpu</a:t>
            </a:r>
            <a:r>
              <a:rPr lang="en-US" altLang="zh-CN" dirty="0"/>
              <a:t> weight</a:t>
            </a:r>
            <a:r>
              <a:rPr lang="zh-CN" altLang="en-US" dirty="0"/>
              <a:t>不能只有一个为</a:t>
            </a:r>
            <a:r>
              <a:rPr lang="en-US" altLang="zh-CN" dirty="0"/>
              <a:t>None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591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49633-9212-79CE-002C-FFFBD89ED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Case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F4D4F1-6919-B7DD-AC8E-4B2E236DCC2B}"/>
              </a:ext>
            </a:extLst>
          </p:cNvPr>
          <p:cNvSpPr txBox="1"/>
          <p:nvPr/>
        </p:nvSpPr>
        <p:spPr>
          <a:xfrm>
            <a:off x="321253" y="1614385"/>
            <a:ext cx="11032547" cy="5113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zh-CN" dirty="0"/>
              <a:t>if </a:t>
            </a:r>
            <a:r>
              <a:rPr lang="en-US" altLang="zh-CN" dirty="0" err="1"/>
              <a:t>cpu_weight</a:t>
            </a:r>
            <a:r>
              <a:rPr lang="en-US" altLang="zh-CN" dirty="0"/>
              <a:t> is None and </a:t>
            </a:r>
            <a:r>
              <a:rPr lang="en-US" altLang="zh-CN" dirty="0" err="1"/>
              <a:t>gpu_weight</a:t>
            </a:r>
            <a:r>
              <a:rPr lang="en-US" altLang="zh-CN" dirty="0"/>
              <a:t> is None:</a:t>
            </a:r>
          </a:p>
          <a:p>
            <a:pPr>
              <a:lnSpc>
                <a:spcPts val="1650"/>
              </a:lnSpc>
              <a:buNone/>
            </a:pPr>
            <a:endParaRPr lang="en-US" altLang="zh-CN" dirty="0"/>
          </a:p>
          <a:p>
            <a:pPr>
              <a:lnSpc>
                <a:spcPts val="1650"/>
              </a:lnSpc>
              <a:buNone/>
            </a:pPr>
            <a:r>
              <a:rPr lang="en-US" altLang="zh-CN" dirty="0"/>
              <a:t>    continue</a:t>
            </a:r>
          </a:p>
          <a:p>
            <a:pPr>
              <a:lnSpc>
                <a:spcPts val="1650"/>
              </a:lnSpc>
              <a:buNone/>
            </a:pPr>
            <a:endParaRPr lang="en-US" altLang="zh-CN" dirty="0"/>
          </a:p>
          <a:p>
            <a:pPr>
              <a:lnSpc>
                <a:spcPts val="1650"/>
              </a:lnSpc>
              <a:buNone/>
            </a:pPr>
            <a:r>
              <a:rPr lang="en-US" altLang="zh-CN" dirty="0" err="1"/>
              <a:t>elif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00B0F0"/>
                </a:solidFill>
              </a:rPr>
              <a:t>cpu_weight</a:t>
            </a:r>
            <a:r>
              <a:rPr lang="en-US" altLang="zh-CN" dirty="0">
                <a:solidFill>
                  <a:srgbClr val="00B0F0"/>
                </a:solidFill>
              </a:rPr>
              <a:t> is None or </a:t>
            </a:r>
            <a:r>
              <a:rPr lang="en-US" altLang="zh-CN" dirty="0" err="1">
                <a:solidFill>
                  <a:srgbClr val="00B0F0"/>
                </a:solidFill>
              </a:rPr>
              <a:t>gpu_weight</a:t>
            </a:r>
            <a:r>
              <a:rPr lang="en-US" altLang="zh-CN" dirty="0">
                <a:solidFill>
                  <a:srgbClr val="00B0F0"/>
                </a:solidFill>
              </a:rPr>
              <a:t> is None:</a:t>
            </a:r>
          </a:p>
          <a:p>
            <a:pPr>
              <a:lnSpc>
                <a:spcPts val="1650"/>
              </a:lnSpc>
              <a:buNone/>
            </a:pPr>
            <a:endParaRPr lang="en-US" altLang="zh-CN" dirty="0"/>
          </a:p>
          <a:p>
            <a:pPr>
              <a:lnSpc>
                <a:spcPts val="1650"/>
              </a:lnSpc>
              <a:buNone/>
            </a:pPr>
            <a:r>
              <a:rPr lang="en-US" altLang="zh-CN" dirty="0"/>
              <a:t>    </a:t>
            </a:r>
            <a:r>
              <a:rPr lang="en-US" altLang="zh-CN" dirty="0" err="1"/>
              <a:t>self.fail</a:t>
            </a:r>
            <a:r>
              <a:rPr lang="en-US" altLang="zh-CN" dirty="0"/>
              <a:t>(</a:t>
            </a:r>
            <a:r>
              <a:rPr lang="en-US" altLang="zh-CN" dirty="0" err="1"/>
              <a:t>f"One</a:t>
            </a:r>
            <a:r>
              <a:rPr lang="en-US" altLang="zh-CN" dirty="0"/>
              <a:t> weight is None while the other is not: </a:t>
            </a:r>
            <a:r>
              <a:rPr lang="en-US" altLang="zh-CN" dirty="0" err="1"/>
              <a:t>cpu_weight</a:t>
            </a:r>
            <a:r>
              <a:rPr lang="en-US" altLang="zh-CN" dirty="0"/>
              <a:t>={</a:t>
            </a:r>
            <a:r>
              <a:rPr lang="en-US" altLang="zh-CN" dirty="0" err="1"/>
              <a:t>cpu_weight</a:t>
            </a:r>
            <a:r>
              <a:rPr lang="en-US" altLang="zh-CN" dirty="0"/>
              <a:t>}, </a:t>
            </a:r>
            <a:r>
              <a:rPr lang="en-US" altLang="zh-CN" dirty="0" err="1"/>
              <a:t>gpu_weight</a:t>
            </a:r>
            <a:r>
              <a:rPr lang="en-US" altLang="zh-CN" dirty="0"/>
              <a:t>={</a:t>
            </a:r>
            <a:r>
              <a:rPr lang="en-US" altLang="zh-CN" dirty="0" err="1"/>
              <a:t>gpu_weight</a:t>
            </a:r>
            <a:r>
              <a:rPr lang="en-US" altLang="zh-CN" dirty="0"/>
              <a:t>}")</a:t>
            </a:r>
          </a:p>
          <a:p>
            <a:pPr>
              <a:lnSpc>
                <a:spcPts val="1650"/>
              </a:lnSpc>
              <a:buNone/>
            </a:pPr>
            <a:endParaRPr lang="en-US" altLang="zh-CN" dirty="0"/>
          </a:p>
          <a:p>
            <a:pPr>
              <a:lnSpc>
                <a:spcPts val="1650"/>
              </a:lnSpc>
              <a:buNone/>
            </a:pPr>
            <a:r>
              <a:rPr lang="en-US" altLang="zh-CN" dirty="0"/>
              <a:t>else:</a:t>
            </a:r>
          </a:p>
          <a:p>
            <a:pPr>
              <a:lnSpc>
                <a:spcPts val="1650"/>
              </a:lnSpc>
              <a:buNone/>
            </a:pPr>
            <a:r>
              <a:rPr lang="en-US" altLang="zh-CN" dirty="0"/>
              <a:t>    </a:t>
            </a:r>
            <a:r>
              <a:rPr lang="en-US" altLang="zh-CN" dirty="0" err="1"/>
              <a:t>self.assertEqual</a:t>
            </a:r>
            <a:r>
              <a:rPr lang="en-US" altLang="zh-CN" dirty="0"/>
              <a:t>(</a:t>
            </a:r>
            <a:r>
              <a:rPr lang="en-US" altLang="zh-CN" dirty="0" err="1"/>
              <a:t>cpu_weight.grad.data</a:t>
            </a:r>
            <a:r>
              <a:rPr lang="en-US" altLang="zh-CN" dirty="0"/>
              <a:t>, </a:t>
            </a:r>
            <a:r>
              <a:rPr lang="en-US" altLang="zh-CN" dirty="0" err="1"/>
              <a:t>gpu_weight.grad.data</a:t>
            </a:r>
            <a:r>
              <a:rPr lang="en-US" altLang="zh-CN" dirty="0"/>
              <a:t>, </a:t>
            </a:r>
            <a:r>
              <a:rPr lang="en-US" altLang="zh-CN" dirty="0" err="1"/>
              <a:t>prec</a:t>
            </a:r>
            <a:r>
              <a:rPr lang="en-US" altLang="zh-CN" dirty="0"/>
              <a:t>=5e-5)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The updated logic correctly handles None gradients by explicitly checking for mismatches between CPU and GPU weights, raising a descriptive </a:t>
            </a:r>
            <a:r>
              <a:rPr lang="en-US" altLang="zh-CN" dirty="0" err="1"/>
              <a:t>AssertionError</a:t>
            </a:r>
            <a:r>
              <a:rPr lang="en-US" altLang="zh-CN" dirty="0"/>
              <a:t> when one is None and the other isn't. This prevents silent failures and ensures robust test behavior without introducing performance or security issues.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dirty="0"/>
          </a:p>
          <a:p>
            <a:pPr>
              <a:lnSpc>
                <a:spcPts val="1650"/>
              </a:lnSpc>
              <a:buNone/>
            </a:pPr>
            <a:endParaRPr lang="en-US" altLang="zh-CN" dirty="0"/>
          </a:p>
          <a:p>
            <a:pPr>
              <a:lnSpc>
                <a:spcPts val="1650"/>
              </a:lnSpc>
              <a:buNone/>
            </a:pPr>
            <a:br>
              <a:rPr lang="en-US" altLang="zh-CN" dirty="0"/>
            </a:br>
            <a:r>
              <a:rPr lang="da-DK" altLang="zh-CN" dirty="0"/>
              <a:t>bleu:0.0718190578316774,</a:t>
            </a:r>
          </a:p>
          <a:p>
            <a:pPr>
              <a:lnSpc>
                <a:spcPts val="1650"/>
              </a:lnSpc>
              <a:buNone/>
            </a:pPr>
            <a:r>
              <a:rPr lang="da-DK" altLang="zh-CN" dirty="0"/>
              <a:t>:crystal_bleu0.4888430703340233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07683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55C4F-3B41-CB7C-F39B-6FE3542C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问题与初步思考：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6D066-7FEC-1075-06D4-7565F85C6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dirty="0"/>
              <a:t>1.</a:t>
            </a:r>
            <a:r>
              <a:rPr lang="zh-CN" altLang="en-US" sz="1800" dirty="0"/>
              <a:t>关于 </a:t>
            </a:r>
            <a:r>
              <a:rPr lang="en-US" altLang="zh-CN" sz="1800" dirty="0"/>
              <a:t>call tree node</a:t>
            </a:r>
            <a:r>
              <a:rPr lang="zh-CN" altLang="en-US" sz="1800" dirty="0"/>
              <a:t>的拓展，应该让</a:t>
            </a:r>
            <a:r>
              <a:rPr lang="en-US" altLang="zh-CN" sz="1800" dirty="0" err="1"/>
              <a:t>llm</a:t>
            </a:r>
            <a:r>
              <a:rPr lang="zh-CN" altLang="en-US" sz="1800" dirty="0"/>
              <a:t>自主进行 </a:t>
            </a:r>
            <a:r>
              <a:rPr lang="en-US" altLang="zh-CN" sz="1800" dirty="0" err="1"/>
              <a:t>dfs</a:t>
            </a:r>
            <a:r>
              <a:rPr lang="zh-CN" altLang="en-US" sz="1800" dirty="0"/>
              <a:t>、或</a:t>
            </a:r>
            <a:r>
              <a:rPr lang="en-US" altLang="zh-CN" sz="1800" dirty="0" err="1"/>
              <a:t>iddfs</a:t>
            </a:r>
            <a:r>
              <a:rPr lang="zh-CN" altLang="en-US" sz="1800" dirty="0"/>
              <a:t>与剪枝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具体想法是，对每个</a:t>
            </a:r>
            <a:r>
              <a:rPr lang="en-US" altLang="zh-CN" sz="1800" dirty="0"/>
              <a:t>function</a:t>
            </a:r>
            <a:r>
              <a:rPr lang="zh-CN" altLang="en-US" sz="1800" dirty="0"/>
              <a:t>，先获取</a:t>
            </a:r>
            <a:r>
              <a:rPr lang="en-US" altLang="zh-CN" sz="1800" dirty="0" err="1"/>
              <a:t>qname</a:t>
            </a:r>
            <a:r>
              <a:rPr lang="zh-CN" altLang="en-US" sz="1800" dirty="0"/>
              <a:t>后，</a:t>
            </a:r>
            <a:r>
              <a:rPr lang="en-US" altLang="zh-CN" sz="1800" dirty="0"/>
              <a:t>agent</a:t>
            </a:r>
            <a:r>
              <a:rPr lang="zh-CN" altLang="en-US" sz="1800" dirty="0"/>
              <a:t>自己用</a:t>
            </a:r>
            <a:r>
              <a:rPr lang="en-US" altLang="zh-CN" sz="1800" dirty="0"/>
              <a:t>pyre</a:t>
            </a:r>
            <a:r>
              <a:rPr lang="zh-CN" altLang="en-US" sz="1800" dirty="0"/>
              <a:t>动态扫描获取另一个</a:t>
            </a:r>
            <a:r>
              <a:rPr lang="en-US" altLang="zh-CN" sz="1800" dirty="0" err="1"/>
              <a:t>qname</a:t>
            </a:r>
            <a:r>
              <a:rPr lang="en-US" altLang="zh-CN" sz="1800" dirty="0"/>
              <a:t> list</a:t>
            </a:r>
            <a:r>
              <a:rPr lang="zh-CN" altLang="en-US" sz="1800" dirty="0"/>
              <a:t>。排除明显不对的</a:t>
            </a:r>
            <a:r>
              <a:rPr lang="en-US" altLang="zh-CN" sz="1800" dirty="0" err="1"/>
              <a:t>func</a:t>
            </a:r>
            <a:r>
              <a:rPr lang="zh-CN" altLang="en-US" sz="1800" dirty="0"/>
              <a:t>后，再依据</a:t>
            </a:r>
            <a:r>
              <a:rPr lang="en-US" altLang="zh-CN" sz="1800" dirty="0" err="1"/>
              <a:t>qname</a:t>
            </a:r>
            <a:r>
              <a:rPr lang="zh-CN" altLang="en-US" sz="1800" dirty="0"/>
              <a:t>与路径间的映射获取具体内容，直到</a:t>
            </a:r>
            <a:r>
              <a:rPr lang="en-US" altLang="zh-CN" sz="1800" dirty="0" err="1"/>
              <a:t>llm</a:t>
            </a:r>
            <a:r>
              <a:rPr lang="zh-CN" altLang="en-US" sz="1800" dirty="0"/>
              <a:t>理解这一个</a:t>
            </a:r>
            <a:r>
              <a:rPr lang="en-US" altLang="zh-CN" sz="1800" dirty="0" err="1"/>
              <a:t>func</a:t>
            </a:r>
            <a:r>
              <a:rPr lang="zh-CN" altLang="en-US" sz="1800" dirty="0"/>
              <a:t>为止。然后达到对</a:t>
            </a:r>
            <a:r>
              <a:rPr lang="en-US" altLang="zh-CN" sz="1800" dirty="0" err="1"/>
              <a:t>func</a:t>
            </a:r>
            <a:r>
              <a:rPr lang="zh-CN" altLang="en-US" sz="1800" dirty="0"/>
              <a:t>整体的理解。</a:t>
            </a:r>
            <a:endParaRPr lang="en-US" altLang="zh-CN" sz="1800" dirty="0"/>
          </a:p>
          <a:p>
            <a:pPr marL="514350" indent="-514350">
              <a:buAutoNum type="arabicPeriod"/>
            </a:pPr>
            <a:endParaRPr lang="en-US" altLang="zh-CN" sz="1800" dirty="0"/>
          </a:p>
          <a:p>
            <a:pPr marL="514350" indent="-514350">
              <a:buAutoNum type="arabicPeriod"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2. </a:t>
            </a:r>
            <a:r>
              <a:rPr lang="zh-CN" altLang="en-US" sz="1800" dirty="0"/>
              <a:t>数据清洗问题、</a:t>
            </a:r>
            <a:r>
              <a:rPr lang="en-US" altLang="zh-CN" sz="1800" dirty="0"/>
              <a:t>review comment</a:t>
            </a:r>
            <a:r>
              <a:rPr lang="zh-CN" altLang="en-US" sz="1800" dirty="0"/>
              <a:t>不规范问题，</a:t>
            </a:r>
            <a:r>
              <a:rPr lang="en-US" altLang="zh-CN" sz="1800" dirty="0" err="1"/>
              <a:t>clearCRC</a:t>
            </a:r>
            <a:endParaRPr lang="en-US" altLang="zh-CN" sz="1800" dirty="0"/>
          </a:p>
          <a:p>
            <a:pPr marL="514350" indent="-514350">
              <a:buAutoNum type="arabicPeriod"/>
            </a:pPr>
            <a:endParaRPr lang="en-US" altLang="zh-CN" sz="1800" dirty="0"/>
          </a:p>
          <a:p>
            <a:pPr marL="514350" indent="-514350">
              <a:buAutoNum type="arabicPeriod"/>
            </a:pPr>
            <a:endParaRPr lang="en-US" altLang="zh-CN" sz="1800" dirty="0"/>
          </a:p>
          <a:p>
            <a:pPr marL="514350" indent="-514350">
              <a:buAutoNum type="arabicPeriod"/>
            </a:pPr>
            <a:endParaRPr lang="en-US" altLang="zh-CN" sz="1800" dirty="0"/>
          </a:p>
          <a:p>
            <a:pPr marL="514350" indent="-514350">
              <a:buAutoNum type="arabicPeriod"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3.function-level</a:t>
            </a:r>
            <a:r>
              <a:rPr lang="zh-CN" altLang="en-US" sz="1800" dirty="0"/>
              <a:t>的，那么</a:t>
            </a:r>
            <a:r>
              <a:rPr lang="en-US" altLang="zh-CN" sz="1800" dirty="0"/>
              <a:t>function</a:t>
            </a:r>
            <a:r>
              <a:rPr lang="zh-CN" altLang="en-US" sz="1800" dirty="0"/>
              <a:t>、</a:t>
            </a:r>
            <a:r>
              <a:rPr lang="en-US" altLang="zh-CN" sz="1800" dirty="0"/>
              <a:t>security</a:t>
            </a:r>
            <a:r>
              <a:rPr lang="zh-CN" altLang="en-US" sz="1800" dirty="0"/>
              <a:t>、</a:t>
            </a:r>
            <a:r>
              <a:rPr lang="en-US" altLang="zh-CN" sz="1800" dirty="0"/>
              <a:t>performance agent</a:t>
            </a:r>
            <a:r>
              <a:rPr lang="zh-CN" altLang="en-US" sz="1800" dirty="0"/>
              <a:t>应该初步尝试加</a:t>
            </a:r>
            <a:r>
              <a:rPr lang="en-US" altLang="zh-CN" sz="1800" dirty="0"/>
              <a:t>execute</a:t>
            </a:r>
            <a:r>
              <a:rPr lang="zh-CN" altLang="en-US" sz="1800" dirty="0"/>
              <a:t>工具、动态执行验证下模型的思考，就比如前面的</a:t>
            </a:r>
            <a:r>
              <a:rPr lang="en-US" altLang="zh-CN" sz="1800" dirty="0" err="1">
                <a:solidFill>
                  <a:srgbClr val="00B0F0"/>
                </a:solidFill>
              </a:rPr>
              <a:t>cpu_weight</a:t>
            </a:r>
            <a:r>
              <a:rPr lang="en-US" altLang="zh-CN" sz="1800" dirty="0">
                <a:solidFill>
                  <a:srgbClr val="00B0F0"/>
                </a:solidFill>
              </a:rPr>
              <a:t> is None or </a:t>
            </a:r>
            <a:r>
              <a:rPr lang="en-US" altLang="zh-CN" sz="1800" dirty="0" err="1">
                <a:solidFill>
                  <a:srgbClr val="00B0F0"/>
                </a:solidFill>
              </a:rPr>
              <a:t>gpu_weight</a:t>
            </a:r>
            <a:r>
              <a:rPr lang="en-US" altLang="zh-CN" sz="1800" dirty="0">
                <a:solidFill>
                  <a:srgbClr val="00B0F0"/>
                </a:solidFill>
              </a:rPr>
              <a:t> is None</a:t>
            </a:r>
            <a:endParaRPr lang="zh-CN" altLang="en-US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F6E04C-7A51-100D-2A4A-8B4F76F6D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498" y="3123247"/>
            <a:ext cx="5265876" cy="200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4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863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DA527D4-5421-CC87-14BD-BC59A438F103}"/>
              </a:ext>
            </a:extLst>
          </p:cNvPr>
          <p:cNvSpPr txBox="1"/>
          <p:nvPr/>
        </p:nvSpPr>
        <p:spPr>
          <a:xfrm>
            <a:off x="415636" y="355662"/>
            <a:ext cx="65644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@@ -1151,17 +1152,21 @@ </a:t>
            </a:r>
            <a:r>
              <a:rPr lang="zh-CN" altLang="en-US" sz="1200" dirty="0">
                <a:solidFill>
                  <a:srgbClr val="00B050"/>
                </a:solidFill>
              </a:rPr>
              <a:t>def compare_cpu_gpu(outputs_cpu, outputs_gpu):</a:t>
            </a:r>
          </a:p>
          <a:p>
            <a:r>
              <a:rPr lang="zh-CN" altLang="en-US" sz="1200" dirty="0"/>
              <a:t>             # check grad weights separately, as nested dict</a:t>
            </a:r>
          </a:p>
          <a:p>
            <a:r>
              <a:rPr lang="zh-CN" altLang="en-US" sz="1200" dirty="0"/>
              <a:t>             for cpu_layer_weight, gpu_layer_weight in zip(outputs_cpu['weights'], outputs_gpu['weights']):</a:t>
            </a:r>
          </a:p>
          <a:p>
            <a:r>
              <a:rPr lang="zh-CN" altLang="en-US" sz="1200" dirty="0"/>
              <a:t>                 for (cpu_weight, gpu_weight) in zip(cpu_layer_weight, gpu_layer_weight):</a:t>
            </a:r>
          </a:p>
          <a:p>
            <a:r>
              <a:rPr lang="zh-CN" altLang="en-US" sz="1200" dirty="0">
                <a:solidFill>
                  <a:srgbClr val="FF0000"/>
                </a:solidFill>
              </a:rPr>
              <a:t>-                    self.assertEqual(cpu_weight.grad.data, gpu_weight.grad.data, prec=5e-5)</a:t>
            </a:r>
          </a:p>
          <a:p>
            <a:r>
              <a:rPr lang="zh-CN" altLang="en-US" sz="1200" dirty="0">
                <a:solidFill>
                  <a:srgbClr val="FF0000"/>
                </a:solidFill>
              </a:rPr>
              <a:t>+                    if cpu_weight is not None and gpu_weight is not None:</a:t>
            </a:r>
          </a:p>
          <a:p>
            <a:r>
              <a:rPr lang="zh-CN" altLang="en-US" sz="1200" dirty="0">
                <a:solidFill>
                  <a:srgbClr val="FF0000"/>
                </a:solidFill>
              </a:rPr>
              <a:t>+                        self.assertEqual(cpu_weight.grad.data, gpu_weight.grad.data, prec=5e-5)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DFB3A4-9F40-0F32-245C-BC4C811C24BB}"/>
              </a:ext>
            </a:extLst>
          </p:cNvPr>
          <p:cNvSpPr txBox="1"/>
          <p:nvPr/>
        </p:nvSpPr>
        <p:spPr>
          <a:xfrm>
            <a:off x="415636" y="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Code diff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778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</TotalTime>
  <Words>2611</Words>
  <Application>Microsoft Office PowerPoint</Application>
  <PresentationFormat>宽屏</PresentationFormat>
  <Paragraphs>326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JetBrains Mono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现在实现的</vt:lpstr>
      <vt:lpstr>pipeline</vt:lpstr>
      <vt:lpstr>数据收集</vt:lpstr>
      <vt:lpstr>输入Context</vt:lpstr>
      <vt:lpstr>PowerPoint 演示文稿</vt:lpstr>
      <vt:lpstr>PowerPoint 演示文稿</vt:lpstr>
      <vt:lpstr>PowerPoint 演示文稿</vt:lpstr>
      <vt:lpstr>将全局call graph DAG改为局部</vt:lpstr>
      <vt:lpstr>PowerPoint 演示文稿</vt:lpstr>
      <vt:lpstr>重构agent部分代码</vt:lpstr>
      <vt:lpstr>尝试效果</vt:lpstr>
      <vt:lpstr>优化数据爬取流程</vt:lpstr>
      <vt:lpstr>数据爬取</vt:lpstr>
      <vt:lpstr>PowerPoint 演示文稿</vt:lpstr>
      <vt:lpstr>效果Case</vt:lpstr>
      <vt:lpstr>Case</vt:lpstr>
      <vt:lpstr>问题与初步思考：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 x</dc:creator>
  <cp:lastModifiedBy>sc x</cp:lastModifiedBy>
  <cp:revision>257</cp:revision>
  <dcterms:created xsi:type="dcterms:W3CDTF">2025-08-18T08:32:12Z</dcterms:created>
  <dcterms:modified xsi:type="dcterms:W3CDTF">2025-09-28T14:07:52Z</dcterms:modified>
</cp:coreProperties>
</file>