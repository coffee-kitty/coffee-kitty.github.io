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61" r:id="rId4"/>
    <p:sldId id="257" r:id="rId5"/>
    <p:sldId id="259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60" d="100"/>
          <a:sy n="60" d="100"/>
        </p:scale>
        <p:origin x="48" y="4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5F477-E431-4287-BBCF-F0B82B99CDE8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AB976-BA1F-498A-94D9-C58C4E3246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4263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AB976-BA1F-498A-94D9-C58C4E3246D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767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0A66E9-F094-23D3-8755-DEA8BB9B8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0BC0E15-0E75-2A32-8A19-FA35F7A26A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5DE7B5-AF8A-3571-4B14-D4DCFA2B1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93D5F-0558-CE43-2EE1-1A6A2A6D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E14944-83F6-FFA0-B422-27AE31061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284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5FBAE8-67A0-E79F-0FDE-85BF62EBD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20DBBB-D8C3-71D5-A1A5-E05313299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9057D3-2675-2F33-FDCD-3849B9A66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1D63CE-D30C-5344-A2F7-20D4C4CCF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2DE75C-CDEA-85CE-3D60-EDAC4848A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9415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1B1988-93A3-FC07-F567-A62858AF2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1E66AE-F3E1-D7A3-3BEB-4F3AEEC5D8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C7460C-8F0D-86E4-A61D-1E54932D7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EC0DDA-19D9-5BD9-47D3-BBAE362BD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202C0F-7553-AC93-3F05-3EE0E65B1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8171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4E0ACC-7CF4-5BFB-65AF-3CA305FC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5CA323D-A02B-17FB-96D9-9202272DB3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5CAC90A-2C33-AEE3-04EA-E60A9F8CA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FEE8465-8E7A-52E4-703B-478B630E9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77EEE7-8EEF-095B-7048-963501E1E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F63DB9-EBFA-2D2C-727C-011F006EC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6579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6A0A69-00AC-86F9-4808-3AC0A8FBE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DD78F85-4F95-7835-8BC7-FCD9C0633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839D09E-71FD-2E4B-19AB-F0F57AF8C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4E00D2B-3E3C-AC0F-DAE1-A6772897E7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2A2B9C5-6F68-A3D3-2F1E-5F1E894991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E3548B9-96E5-93B9-AA61-A7D5E260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6D229B-1B64-033B-A4BB-BC04CD5A7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13942F4-4F2A-F640-B98F-F4DE9114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2927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F4FDA-4849-8A16-3BF5-BA0C197B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FF3DB86-9432-3EE3-C950-15A838018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252B5E3-DDA2-6419-5C75-51B1B47A7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2E5969A-F184-AF23-E6A5-4084DDC3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683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B10DD8-6DAF-1E9A-F9B1-49284B61F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30B967-2C9F-CEC3-CEEA-181BBB043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7ADF04-94F5-FB8E-ABD1-A51C1CFA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027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7C1535-DA8A-64BF-E738-903384B63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A86FF7-E6B9-2CAD-9C8A-61AAE92EF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BB775FA-5F1C-2690-5977-63565244A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EF8E9C9-D666-ACB7-B53B-769E71F4D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007300-B643-7C2C-3432-0707D5C4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D433D1-2E9F-3BD3-4AB6-E5A9A24B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413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1277D-6F56-C652-48FA-331BCC232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5A8000-F4B4-2A80-1378-45CFF80C9B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7EA6B2-8053-06AF-619A-C58A83CCF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BD821CB-1C6A-3EB2-EA0C-0586EDEE8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8F27913-007F-81A8-535F-14C010B27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962DD1-4AFE-E4AA-64FF-AECAFA535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3959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04F7E6-69F7-DCFC-F5C7-511F09C77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2B39F73-189E-A3ED-44D0-AE1619A80F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19C65-CDE0-223C-3541-F81AA978B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690568-AF1E-3908-06D6-6A58763ED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F1DABB-943A-DDAE-AD8A-C013DF3CD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897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7603650-7825-EA8F-3252-5B6EA9C03A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C590858-1FE5-89FD-26D1-A40FD09A57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D53376-53E6-B3BC-5C9B-D8BF2547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664C50-0BBF-4185-2244-D758430DA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15B9CA-3D17-1A49-116C-3DA25C1EB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681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C6330E3-78A0-6879-A7F7-7D631880C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08A084C-65B1-DC21-A556-B5DB7ABEC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84C7657-427E-6AF3-CA1A-63C2484B83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9C-0FB6-4165-824A-A36BB34C0D04}" type="datetimeFigureOut">
              <a:rPr lang="zh-CN" altLang="en-US" smtClean="0"/>
              <a:t>2025/8/27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556D09-AD01-35D9-87BF-001CEC9A0E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4ACF31-2335-C5CA-683E-48241136FC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51B18D-9695-42F1-838B-439BD4F248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663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10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17" Type="http://schemas.openxmlformats.org/officeDocument/2006/relationships/image" Target="../media/image22.svg"/><Relationship Id="rId2" Type="http://schemas.openxmlformats.org/officeDocument/2006/relationships/image" Target="../media/image9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2.svg"/><Relationship Id="rId15" Type="http://schemas.openxmlformats.org/officeDocument/2006/relationships/image" Target="../media/image20.sv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14.sv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.svg"/><Relationship Id="rId5" Type="http://schemas.openxmlformats.org/officeDocument/2006/relationships/image" Target="../media/image14.svg"/><Relationship Id="rId10" Type="http://schemas.openxmlformats.org/officeDocument/2006/relationships/image" Target="../media/image1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>
            <a:extLst>
              <a:ext uri="{FF2B5EF4-FFF2-40B4-BE49-F238E27FC236}">
                <a16:creationId xmlns:a16="http://schemas.microsoft.com/office/drawing/2014/main" id="{7E699B61-9CE5-3964-976A-DB1106DEA108}"/>
              </a:ext>
            </a:extLst>
          </p:cNvPr>
          <p:cNvGrpSpPr/>
          <p:nvPr/>
        </p:nvGrpSpPr>
        <p:grpSpPr>
          <a:xfrm>
            <a:off x="4528438" y="265952"/>
            <a:ext cx="2654710" cy="2906056"/>
            <a:chOff x="1140543" y="338589"/>
            <a:chExt cx="2654710" cy="2906056"/>
          </a:xfrm>
        </p:grpSpPr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8152FBA5-2F95-1F85-97FB-F9AA512DBF42}"/>
                </a:ext>
              </a:extLst>
            </p:cNvPr>
            <p:cNvSpPr txBox="1"/>
            <p:nvPr/>
          </p:nvSpPr>
          <p:spPr>
            <a:xfrm>
              <a:off x="2177847" y="338589"/>
              <a:ext cx="5801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/>
                <a:t>PR</a:t>
              </a:r>
              <a:endParaRPr lang="zh-CN" altLang="en-US" dirty="0"/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84F41D84-BFA7-13F0-49C8-70D71C6945CB}"/>
                </a:ext>
              </a:extLst>
            </p:cNvPr>
            <p:cNvGrpSpPr/>
            <p:nvPr/>
          </p:nvGrpSpPr>
          <p:grpSpPr>
            <a:xfrm>
              <a:off x="1140543" y="707921"/>
              <a:ext cx="2654710" cy="2536724"/>
              <a:chOff x="1140543" y="707921"/>
              <a:chExt cx="2654710" cy="253672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5B8BE05-0FE7-6871-79C1-1332CECA38BE}"/>
                  </a:ext>
                </a:extLst>
              </p:cNvPr>
              <p:cNvSpPr/>
              <p:nvPr/>
            </p:nvSpPr>
            <p:spPr>
              <a:xfrm>
                <a:off x="1140543" y="707921"/>
                <a:ext cx="2654710" cy="2536724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D37E4B6D-F0E2-CD94-00AF-97DBBCFB5E82}"/>
                  </a:ext>
                </a:extLst>
              </p:cNvPr>
              <p:cNvSpPr/>
              <p:nvPr/>
            </p:nvSpPr>
            <p:spPr>
              <a:xfrm>
                <a:off x="1289256" y="800417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1</a:t>
                </a:r>
                <a:endParaRPr lang="zh-CN" altLang="en-US" dirty="0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7BD731AA-EE13-9125-C7A5-4F1E02D7ADB8}"/>
                  </a:ext>
                </a:extLst>
              </p:cNvPr>
              <p:cNvSpPr/>
              <p:nvPr/>
            </p:nvSpPr>
            <p:spPr>
              <a:xfrm>
                <a:off x="1289256" y="1346395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2</a:t>
                </a:r>
                <a:endParaRPr lang="zh-CN" altLang="en-US" dirty="0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8B67575-AE12-25C2-FA75-5D882B95C11E}"/>
                  </a:ext>
                </a:extLst>
              </p:cNvPr>
              <p:cNvSpPr/>
              <p:nvPr/>
            </p:nvSpPr>
            <p:spPr>
              <a:xfrm>
                <a:off x="1289256" y="1900392"/>
                <a:ext cx="2357284" cy="12459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C6DE518D-A71D-8E73-2461-849AEAC609FD}"/>
                  </a:ext>
                </a:extLst>
              </p:cNvPr>
              <p:cNvSpPr/>
              <p:nvPr/>
            </p:nvSpPr>
            <p:spPr>
              <a:xfrm>
                <a:off x="1388808" y="2085059"/>
                <a:ext cx="2158181" cy="361476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File 1</a:t>
                </a:r>
                <a:endParaRPr lang="zh-CN" altLang="en-US" dirty="0"/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CF1EDAC4-3177-A72E-27BA-1A62F5932E43}"/>
                  </a:ext>
                </a:extLst>
              </p:cNvPr>
              <p:cNvSpPr/>
              <p:nvPr/>
            </p:nvSpPr>
            <p:spPr>
              <a:xfrm>
                <a:off x="1388808" y="2578197"/>
                <a:ext cx="2158181" cy="43646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B062276D-5F06-D86A-8A6B-D6E895F3318E}"/>
                  </a:ext>
                </a:extLst>
              </p:cNvPr>
              <p:cNvSpPr/>
              <p:nvPr/>
            </p:nvSpPr>
            <p:spPr>
              <a:xfrm>
                <a:off x="1479145" y="2595716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1</a:t>
                </a:r>
                <a:endParaRPr lang="zh-CN" altLang="en-US" dirty="0"/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FEFCF215-A342-3C0A-E97C-82597B9004A8}"/>
                  </a:ext>
                </a:extLst>
              </p:cNvPr>
              <p:cNvSpPr/>
              <p:nvPr/>
            </p:nvSpPr>
            <p:spPr>
              <a:xfrm>
                <a:off x="2538571" y="2595716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2</a:t>
                </a:r>
                <a:endParaRPr lang="zh-CN" altLang="en-US" dirty="0"/>
              </a:p>
            </p:txBody>
          </p:sp>
        </p:grpSp>
      </p:grpSp>
      <p:pic>
        <p:nvPicPr>
          <p:cNvPr id="26" name="图形 25" descr="用户 纯色填充">
            <a:extLst>
              <a:ext uri="{FF2B5EF4-FFF2-40B4-BE49-F238E27FC236}">
                <a16:creationId xmlns:a16="http://schemas.microsoft.com/office/drawing/2014/main" id="{EBDC160B-8F6B-5C27-FC5D-80B6D9915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8587" y="1377003"/>
            <a:ext cx="914400" cy="914400"/>
          </a:xfrm>
          <a:prstGeom prst="rect">
            <a:avLst/>
          </a:prstGeom>
        </p:spPr>
      </p:pic>
      <p:pic>
        <p:nvPicPr>
          <p:cNvPr id="28" name="图形 27" descr="用户 纯色填充">
            <a:extLst>
              <a:ext uri="{FF2B5EF4-FFF2-40B4-BE49-F238E27FC236}">
                <a16:creationId xmlns:a16="http://schemas.microsoft.com/office/drawing/2014/main" id="{0A342525-D004-DE42-DB89-91B08EE355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77566" y="1279860"/>
            <a:ext cx="914400" cy="914400"/>
          </a:xfrm>
          <a:prstGeom prst="rect">
            <a:avLst/>
          </a:prstGeom>
        </p:spPr>
      </p:pic>
      <p:sp>
        <p:nvSpPr>
          <p:cNvPr id="31" name="矩形 30">
            <a:extLst>
              <a:ext uri="{FF2B5EF4-FFF2-40B4-BE49-F238E27FC236}">
                <a16:creationId xmlns:a16="http://schemas.microsoft.com/office/drawing/2014/main" id="{FB8747FF-E270-C92C-72F9-31211FA800DD}"/>
              </a:ext>
            </a:extLst>
          </p:cNvPr>
          <p:cNvSpPr/>
          <p:nvPr/>
        </p:nvSpPr>
        <p:spPr>
          <a:xfrm>
            <a:off x="2207414" y="2167514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C6ACE9C6-53D2-0FFC-943D-0FEA12EDE7D2}"/>
              </a:ext>
            </a:extLst>
          </p:cNvPr>
          <p:cNvSpPr/>
          <p:nvPr/>
        </p:nvSpPr>
        <p:spPr>
          <a:xfrm>
            <a:off x="8593395" y="1476870"/>
            <a:ext cx="1120878" cy="996593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repo</a:t>
            </a:r>
            <a:endParaRPr lang="zh-CN" altLang="en-US" dirty="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1949D2D5-E716-5107-9CB1-6EDC423E5D41}"/>
              </a:ext>
            </a:extLst>
          </p:cNvPr>
          <p:cNvSpPr/>
          <p:nvPr/>
        </p:nvSpPr>
        <p:spPr>
          <a:xfrm>
            <a:off x="1648467" y="5377511"/>
            <a:ext cx="935293" cy="3962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Diff 2</a:t>
            </a:r>
            <a:endParaRPr lang="zh-CN" altLang="en-US" dirty="0"/>
          </a:p>
        </p:txBody>
      </p:sp>
      <p:pic>
        <p:nvPicPr>
          <p:cNvPr id="34" name="图形 33" descr="用户 纯色填充">
            <a:extLst>
              <a:ext uri="{FF2B5EF4-FFF2-40B4-BE49-F238E27FC236}">
                <a16:creationId xmlns:a16="http://schemas.microsoft.com/office/drawing/2014/main" id="{52772972-AC7F-1CB5-CF96-0D5AF5ED85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6291" y="5578649"/>
            <a:ext cx="708540" cy="708540"/>
          </a:xfrm>
          <a:prstGeom prst="rect">
            <a:avLst/>
          </a:prstGeom>
        </p:spPr>
      </p:pic>
      <p:pic>
        <p:nvPicPr>
          <p:cNvPr id="35" name="图形 34" descr="用户 纯色填充">
            <a:extLst>
              <a:ext uri="{FF2B5EF4-FFF2-40B4-BE49-F238E27FC236}">
                <a16:creationId xmlns:a16="http://schemas.microsoft.com/office/drawing/2014/main" id="{1B7352DD-1B67-5509-8E66-859EA6FAF8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691" y="5451139"/>
            <a:ext cx="708540" cy="708540"/>
          </a:xfrm>
          <a:prstGeom prst="rect">
            <a:avLst/>
          </a:prstGeom>
        </p:spPr>
      </p:pic>
      <p:pic>
        <p:nvPicPr>
          <p:cNvPr id="36" name="图形 35" descr="用户 纯色填充">
            <a:extLst>
              <a:ext uri="{FF2B5EF4-FFF2-40B4-BE49-F238E27FC236}">
                <a16:creationId xmlns:a16="http://schemas.microsoft.com/office/drawing/2014/main" id="{3B5E5F96-D771-8D18-D0EE-EB9AC4FF7B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80996" y="4790835"/>
            <a:ext cx="708540" cy="708540"/>
          </a:xfrm>
          <a:prstGeom prst="rect">
            <a:avLst/>
          </a:prstGeom>
        </p:spPr>
      </p:pic>
      <p:sp>
        <p:nvSpPr>
          <p:cNvPr id="38" name="矩形 37">
            <a:extLst>
              <a:ext uri="{FF2B5EF4-FFF2-40B4-BE49-F238E27FC236}">
                <a16:creationId xmlns:a16="http://schemas.microsoft.com/office/drawing/2014/main" id="{4F6E434C-C711-FC5A-2AAC-ED5834182851}"/>
              </a:ext>
            </a:extLst>
          </p:cNvPr>
          <p:cNvSpPr/>
          <p:nvPr/>
        </p:nvSpPr>
        <p:spPr>
          <a:xfrm>
            <a:off x="0" y="601081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9BE0028-8D77-8F56-BD09-5C93046D96A9}"/>
              </a:ext>
            </a:extLst>
          </p:cNvPr>
          <p:cNvSpPr/>
          <p:nvPr/>
        </p:nvSpPr>
        <p:spPr>
          <a:xfrm>
            <a:off x="1868134" y="4527810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Basic  robot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CF93400-CA50-2620-A01C-12CE62F26A47}"/>
              </a:ext>
            </a:extLst>
          </p:cNvPr>
          <p:cNvSpPr/>
          <p:nvPr/>
        </p:nvSpPr>
        <p:spPr>
          <a:xfrm>
            <a:off x="2892621" y="607816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reviewer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CCE0D45-E556-F997-0067-BA09964F17A6}"/>
              </a:ext>
            </a:extLst>
          </p:cNvPr>
          <p:cNvCxnSpPr>
            <a:cxnSpLocks/>
          </p:cNvCxnSpPr>
          <p:nvPr/>
        </p:nvCxnSpPr>
        <p:spPr>
          <a:xfrm flipH="1">
            <a:off x="1451231" y="5998893"/>
            <a:ext cx="22807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思想气泡: 云 47">
            <a:extLst>
              <a:ext uri="{FF2B5EF4-FFF2-40B4-BE49-F238E27FC236}">
                <a16:creationId xmlns:a16="http://schemas.microsoft.com/office/drawing/2014/main" id="{E0CF84C3-0C19-9405-2642-23036513FE6F}"/>
              </a:ext>
            </a:extLst>
          </p:cNvPr>
          <p:cNvSpPr/>
          <p:nvPr/>
        </p:nvSpPr>
        <p:spPr>
          <a:xfrm>
            <a:off x="4251761" y="4664672"/>
            <a:ext cx="1993479" cy="1425678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20A0FD6A-8B31-E2A5-10C3-8D56C8ADC471}"/>
              </a:ext>
            </a:extLst>
          </p:cNvPr>
          <p:cNvCxnSpPr/>
          <p:nvPr/>
        </p:nvCxnSpPr>
        <p:spPr>
          <a:xfrm flipV="1">
            <a:off x="6065280" y="5998893"/>
            <a:ext cx="1358075" cy="119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8F9E6F71-1953-3C09-B6DD-4E88DECD733A}"/>
              </a:ext>
            </a:extLst>
          </p:cNvPr>
          <p:cNvSpPr/>
          <p:nvPr/>
        </p:nvSpPr>
        <p:spPr>
          <a:xfrm>
            <a:off x="7705728" y="5451139"/>
            <a:ext cx="1358075" cy="708539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 merged</a:t>
            </a:r>
            <a:endParaRPr lang="zh-CN" altLang="en-US" dirty="0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7ADB22C-BB7C-878E-6C24-A3D8FC16A01C}"/>
              </a:ext>
            </a:extLst>
          </p:cNvPr>
          <p:cNvSpPr/>
          <p:nvPr/>
        </p:nvSpPr>
        <p:spPr>
          <a:xfrm>
            <a:off x="9213413" y="1963427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Authors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885A67B-B00C-9B7F-AE54-0DABF5BF96A8}"/>
              </a:ext>
            </a:extLst>
          </p:cNvPr>
          <p:cNvSpPr/>
          <p:nvPr/>
        </p:nvSpPr>
        <p:spPr>
          <a:xfrm>
            <a:off x="9213413" y="2308716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Teammates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4" name="标题 1">
            <a:extLst>
              <a:ext uri="{FF2B5EF4-FFF2-40B4-BE49-F238E27FC236}">
                <a16:creationId xmlns:a16="http://schemas.microsoft.com/office/drawing/2014/main" id="{FE6B5F60-D3BE-410F-ABE9-D74CD683300E}"/>
              </a:ext>
            </a:extLst>
          </p:cNvPr>
          <p:cNvSpPr txBox="1">
            <a:spLocks/>
          </p:cNvSpPr>
          <p:nvPr/>
        </p:nvSpPr>
        <p:spPr>
          <a:xfrm>
            <a:off x="556766" y="276491"/>
            <a:ext cx="2343728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场景</a:t>
            </a:r>
          </a:p>
        </p:txBody>
      </p:sp>
    </p:spTree>
    <p:extLst>
      <p:ext uri="{BB962C8B-B14F-4D97-AF65-F5344CB8AC3E}">
        <p14:creationId xmlns:p14="http://schemas.microsoft.com/office/powerpoint/2010/main" val="1060532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44E1BA2A-BA44-155A-FE77-133E112A5030}"/>
              </a:ext>
            </a:extLst>
          </p:cNvPr>
          <p:cNvSpPr txBox="1"/>
          <p:nvPr/>
        </p:nvSpPr>
        <p:spPr>
          <a:xfrm>
            <a:off x="4538035" y="1163409"/>
            <a:ext cx="6499122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--- Starting analysis for histogram ---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Analyzed </a:t>
            </a:r>
            <a:r>
              <a:rPr lang="en-US" altLang="zh-CN" b="1" dirty="0">
                <a:solidFill>
                  <a:srgbClr val="FF0000"/>
                </a:solidFill>
                <a:effectLst/>
                <a:latin typeface="JetBrains Mono"/>
              </a:rPr>
              <a:t>9158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 </a:t>
            </a:r>
            <a:r>
              <a:rPr lang="en-US" altLang="zh-CN" b="0" dirty="0">
                <a:solidFill>
                  <a:srgbClr val="00B050"/>
                </a:solidFill>
                <a:effectLst/>
                <a:latin typeface="JetBrains Mono"/>
              </a:rPr>
              <a:t>review threads 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from </a:t>
            </a:r>
            <a:r>
              <a:rPr lang="en-US" altLang="zh-CN" b="1" dirty="0">
                <a:solidFill>
                  <a:srgbClr val="FF0000"/>
                </a:solidFill>
                <a:effectLst/>
                <a:latin typeface="JetBrains Mono"/>
              </a:rPr>
              <a:t>6191 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Pull Requests.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Counter({1: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4292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2: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3256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3: 880, 4: 399, 5: 161, 6: 81, 7: 47, 8: 19, 10: 8, 9: 6, 12: 3, 11: 3, 16: 2, 14: 1})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endParaRPr lang="en-US" altLang="zh-CN" b="0" dirty="0">
              <a:solidFill>
                <a:schemeClr val="accent1"/>
              </a:solidFill>
              <a:effectLst/>
              <a:latin typeface="JetBrains Mono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49E3FC9-4B25-75DE-D4A3-C74B790C5109}"/>
              </a:ext>
            </a:extLst>
          </p:cNvPr>
          <p:cNvSpPr txBox="1"/>
          <p:nvPr/>
        </p:nvSpPr>
        <p:spPr>
          <a:xfrm>
            <a:off x="4621162" y="3006221"/>
            <a:ext cx="6096000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  <a:endParaRPr lang="zh-CN" altLang="en-US" b="0" dirty="0">
              <a:solidFill>
                <a:schemeClr val="accent1"/>
              </a:solidFill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6491</a:t>
            </a:r>
            <a:r>
              <a:rPr lang="zh-CN" altLang="en-US" b="0" dirty="0">
                <a:solidFill>
                  <a:srgbClr val="FF0000"/>
                </a:solidFill>
                <a:effectLst/>
                <a:latin typeface="JetBrains Mono"/>
              </a:rPr>
              <a:t>个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pr    </a:t>
            </a:r>
            <a:r>
              <a:rPr lang="en-US" altLang="zh-CN" b="0" dirty="0">
                <a:solidFill>
                  <a:srgbClr val="00B050"/>
                </a:solidFill>
                <a:effectLst/>
                <a:latin typeface="JetBrains Mono"/>
              </a:rPr>
              <a:t>commits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Counter({1: </a:t>
            </a:r>
            <a:r>
              <a:rPr lang="en-US" altLang="zh-CN" b="0" dirty="0">
                <a:solidFill>
                  <a:srgbClr val="FF0000"/>
                </a:solidFill>
                <a:effectLst/>
                <a:latin typeface="JetBrains Mono"/>
              </a:rPr>
              <a:t>3886</a:t>
            </a: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, 2: 899, 3: 496, 4: 281, 5: 193, 6: 137, 7: 110, 8: 76, 9: 59, 11: 32, 10: 28, 13: 26, 15: 24, 12: 23, 14: 22, 16: 18, 21: 12, 0: 11, 17: 11, 18: 10, 20: 10, 23: 9, 26: 7, 28: 7, 22: 6, 19: 6, 27: 5, 30: 5, 29: 4, 39: 4, 25: 4, 40: 3, 33: 3, 31: 3, 34: 3, 84: 2, 59: 2, 135: 2, 24: 2, 70: 2, 47: 2, 38: 2, 219: 2, 42: 2, 32: 2, 87: 1, 60: 1, 235: 1, 274: 1, 51: 1, 36: 1, 52: 1, 46: 1, 67: 1, 44: 1, 61: 1, 967: 1, 83: 1, 133: 1, 122: 1, 112: 1, 64: 1, 63: 1, 232: 1, 37: 1, 65: 1, 180: 1, 58: 1, 1180: 1, 489: 1, 78: 1, 213: 1, 82: 1, 109: 1, 144: 1, 207: 1, 182: 1, 198: 1, 758: 1, 275: 1, 466: 1, 166: 1, 35: 1})</a:t>
            </a:r>
          </a:p>
          <a:p>
            <a:pPr>
              <a:lnSpc>
                <a:spcPts val="1650"/>
              </a:lnSpc>
              <a:buNone/>
            </a:pPr>
            <a:b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</a:br>
            <a:r>
              <a:rPr lang="en-US" altLang="zh-CN" b="0" dirty="0">
                <a:solidFill>
                  <a:schemeClr val="accent1"/>
                </a:solidFill>
                <a:effectLst/>
                <a:latin typeface="JetBrains Mono"/>
              </a:rPr>
              <a:t>"""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AD3B34-02E0-CB94-A032-317AA66E8C49}"/>
              </a:ext>
            </a:extLst>
          </p:cNvPr>
          <p:cNvSpPr txBox="1"/>
          <p:nvPr/>
        </p:nvSpPr>
        <p:spPr>
          <a:xfrm>
            <a:off x="245807" y="482908"/>
            <a:ext cx="5043948" cy="4894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query($after: String)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repository(owner: "</a:t>
            </a:r>
            <a:r>
              <a:rPr lang="en-US" altLang="zh-CN" b="0" dirty="0" err="1">
                <a:solidFill>
                  <a:srgbClr val="FF0000"/>
                </a:solidFill>
                <a:effectLst/>
                <a:latin typeface="JetBrains Mono"/>
              </a:rPr>
              <a:t>pytorch</a:t>
            </a:r>
            <a:r>
              <a:rPr lang="en-US" altLang="zh-CN" b="0" dirty="0">
                <a:effectLst/>
                <a:latin typeface="JetBrains Mono"/>
              </a:rPr>
              <a:t>", name: "</a:t>
            </a:r>
            <a:r>
              <a:rPr lang="en-US" altLang="zh-CN" b="0" dirty="0" err="1">
                <a:solidFill>
                  <a:srgbClr val="FF0000"/>
                </a:solidFill>
                <a:effectLst/>
                <a:latin typeface="JetBrains Mono"/>
              </a:rPr>
              <a:t>pytorch</a:t>
            </a:r>
            <a:r>
              <a:rPr lang="en-US" altLang="zh-CN" b="0" dirty="0">
                <a:effectLst/>
                <a:latin typeface="JetBrains Mono"/>
              </a:rPr>
              <a:t>")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</a:t>
            </a:r>
            <a:r>
              <a:rPr lang="en-US" altLang="zh-CN" b="0" dirty="0" err="1">
                <a:effectLst/>
                <a:latin typeface="JetBrains Mono"/>
              </a:rPr>
              <a:t>pullRequests</a:t>
            </a:r>
            <a:r>
              <a:rPr lang="en-US" altLang="zh-CN" b="0" dirty="0">
                <a:effectLst/>
                <a:latin typeface="JetBrains Mono"/>
              </a:rPr>
              <a:t>(first: 100, after: $after, states: [MERGED])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</a:t>
            </a:r>
            <a:r>
              <a:rPr lang="en-US" altLang="zh-CN" b="0" dirty="0" err="1">
                <a:effectLst/>
                <a:latin typeface="JetBrains Mono"/>
              </a:rPr>
              <a:t>pageInfo</a:t>
            </a:r>
            <a:r>
              <a:rPr lang="en-US" altLang="zh-CN" b="0" dirty="0">
                <a:effectLst/>
                <a:latin typeface="JetBrains Mono"/>
              </a:rPr>
              <a:t>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hasNextPage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endCursor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nodes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number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title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url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createdAt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</a:t>
            </a:r>
            <a:r>
              <a:rPr lang="en-US" altLang="zh-CN" b="0" dirty="0" err="1">
                <a:effectLst/>
                <a:latin typeface="JetBrains Mono"/>
              </a:rPr>
              <a:t>mergedAt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state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commits {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    </a:t>
            </a:r>
            <a:r>
              <a:rPr lang="en-US" altLang="zh-CN" b="0" dirty="0" err="1">
                <a:effectLst/>
                <a:latin typeface="JetBrains Mono"/>
              </a:rPr>
              <a:t>totalCount</a:t>
            </a:r>
            <a:endParaRPr lang="en-US" altLang="zh-CN" b="0" dirty="0">
              <a:effectLst/>
              <a:latin typeface="JetBrains Mono"/>
            </a:endParaRP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  }</a:t>
            </a:r>
          </a:p>
          <a:p>
            <a:pPr>
              <a:lnSpc>
                <a:spcPts val="1650"/>
              </a:lnSpc>
              <a:buNone/>
            </a:pPr>
            <a:r>
              <a:rPr lang="en-US" altLang="zh-CN" b="0" dirty="0">
                <a:effectLst/>
                <a:latin typeface="JetBrains Mono"/>
              </a:rPr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1658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6A67735-6540-247D-0037-B352D3CCC108}"/>
              </a:ext>
            </a:extLst>
          </p:cNvPr>
          <p:cNvSpPr txBox="1"/>
          <p:nvPr/>
        </p:nvSpPr>
        <p:spPr>
          <a:xfrm>
            <a:off x="187037" y="1194954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Tufano 21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1B1F8E-787C-FB1C-EFBB-9035AC1B4EB1}"/>
              </a:ext>
            </a:extLst>
          </p:cNvPr>
          <p:cNvSpPr txBox="1"/>
          <p:nvPr/>
        </p:nvSpPr>
        <p:spPr>
          <a:xfrm>
            <a:off x="187037" y="1899258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Tufano 22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EE2A3D7-5438-60AE-A7CB-0EE723058076}"/>
              </a:ext>
            </a:extLst>
          </p:cNvPr>
          <p:cNvSpPr txBox="1"/>
          <p:nvPr/>
        </p:nvSpPr>
        <p:spPr>
          <a:xfrm>
            <a:off x="187036" y="2603562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CodeReviewer</a:t>
            </a:r>
            <a:r>
              <a:rPr lang="en-US" altLang="zh-CN" dirty="0"/>
              <a:t> 22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45D7BB3-ACD5-8E46-8BDF-C1BDA303BABD}"/>
              </a:ext>
            </a:extLst>
          </p:cNvPr>
          <p:cNvSpPr txBox="1"/>
          <p:nvPr/>
        </p:nvSpPr>
        <p:spPr>
          <a:xfrm>
            <a:off x="2417617" y="2557443"/>
            <a:ext cx="9371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只保留一轮</a:t>
            </a:r>
            <a:r>
              <a:rPr lang="en-US" altLang="zh-CN" dirty="0">
                <a:solidFill>
                  <a:srgbClr val="00B050"/>
                </a:solidFill>
              </a:rPr>
              <a:t>commit level</a:t>
            </a:r>
            <a:r>
              <a:rPr lang="zh-CN" altLang="en-US" dirty="0">
                <a:solidFill>
                  <a:srgbClr val="00B050"/>
                </a:solidFill>
              </a:rPr>
              <a:t>的</a:t>
            </a:r>
            <a:r>
              <a:rPr lang="en-US" altLang="zh-CN" dirty="0">
                <a:solidFill>
                  <a:srgbClr val="00B050"/>
                </a:solidFill>
              </a:rPr>
              <a:t>PR</a:t>
            </a:r>
            <a:r>
              <a:rPr lang="en-US" altLang="zh-CN" dirty="0"/>
              <a:t>, </a:t>
            </a:r>
            <a:r>
              <a:rPr lang="zh-CN" altLang="en-US" dirty="0"/>
              <a:t>主要提出来 </a:t>
            </a:r>
            <a:r>
              <a:rPr lang="en-US" altLang="zh-CN" dirty="0"/>
              <a:t>code diff</a:t>
            </a:r>
            <a:r>
              <a:rPr lang="zh-CN" altLang="en-US" dirty="0"/>
              <a:t>格式、四种预训练任务、做了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6E68A8-6221-F7CA-470C-A495731F03DC}"/>
              </a:ext>
            </a:extLst>
          </p:cNvPr>
          <p:cNvSpPr txBox="1"/>
          <p:nvPr/>
        </p:nvSpPr>
        <p:spPr>
          <a:xfrm>
            <a:off x="179021" y="3325090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AUGER 22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BC13412-2440-9E16-D897-44A2F7477F63}"/>
              </a:ext>
            </a:extLst>
          </p:cNvPr>
          <p:cNvSpPr txBox="1"/>
          <p:nvPr/>
        </p:nvSpPr>
        <p:spPr>
          <a:xfrm>
            <a:off x="2417618" y="1304700"/>
            <a:ext cx="10044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收集了</a:t>
            </a:r>
            <a:r>
              <a:rPr lang="zh-CN" altLang="en-US" dirty="0">
                <a:solidFill>
                  <a:srgbClr val="00B050"/>
                </a:solidFill>
              </a:rPr>
              <a:t>多个</a:t>
            </a:r>
            <a:r>
              <a:rPr lang="en-US" altLang="zh-CN" dirty="0">
                <a:solidFill>
                  <a:srgbClr val="00B050"/>
                </a:solidFill>
              </a:rPr>
              <a:t>commit level</a:t>
            </a:r>
            <a:r>
              <a:rPr lang="zh-CN" altLang="en-US" dirty="0">
                <a:solidFill>
                  <a:srgbClr val="00B050"/>
                </a:solidFill>
              </a:rPr>
              <a:t>的</a:t>
            </a:r>
            <a:r>
              <a:rPr lang="en-US" altLang="zh-CN" dirty="0">
                <a:solidFill>
                  <a:srgbClr val="00B050"/>
                </a:solidFill>
              </a:rPr>
              <a:t>PR</a:t>
            </a:r>
            <a:r>
              <a:rPr lang="zh-CN" altLang="en-US" dirty="0">
                <a:solidFill>
                  <a:srgbClr val="00B050"/>
                </a:solidFill>
              </a:rPr>
              <a:t>的数据</a:t>
            </a:r>
            <a:r>
              <a:rPr lang="zh-CN" altLang="en-US" dirty="0"/>
              <a:t>，但是只关注</a:t>
            </a:r>
            <a:r>
              <a:rPr lang="en-US" altLang="zh-CN" dirty="0"/>
              <a:t>function level</a:t>
            </a:r>
            <a:r>
              <a:rPr lang="zh-CN" altLang="en-US" dirty="0"/>
              <a:t>、预研究做了</a:t>
            </a:r>
            <a:r>
              <a:rPr lang="en-US" altLang="zh-CN" dirty="0"/>
              <a:t>abstract</a:t>
            </a:r>
            <a:r>
              <a:rPr lang="zh-CN" altLang="en-US" dirty="0"/>
              <a:t>、然后预训练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8F8F66-C5E3-39EE-64D1-9897957E5C78}"/>
              </a:ext>
            </a:extLst>
          </p:cNvPr>
          <p:cNvSpPr txBox="1"/>
          <p:nvPr/>
        </p:nvSpPr>
        <p:spPr>
          <a:xfrm>
            <a:off x="2417617" y="1899258"/>
            <a:ext cx="6739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相同的收集过程</a:t>
            </a:r>
            <a:r>
              <a:rPr lang="zh-CN" altLang="en-US" dirty="0"/>
              <a:t>，同样只关注</a:t>
            </a:r>
            <a:r>
              <a:rPr lang="en-US" altLang="zh-CN" dirty="0"/>
              <a:t>function level</a:t>
            </a:r>
            <a:r>
              <a:rPr lang="zh-CN" altLang="en-US" dirty="0"/>
              <a:t>、做了正经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689655-1F02-C892-F8DD-A6A914ED8013}"/>
              </a:ext>
            </a:extLst>
          </p:cNvPr>
          <p:cNvSpPr txBox="1"/>
          <p:nvPr/>
        </p:nvSpPr>
        <p:spPr>
          <a:xfrm>
            <a:off x="2417617" y="3256102"/>
            <a:ext cx="10508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没说保不保留，默认保留</a:t>
            </a:r>
            <a:r>
              <a:rPr lang="zh-CN" altLang="en-US" dirty="0"/>
              <a:t>，主要提出</a:t>
            </a:r>
            <a:r>
              <a:rPr lang="en-US" altLang="zh-CN" dirty="0"/>
              <a:t>&lt;review line tag&gt;</a:t>
            </a:r>
            <a:r>
              <a:rPr lang="zh-CN" altLang="en-US" dirty="0"/>
              <a:t>标签，将该标签放到对应的</a:t>
            </a:r>
            <a:r>
              <a:rPr lang="en-US" altLang="zh-CN" dirty="0"/>
              <a:t>line</a:t>
            </a:r>
            <a:r>
              <a:rPr lang="zh-CN" altLang="en-US" dirty="0"/>
              <a:t>，然后</a:t>
            </a:r>
            <a:r>
              <a:rPr lang="en-US" altLang="zh-CN" dirty="0"/>
              <a:t>pretrain T5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98FC725-F03E-ABBA-F95B-0C6D1FE84F52}"/>
              </a:ext>
            </a:extLst>
          </p:cNvPr>
          <p:cNvSpPr txBox="1"/>
          <p:nvPr/>
        </p:nvSpPr>
        <p:spPr>
          <a:xfrm>
            <a:off x="187036" y="3954761"/>
            <a:ext cx="1745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Task Factor  24 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574437C-E90B-9969-4C3F-738020BB79CE}"/>
              </a:ext>
            </a:extLst>
          </p:cNvPr>
          <p:cNvSpPr txBox="1"/>
          <p:nvPr/>
        </p:nvSpPr>
        <p:spPr>
          <a:xfrm>
            <a:off x="2417617" y="3954761"/>
            <a:ext cx="10643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没说保不保留，默认保留，</a:t>
            </a:r>
            <a:r>
              <a:rPr lang="zh-CN" altLang="en-US" dirty="0"/>
              <a:t>主要探究不同输入格式的影响，然后加了一个图注意力网络模块给</a:t>
            </a:r>
            <a:r>
              <a:rPr lang="en-US" altLang="zh-CN" dirty="0"/>
              <a:t>CodeT5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2BD0B55-6075-ACD9-D2A1-F0619581AB56}"/>
              </a:ext>
            </a:extLst>
          </p:cNvPr>
          <p:cNvSpPr txBox="1"/>
          <p:nvPr/>
        </p:nvSpPr>
        <p:spPr>
          <a:xfrm>
            <a:off x="179021" y="4424628"/>
            <a:ext cx="17536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DISCOREV 24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3E3EF3-2A64-CB29-31ED-3A00F2B2373B}"/>
              </a:ext>
            </a:extLst>
          </p:cNvPr>
          <p:cNvSpPr txBox="1"/>
          <p:nvPr/>
        </p:nvSpPr>
        <p:spPr>
          <a:xfrm>
            <a:off x="2417617" y="4424628"/>
            <a:ext cx="10044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00B050"/>
                </a:solidFill>
              </a:rPr>
              <a:t>用的 </a:t>
            </a:r>
            <a:r>
              <a:rPr lang="en-US" altLang="zh-CN" dirty="0" err="1">
                <a:solidFill>
                  <a:srgbClr val="00B050"/>
                </a:solidFill>
              </a:rPr>
              <a:t>CodeReviewer</a:t>
            </a:r>
            <a:r>
              <a:rPr lang="zh-CN" altLang="en-US" dirty="0">
                <a:solidFill>
                  <a:srgbClr val="00B050"/>
                </a:solidFill>
              </a:rPr>
              <a:t>的数据集</a:t>
            </a:r>
            <a:r>
              <a:rPr lang="zh-CN" altLang="en-US" dirty="0"/>
              <a:t>，  联合训练</a:t>
            </a:r>
            <a:r>
              <a:rPr lang="en-US" altLang="zh-CN" dirty="0"/>
              <a:t>Teacher-Student</a:t>
            </a:r>
            <a:r>
              <a:rPr lang="zh-CN" altLang="en-US" dirty="0"/>
              <a:t>模型， 但还是</a:t>
            </a:r>
            <a:r>
              <a:rPr lang="en-US" altLang="zh-CN" dirty="0"/>
              <a:t>T5</a:t>
            </a:r>
            <a:r>
              <a:rPr lang="zh-CN" altLang="en-US" dirty="0"/>
              <a:t>、</a:t>
            </a:r>
            <a:r>
              <a:rPr lang="en-US" altLang="zh-CN" dirty="0"/>
              <a:t>CodeT5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3996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7917B5CE-B665-BB28-46DA-068A6BB3EE7B}"/>
              </a:ext>
            </a:extLst>
          </p:cNvPr>
          <p:cNvSpPr/>
          <p:nvPr/>
        </p:nvSpPr>
        <p:spPr>
          <a:xfrm>
            <a:off x="6547483" y="5923705"/>
            <a:ext cx="1966854" cy="85072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t"/>
          <a:lstStyle/>
          <a:p>
            <a:r>
              <a:rPr lang="en-US" altLang="zh-CN" sz="1600" dirty="0"/>
              <a:t>1.Question</a:t>
            </a:r>
          </a:p>
          <a:p>
            <a:r>
              <a:rPr lang="en-US" altLang="zh-CN" sz="1600" dirty="0"/>
              <a:t>2.Request Change</a:t>
            </a:r>
          </a:p>
          <a:p>
            <a:r>
              <a:rPr lang="en-US" altLang="zh-CN" sz="1600" dirty="0"/>
              <a:t>3.Approve</a:t>
            </a:r>
          </a:p>
          <a:p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AF6753B-E729-A391-9363-717D84492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现在实现的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04D74F9-A2AD-6FAD-DF9D-D99FF39DCFA0}"/>
              </a:ext>
            </a:extLst>
          </p:cNvPr>
          <p:cNvSpPr/>
          <p:nvPr/>
        </p:nvSpPr>
        <p:spPr>
          <a:xfrm>
            <a:off x="749311" y="4773926"/>
            <a:ext cx="935293" cy="3962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Diff 2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E1D219FC-ECED-4030-1836-8AA2F9FEC986}"/>
              </a:ext>
            </a:extLst>
          </p:cNvPr>
          <p:cNvCxnSpPr>
            <a:cxnSpLocks/>
          </p:cNvCxnSpPr>
          <p:nvPr/>
        </p:nvCxnSpPr>
        <p:spPr>
          <a:xfrm>
            <a:off x="1986115" y="4957378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形 9" descr="机器人 纯色填充">
            <a:extLst>
              <a:ext uri="{FF2B5EF4-FFF2-40B4-BE49-F238E27FC236}">
                <a16:creationId xmlns:a16="http://schemas.microsoft.com/office/drawing/2014/main" id="{46C193AA-E4D2-F966-1788-0B41A6FCF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06761" y="4500178"/>
            <a:ext cx="914400" cy="914400"/>
          </a:xfrm>
          <a:prstGeom prst="rect">
            <a:avLst/>
          </a:prstGeom>
        </p:spPr>
      </p:pic>
      <p:sp>
        <p:nvSpPr>
          <p:cNvPr id="12" name="对话气泡: 圆角矩形 11">
            <a:extLst>
              <a:ext uri="{FF2B5EF4-FFF2-40B4-BE49-F238E27FC236}">
                <a16:creationId xmlns:a16="http://schemas.microsoft.com/office/drawing/2014/main" id="{60B14AEA-D87E-42E8-6AC7-CD9F72008706}"/>
              </a:ext>
            </a:extLst>
          </p:cNvPr>
          <p:cNvSpPr/>
          <p:nvPr/>
        </p:nvSpPr>
        <p:spPr>
          <a:xfrm>
            <a:off x="3398940" y="2373030"/>
            <a:ext cx="2492478" cy="1875299"/>
          </a:xfrm>
          <a:prstGeom prst="wedgeRoundRectCallou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形 12" descr="用户 纯色填充">
            <a:extLst>
              <a:ext uri="{FF2B5EF4-FFF2-40B4-BE49-F238E27FC236}">
                <a16:creationId xmlns:a16="http://schemas.microsoft.com/office/drawing/2014/main" id="{4D8D067B-AF76-C904-4A94-D722F82780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9660" y="5215165"/>
            <a:ext cx="708540" cy="708540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4B600954-FE82-EEA4-90EE-23E3FD05310B}"/>
              </a:ext>
            </a:extLst>
          </p:cNvPr>
          <p:cNvSpPr/>
          <p:nvPr/>
        </p:nvSpPr>
        <p:spPr>
          <a:xfrm>
            <a:off x="-576986" y="5727981"/>
            <a:ext cx="245674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25DDBD8A-C014-9CDE-2E29-271A0164F3D7}"/>
              </a:ext>
            </a:extLst>
          </p:cNvPr>
          <p:cNvGrpSpPr/>
          <p:nvPr/>
        </p:nvGrpSpPr>
        <p:grpSpPr>
          <a:xfrm>
            <a:off x="6248002" y="626038"/>
            <a:ext cx="4564296" cy="2120772"/>
            <a:chOff x="6656439" y="3394547"/>
            <a:chExt cx="4564296" cy="2120772"/>
          </a:xfrm>
        </p:grpSpPr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943F5EFF-156D-5B35-94BE-AE85AF2C0E47}"/>
                </a:ext>
              </a:extLst>
            </p:cNvPr>
            <p:cNvSpPr/>
            <p:nvPr/>
          </p:nvSpPr>
          <p:spPr>
            <a:xfrm>
              <a:off x="6656439" y="3394547"/>
              <a:ext cx="4564296" cy="2120772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7" name="图形 16" descr="机器人 纯色填充">
              <a:extLst>
                <a:ext uri="{FF2B5EF4-FFF2-40B4-BE49-F238E27FC236}">
                  <a16:creationId xmlns:a16="http://schemas.microsoft.com/office/drawing/2014/main" id="{AD67AB96-CD58-30A5-336E-3005EE726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369277" y="3543197"/>
              <a:ext cx="914400" cy="914400"/>
            </a:xfrm>
            <a:prstGeom prst="rect">
              <a:avLst/>
            </a:prstGeom>
          </p:spPr>
        </p:pic>
        <p:pic>
          <p:nvPicPr>
            <p:cNvPr id="18" name="图形 17" descr="机器人 纯色填充">
              <a:extLst>
                <a:ext uri="{FF2B5EF4-FFF2-40B4-BE49-F238E27FC236}">
                  <a16:creationId xmlns:a16="http://schemas.microsoft.com/office/drawing/2014/main" id="{88900C56-F5E7-38FB-E2A9-0E4B24EAD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8374" y="3543197"/>
              <a:ext cx="914400" cy="914400"/>
            </a:xfrm>
            <a:prstGeom prst="rect">
              <a:avLst/>
            </a:prstGeom>
          </p:spPr>
        </p:pic>
        <p:pic>
          <p:nvPicPr>
            <p:cNvPr id="19" name="图形 18" descr="机器人 纯色填充">
              <a:extLst>
                <a:ext uri="{FF2B5EF4-FFF2-40B4-BE49-F238E27FC236}">
                  <a16:creationId xmlns:a16="http://schemas.microsoft.com/office/drawing/2014/main" id="{FA1869AB-0823-66E3-DF79-40BA8369D66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647471" y="3541865"/>
              <a:ext cx="914400" cy="914400"/>
            </a:xfrm>
            <a:prstGeom prst="rect">
              <a:avLst/>
            </a:prstGeom>
          </p:spPr>
        </p:pic>
        <p:pic>
          <p:nvPicPr>
            <p:cNvPr id="20" name="图形 19" descr="机器人 纯色填充">
              <a:extLst>
                <a:ext uri="{FF2B5EF4-FFF2-40B4-BE49-F238E27FC236}">
                  <a16:creationId xmlns:a16="http://schemas.microsoft.com/office/drawing/2014/main" id="{8DFBAC70-4172-E47A-A7FD-FEB5AF4A42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07910" y="3540533"/>
              <a:ext cx="914400" cy="914400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C3695B-A933-2FC5-1328-4364FC1015B6}"/>
                </a:ext>
              </a:extLst>
            </p:cNvPr>
            <p:cNvSpPr/>
            <p:nvPr/>
          </p:nvSpPr>
          <p:spPr>
            <a:xfrm>
              <a:off x="7844105" y="4625316"/>
              <a:ext cx="127819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b="0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security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3BD82A3-9FF8-4D88-C23A-9483B476721B}"/>
                </a:ext>
              </a:extLst>
            </p:cNvPr>
            <p:cNvSpPr/>
            <p:nvPr/>
          </p:nvSpPr>
          <p:spPr>
            <a:xfrm>
              <a:off x="9227244" y="4606501"/>
              <a:ext cx="192088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performance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1D12F570-2B48-6C25-7E16-BCE4EB1720C3}"/>
                </a:ext>
              </a:extLst>
            </p:cNvPr>
            <p:cNvSpPr/>
            <p:nvPr/>
          </p:nvSpPr>
          <p:spPr>
            <a:xfrm>
              <a:off x="8608142" y="4315755"/>
              <a:ext cx="914400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style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4CF82FC3-3D04-5E72-6953-2C69DDA6A3A3}"/>
                </a:ext>
              </a:extLst>
            </p:cNvPr>
            <p:cNvSpPr/>
            <p:nvPr/>
          </p:nvSpPr>
          <p:spPr>
            <a:xfrm>
              <a:off x="6789504" y="4329291"/>
              <a:ext cx="183797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24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functionality</a:t>
              </a:r>
              <a:endParaRPr lang="zh-CN" altLang="en-US" sz="2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sp>
        <p:nvSpPr>
          <p:cNvPr id="28" name="矩形 27">
            <a:extLst>
              <a:ext uri="{FF2B5EF4-FFF2-40B4-BE49-F238E27FC236}">
                <a16:creationId xmlns:a16="http://schemas.microsoft.com/office/drawing/2014/main" id="{F8B44CFE-AEBB-0157-6CB6-67B8F7F22D40}"/>
              </a:ext>
            </a:extLst>
          </p:cNvPr>
          <p:cNvSpPr/>
          <p:nvPr/>
        </p:nvSpPr>
        <p:spPr>
          <a:xfrm>
            <a:off x="3603522" y="1919288"/>
            <a:ext cx="93326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Plan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pic>
        <p:nvPicPr>
          <p:cNvPr id="29" name="图形 28" descr="机器人 纯色填充">
            <a:extLst>
              <a:ext uri="{FF2B5EF4-FFF2-40B4-BE49-F238E27FC236}">
                <a16:creationId xmlns:a16="http://schemas.microsoft.com/office/drawing/2014/main" id="{6473216B-EF7E-DD47-F2BF-A15F80B8BA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55524" y="2504063"/>
            <a:ext cx="629264" cy="629264"/>
          </a:xfrm>
          <a:prstGeom prst="rect">
            <a:avLst/>
          </a:prstGeom>
        </p:spPr>
      </p:pic>
      <p:pic>
        <p:nvPicPr>
          <p:cNvPr id="30" name="图形 29" descr="机器人 纯色填充">
            <a:extLst>
              <a:ext uri="{FF2B5EF4-FFF2-40B4-BE49-F238E27FC236}">
                <a16:creationId xmlns:a16="http://schemas.microsoft.com/office/drawing/2014/main" id="{FAFB6570-3A3D-631E-2982-471A73976E7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19051" y="3209654"/>
            <a:ext cx="702209" cy="702209"/>
          </a:xfrm>
          <a:prstGeom prst="rect">
            <a:avLst/>
          </a:prstGeom>
        </p:spPr>
      </p:pic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FCE84539-EA69-F48E-9545-6A4267BD704C}"/>
              </a:ext>
            </a:extLst>
          </p:cNvPr>
          <p:cNvCxnSpPr>
            <a:cxnSpLocks/>
          </p:cNvCxnSpPr>
          <p:nvPr/>
        </p:nvCxnSpPr>
        <p:spPr>
          <a:xfrm flipH="1">
            <a:off x="4477108" y="1884483"/>
            <a:ext cx="1860135" cy="14395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 34">
            <a:extLst>
              <a:ext uri="{FF2B5EF4-FFF2-40B4-BE49-F238E27FC236}">
                <a16:creationId xmlns:a16="http://schemas.microsoft.com/office/drawing/2014/main" id="{2F17A507-FA58-6A31-8AB5-96EC08A15AEC}"/>
              </a:ext>
            </a:extLst>
          </p:cNvPr>
          <p:cNvSpPr/>
          <p:nvPr/>
        </p:nvSpPr>
        <p:spPr>
          <a:xfrm>
            <a:off x="4877154" y="2299657"/>
            <a:ext cx="1181735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select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8A774CF4-341F-6BB5-D6DE-957B60940E2A}"/>
              </a:ext>
            </a:extLst>
          </p:cNvPr>
          <p:cNvCxnSpPr>
            <a:cxnSpLocks/>
          </p:cNvCxnSpPr>
          <p:nvPr/>
        </p:nvCxnSpPr>
        <p:spPr>
          <a:xfrm>
            <a:off x="4546852" y="4964214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图形 39" descr="机器人 纯色填充">
            <a:extLst>
              <a:ext uri="{FF2B5EF4-FFF2-40B4-BE49-F238E27FC236}">
                <a16:creationId xmlns:a16="http://schemas.microsoft.com/office/drawing/2014/main" id="{F2AFD9E6-ABCA-19C8-1EBC-9F9C7EFE7B3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503640" y="4507014"/>
            <a:ext cx="914400" cy="914400"/>
          </a:xfrm>
          <a:prstGeom prst="rect">
            <a:avLst/>
          </a:prstGeom>
        </p:spPr>
      </p:pic>
      <p:sp>
        <p:nvSpPr>
          <p:cNvPr id="42" name="矩形 41">
            <a:extLst>
              <a:ext uri="{FF2B5EF4-FFF2-40B4-BE49-F238E27FC236}">
                <a16:creationId xmlns:a16="http://schemas.microsoft.com/office/drawing/2014/main" id="{D7660EEE-7E2A-7BAB-E0EC-6F6CA83D142C}"/>
              </a:ext>
            </a:extLst>
          </p:cNvPr>
          <p:cNvSpPr/>
          <p:nvPr/>
        </p:nvSpPr>
        <p:spPr>
          <a:xfrm>
            <a:off x="6365407" y="4078676"/>
            <a:ext cx="131157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Step n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F2F2085-A010-A750-E420-637AC70D2C8D}"/>
              </a:ext>
            </a:extLst>
          </p:cNvPr>
          <p:cNvSpPr/>
          <p:nvPr/>
        </p:nvSpPr>
        <p:spPr>
          <a:xfrm>
            <a:off x="6058890" y="5297218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Robot n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193C1208-3524-469E-FC9A-2754B4E8E015}"/>
              </a:ext>
            </a:extLst>
          </p:cNvPr>
          <p:cNvCxnSpPr>
            <a:cxnSpLocks/>
          </p:cNvCxnSpPr>
          <p:nvPr/>
        </p:nvCxnSpPr>
        <p:spPr>
          <a:xfrm flipH="1">
            <a:off x="1592826" y="5638075"/>
            <a:ext cx="4772581" cy="28563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81F1F51D-1F0B-7AD9-44AC-51E30BF78D2E}"/>
              </a:ext>
            </a:extLst>
          </p:cNvPr>
          <p:cNvSpPr/>
          <p:nvPr/>
        </p:nvSpPr>
        <p:spPr>
          <a:xfrm>
            <a:off x="2501722" y="5666427"/>
            <a:ext cx="3136865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Communicate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9EBAD87-0B03-75AD-B74F-D1A5574CE988}"/>
              </a:ext>
            </a:extLst>
          </p:cNvPr>
          <p:cNvSpPr/>
          <p:nvPr/>
        </p:nvSpPr>
        <p:spPr>
          <a:xfrm>
            <a:off x="6790162" y="5557364"/>
            <a:ext cx="148149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Actions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313A0C8-983A-57D7-D05A-4FC432968F7F}"/>
              </a:ext>
            </a:extLst>
          </p:cNvPr>
          <p:cNvSpPr/>
          <p:nvPr/>
        </p:nvSpPr>
        <p:spPr>
          <a:xfrm>
            <a:off x="565383" y="6124454"/>
            <a:ext cx="1570703" cy="592996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1.Answer  2.Change</a:t>
            </a:r>
            <a:endParaRPr lang="zh-CN" altLang="en-US" dirty="0"/>
          </a:p>
        </p:txBody>
      </p: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C477C20F-0226-CCD3-851F-00D8205CC6E9}"/>
              </a:ext>
            </a:extLst>
          </p:cNvPr>
          <p:cNvCxnSpPr>
            <a:cxnSpLocks/>
          </p:cNvCxnSpPr>
          <p:nvPr/>
        </p:nvCxnSpPr>
        <p:spPr>
          <a:xfrm>
            <a:off x="7530910" y="4968054"/>
            <a:ext cx="1720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图形 55" descr="机器人 纯色填充">
            <a:extLst>
              <a:ext uri="{FF2B5EF4-FFF2-40B4-BE49-F238E27FC236}">
                <a16:creationId xmlns:a16="http://schemas.microsoft.com/office/drawing/2014/main" id="{11C49E72-1BDF-0884-6A43-5BFA6C7A760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240529" y="4474637"/>
            <a:ext cx="914400" cy="914400"/>
          </a:xfrm>
          <a:prstGeom prst="rect">
            <a:avLst/>
          </a:prstGeom>
        </p:spPr>
      </p:pic>
      <p:sp>
        <p:nvSpPr>
          <p:cNvPr id="57" name="矩形 56">
            <a:extLst>
              <a:ext uri="{FF2B5EF4-FFF2-40B4-BE49-F238E27FC236}">
                <a16:creationId xmlns:a16="http://schemas.microsoft.com/office/drawing/2014/main" id="{D821526F-2427-AAB2-AE11-CE5CD7DC53F7}"/>
              </a:ext>
            </a:extLst>
          </p:cNvPr>
          <p:cNvSpPr/>
          <p:nvPr/>
        </p:nvSpPr>
        <p:spPr>
          <a:xfrm>
            <a:off x="8883329" y="4012404"/>
            <a:ext cx="185179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Conclude</a:t>
            </a:r>
            <a:endParaRPr lang="zh-CN" alt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EACF53D0-9CAA-0BBB-A958-9BAC23191035}"/>
              </a:ext>
            </a:extLst>
          </p:cNvPr>
          <p:cNvSpPr/>
          <p:nvPr/>
        </p:nvSpPr>
        <p:spPr>
          <a:xfrm>
            <a:off x="10086383" y="4931837"/>
            <a:ext cx="647179" cy="584775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3531171-0F41-8BBA-C3AC-567C1F6CB6D0}"/>
              </a:ext>
            </a:extLst>
          </p:cNvPr>
          <p:cNvSpPr/>
          <p:nvPr/>
        </p:nvSpPr>
        <p:spPr>
          <a:xfrm>
            <a:off x="10086383" y="5604871"/>
            <a:ext cx="647179" cy="584775"/>
          </a:xfrm>
          <a:prstGeom prst="ellipse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E123ACD-8AAF-AF16-F983-ABFD23E5E88C}"/>
              </a:ext>
            </a:extLst>
          </p:cNvPr>
          <p:cNvSpPr/>
          <p:nvPr/>
        </p:nvSpPr>
        <p:spPr>
          <a:xfrm>
            <a:off x="10255072" y="5045888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Review comment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34B12541-4B58-B0BC-5BAF-AD26F01B4C1F}"/>
              </a:ext>
            </a:extLst>
          </p:cNvPr>
          <p:cNvSpPr/>
          <p:nvPr/>
        </p:nvSpPr>
        <p:spPr>
          <a:xfrm>
            <a:off x="10255072" y="5751714"/>
            <a:ext cx="1756360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Revised code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74904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14090902-E5A0-BAEE-AACB-C1C6E99CB6FA}"/>
              </a:ext>
            </a:extLst>
          </p:cNvPr>
          <p:cNvSpPr/>
          <p:nvPr/>
        </p:nvSpPr>
        <p:spPr>
          <a:xfrm>
            <a:off x="3544837" y="3691866"/>
            <a:ext cx="2225756" cy="275075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2</a:t>
            </a:r>
            <a:endParaRPr lang="zh-CN" altLang="en-US" dirty="0"/>
          </a:p>
        </p:txBody>
      </p: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2D640139-B0F8-23A8-EB9D-EC7D79C8B759}"/>
              </a:ext>
            </a:extLst>
          </p:cNvPr>
          <p:cNvSpPr/>
          <p:nvPr/>
        </p:nvSpPr>
        <p:spPr>
          <a:xfrm>
            <a:off x="3552540" y="5649052"/>
            <a:ext cx="2195687" cy="4732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 Diff </a:t>
            </a:r>
            <a:r>
              <a:rPr lang="en-US" altLang="zh-CN" dirty="0" err="1"/>
              <a:t>i</a:t>
            </a:r>
            <a:endParaRPr lang="en-US" altLang="zh-CN" dirty="0"/>
          </a:p>
          <a:p>
            <a:pPr algn="ctr"/>
            <a:r>
              <a:rPr lang="en-US" altLang="zh-CN" dirty="0"/>
              <a:t>Class   Skeleton</a:t>
            </a:r>
            <a:endParaRPr lang="zh-CN" alt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2879749-7AF2-85C4-730A-4F75C30B6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pipeline</a:t>
            </a:r>
            <a:endParaRPr lang="zh-CN" altLang="en-US" dirty="0"/>
          </a:p>
        </p:txBody>
      </p:sp>
      <p:pic>
        <p:nvPicPr>
          <p:cNvPr id="49" name="图片 48">
            <a:extLst>
              <a:ext uri="{FF2B5EF4-FFF2-40B4-BE49-F238E27FC236}">
                <a16:creationId xmlns:a16="http://schemas.microsoft.com/office/drawing/2014/main" id="{79F2659C-05B3-BA76-608C-0C212AFAF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5013" y="749832"/>
            <a:ext cx="6916532" cy="3361210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9410FA04-8F0C-91CC-D6E2-228C803DF080}"/>
              </a:ext>
            </a:extLst>
          </p:cNvPr>
          <p:cNvGrpSpPr/>
          <p:nvPr/>
        </p:nvGrpSpPr>
        <p:grpSpPr>
          <a:xfrm>
            <a:off x="75964" y="3356553"/>
            <a:ext cx="2480913" cy="2697257"/>
            <a:chOff x="1140543" y="338589"/>
            <a:chExt cx="2654710" cy="2906056"/>
          </a:xfrm>
        </p:grpSpPr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15AFCD57-53B0-0300-043D-B1493ECD09DB}"/>
                </a:ext>
              </a:extLst>
            </p:cNvPr>
            <p:cNvSpPr txBox="1"/>
            <p:nvPr/>
          </p:nvSpPr>
          <p:spPr>
            <a:xfrm>
              <a:off x="2177847" y="338589"/>
              <a:ext cx="5801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/>
                <a:t>PR</a:t>
              </a:r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F766A430-77AE-33D5-E65F-3E308B6988EC}"/>
                </a:ext>
              </a:extLst>
            </p:cNvPr>
            <p:cNvGrpSpPr/>
            <p:nvPr/>
          </p:nvGrpSpPr>
          <p:grpSpPr>
            <a:xfrm>
              <a:off x="1140543" y="707921"/>
              <a:ext cx="2654710" cy="2536724"/>
              <a:chOff x="1140543" y="707921"/>
              <a:chExt cx="2654710" cy="2536724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487DA555-F42D-A4DF-F66D-40757ADCAB9E}"/>
                  </a:ext>
                </a:extLst>
              </p:cNvPr>
              <p:cNvSpPr/>
              <p:nvPr/>
            </p:nvSpPr>
            <p:spPr>
              <a:xfrm>
                <a:off x="1140543" y="707921"/>
                <a:ext cx="2654710" cy="2536724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2BCA8737-D309-3CF6-37FA-8DD5CED03B1F}"/>
                  </a:ext>
                </a:extLst>
              </p:cNvPr>
              <p:cNvSpPr/>
              <p:nvPr/>
            </p:nvSpPr>
            <p:spPr>
              <a:xfrm>
                <a:off x="1289256" y="800417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1</a:t>
                </a:r>
                <a:endParaRPr lang="zh-CN" altLang="en-US" dirty="0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30194B06-D156-8B08-0ECD-5311ED32C0B8}"/>
                  </a:ext>
                </a:extLst>
              </p:cNvPr>
              <p:cNvSpPr/>
              <p:nvPr/>
            </p:nvSpPr>
            <p:spPr>
              <a:xfrm>
                <a:off x="1289256" y="1346395"/>
                <a:ext cx="2357284" cy="369332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Commit 2</a:t>
                </a:r>
                <a:endParaRPr lang="zh-CN" altLang="en-US" dirty="0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44FA233-FBC9-6DA1-A7E0-41144A39C4CD}"/>
                  </a:ext>
                </a:extLst>
              </p:cNvPr>
              <p:cNvSpPr/>
              <p:nvPr/>
            </p:nvSpPr>
            <p:spPr>
              <a:xfrm>
                <a:off x="1289256" y="1900392"/>
                <a:ext cx="2357284" cy="124593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4C5EAD4E-7D6F-94F4-F6A9-D251BECE7BEA}"/>
                  </a:ext>
                </a:extLst>
              </p:cNvPr>
              <p:cNvSpPr/>
              <p:nvPr/>
            </p:nvSpPr>
            <p:spPr>
              <a:xfrm>
                <a:off x="1388808" y="2085059"/>
                <a:ext cx="2158181" cy="361476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File 1</a:t>
                </a:r>
                <a:endParaRPr lang="zh-CN" altLang="en-US" dirty="0"/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85915931-99A6-E387-A2E8-8CA7FC40A5BD}"/>
                  </a:ext>
                </a:extLst>
              </p:cNvPr>
              <p:cNvSpPr/>
              <p:nvPr/>
            </p:nvSpPr>
            <p:spPr>
              <a:xfrm>
                <a:off x="1388808" y="2578197"/>
                <a:ext cx="2158181" cy="43646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7FA991F2-084B-3D35-CA7C-6B12887C18AD}"/>
                  </a:ext>
                </a:extLst>
              </p:cNvPr>
              <p:cNvSpPr/>
              <p:nvPr/>
            </p:nvSpPr>
            <p:spPr>
              <a:xfrm>
                <a:off x="2566823" y="2043439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1</a:t>
                </a:r>
                <a:endParaRPr lang="zh-CN" altLang="en-US" dirty="0"/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F192A2DC-BE25-7BB6-9BB0-EE636E149D3A}"/>
                  </a:ext>
                </a:extLst>
              </p:cNvPr>
              <p:cNvSpPr/>
              <p:nvPr/>
            </p:nvSpPr>
            <p:spPr>
              <a:xfrm>
                <a:off x="2571275" y="2598284"/>
                <a:ext cx="935293" cy="3962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/>
                  <a:t>Diff 2</a:t>
                </a:r>
                <a:endParaRPr lang="zh-CN" altLang="en-US" dirty="0"/>
              </a:p>
            </p:txBody>
          </p:sp>
        </p:grpSp>
      </p:grp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3BE6FA0A-7F61-4585-2635-AF861E306069}"/>
              </a:ext>
            </a:extLst>
          </p:cNvPr>
          <p:cNvCxnSpPr/>
          <p:nvPr/>
        </p:nvCxnSpPr>
        <p:spPr>
          <a:xfrm>
            <a:off x="2344041" y="5510151"/>
            <a:ext cx="12893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A85FF680-28EA-4B82-8EF2-52C563A630E9}"/>
              </a:ext>
            </a:extLst>
          </p:cNvPr>
          <p:cNvSpPr/>
          <p:nvPr/>
        </p:nvSpPr>
        <p:spPr>
          <a:xfrm>
            <a:off x="8772773" y="4111042"/>
            <a:ext cx="2994351" cy="2260942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B22F6E8D-3BE9-5860-4459-2F6D21CC1AF8}"/>
              </a:ext>
            </a:extLst>
          </p:cNvPr>
          <p:cNvSpPr/>
          <p:nvPr/>
        </p:nvSpPr>
        <p:spPr>
          <a:xfrm>
            <a:off x="3641939" y="4758080"/>
            <a:ext cx="2016890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File 1 Skeleton</a:t>
            </a:r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0A109564-63C2-92DF-2E5B-46A78E718914}"/>
              </a:ext>
            </a:extLst>
          </p:cNvPr>
          <p:cNvSpPr/>
          <p:nvPr/>
        </p:nvSpPr>
        <p:spPr>
          <a:xfrm>
            <a:off x="3641939" y="5161265"/>
            <a:ext cx="2016890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File 2 Skeleton</a:t>
            </a:r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E6B72BC9-030D-66DC-3AA8-9724475D8B65}"/>
              </a:ext>
            </a:extLst>
          </p:cNvPr>
          <p:cNvSpPr/>
          <p:nvPr/>
        </p:nvSpPr>
        <p:spPr>
          <a:xfrm>
            <a:off x="3579467" y="5708577"/>
            <a:ext cx="253690" cy="36781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6A9EDF8-2439-1F18-CAB6-1D8E80F48A3B}"/>
              </a:ext>
            </a:extLst>
          </p:cNvPr>
          <p:cNvSpPr/>
          <p:nvPr/>
        </p:nvSpPr>
        <p:spPr>
          <a:xfrm>
            <a:off x="3649270" y="3794836"/>
            <a:ext cx="2016890" cy="27513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</a:t>
            </a:r>
            <a:r>
              <a:rPr lang="en-US" altLang="zh-CN" dirty="0" err="1"/>
              <a:t>Discript</a:t>
            </a:r>
            <a:endParaRPr lang="zh-CN" altLang="en-US" dirty="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D2E9A038-5FEE-3898-CA11-C217F57150AF}"/>
              </a:ext>
            </a:extLst>
          </p:cNvPr>
          <p:cNvSpPr/>
          <p:nvPr/>
        </p:nvSpPr>
        <p:spPr>
          <a:xfrm>
            <a:off x="5789576" y="5684193"/>
            <a:ext cx="1641987" cy="91440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Map  </a:t>
            </a:r>
          </a:p>
          <a:p>
            <a:pPr algn="ctr"/>
            <a:r>
              <a:rPr lang="zh-CN" altLang="en-US" dirty="0"/>
              <a:t>详细信息</a:t>
            </a:r>
            <a:endParaRPr lang="en-US" altLang="zh-CN" dirty="0"/>
          </a:p>
          <a:p>
            <a:pPr algn="ctr"/>
            <a:r>
              <a:rPr lang="en-US" altLang="zh-CN" dirty="0"/>
              <a:t>tool</a:t>
            </a:r>
            <a:endParaRPr lang="zh-CN" altLang="en-US" dirty="0"/>
          </a:p>
        </p:txBody>
      </p:sp>
      <p:pic>
        <p:nvPicPr>
          <p:cNvPr id="93" name="图形 92" descr="机器人 纯色填充">
            <a:extLst>
              <a:ext uri="{FF2B5EF4-FFF2-40B4-BE49-F238E27FC236}">
                <a16:creationId xmlns:a16="http://schemas.microsoft.com/office/drawing/2014/main" id="{C3A9B729-E268-4095-3083-630E1E9018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8623" y="4734652"/>
            <a:ext cx="914400" cy="914400"/>
          </a:xfrm>
          <a:prstGeom prst="rect">
            <a:avLst/>
          </a:prstGeom>
        </p:spPr>
      </p:pic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4F89AE39-B758-D857-2454-CD994EBEE29C}"/>
              </a:ext>
            </a:extLst>
          </p:cNvPr>
          <p:cNvCxnSpPr>
            <a:cxnSpLocks/>
          </p:cNvCxnSpPr>
          <p:nvPr/>
        </p:nvCxnSpPr>
        <p:spPr>
          <a:xfrm>
            <a:off x="5505111" y="5269962"/>
            <a:ext cx="984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D9B788F2-0EE9-3050-8D08-4737D83A8C5E}"/>
              </a:ext>
            </a:extLst>
          </p:cNvPr>
          <p:cNvCxnSpPr>
            <a:cxnSpLocks/>
          </p:cNvCxnSpPr>
          <p:nvPr/>
        </p:nvCxnSpPr>
        <p:spPr>
          <a:xfrm>
            <a:off x="7189763" y="5306723"/>
            <a:ext cx="12413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162BCAF8-887C-F2F1-9C5B-824173F37299}"/>
              </a:ext>
            </a:extLst>
          </p:cNvPr>
          <p:cNvSpPr/>
          <p:nvPr/>
        </p:nvSpPr>
        <p:spPr>
          <a:xfrm>
            <a:off x="8839513" y="4193903"/>
            <a:ext cx="2860875" cy="501921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 Explain,  current and Expect completion</a:t>
            </a:r>
            <a:endParaRPr lang="zh-CN" altLang="en-US" dirty="0"/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44D60937-C6BD-44F4-F060-BF24DD864FF3}"/>
              </a:ext>
            </a:extLst>
          </p:cNvPr>
          <p:cNvSpPr/>
          <p:nvPr/>
        </p:nvSpPr>
        <p:spPr>
          <a:xfrm>
            <a:off x="8839513" y="5240672"/>
            <a:ext cx="2727441" cy="33550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Relevent</a:t>
            </a:r>
            <a:r>
              <a:rPr lang="en-US" altLang="zh-CN" dirty="0"/>
              <a:t> Files Skeleton</a:t>
            </a:r>
            <a:endParaRPr lang="zh-CN" altLang="en-US" dirty="0"/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A8CE7743-3C1E-3ECE-6123-4352367D775C}"/>
              </a:ext>
            </a:extLst>
          </p:cNvPr>
          <p:cNvSpPr/>
          <p:nvPr/>
        </p:nvSpPr>
        <p:spPr>
          <a:xfrm>
            <a:off x="9078698" y="5718661"/>
            <a:ext cx="2195687" cy="4732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 Diff and Explain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8DA4E39-668E-F36D-C531-86EDDC7AFF36}"/>
              </a:ext>
            </a:extLst>
          </p:cNvPr>
          <p:cNvSpPr/>
          <p:nvPr/>
        </p:nvSpPr>
        <p:spPr>
          <a:xfrm>
            <a:off x="3746350" y="4163940"/>
            <a:ext cx="1808066" cy="5412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message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D4CB900-7E45-B39E-59B3-64FAB780E5A8}"/>
              </a:ext>
            </a:extLst>
          </p:cNvPr>
          <p:cNvSpPr/>
          <p:nvPr/>
        </p:nvSpPr>
        <p:spPr>
          <a:xfrm>
            <a:off x="8833699" y="4676033"/>
            <a:ext cx="2811168" cy="43469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Last commit   and  review</a:t>
            </a:r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885A9E-DE3D-09F5-8A8B-327C008C364C}"/>
              </a:ext>
            </a:extLst>
          </p:cNvPr>
          <p:cNvSpPr/>
          <p:nvPr/>
        </p:nvSpPr>
        <p:spPr>
          <a:xfrm>
            <a:off x="3649270" y="3770152"/>
            <a:ext cx="2009560" cy="89635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Last commit   and  review</a:t>
            </a:r>
            <a:endParaRPr lang="zh-CN" altLang="en-US" dirty="0"/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1F607E53-AB78-6F46-D9DF-B8C0D872FEEC}"/>
              </a:ext>
            </a:extLst>
          </p:cNvPr>
          <p:cNvSpPr/>
          <p:nvPr/>
        </p:nvSpPr>
        <p:spPr>
          <a:xfrm>
            <a:off x="10293859" y="310050"/>
            <a:ext cx="1517686" cy="1024158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tools</a:t>
            </a:r>
            <a:endParaRPr lang="zh-CN" altLang="en-US" dirty="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5EE398B-A653-8834-6092-C6778A2CC8F8}"/>
              </a:ext>
            </a:extLst>
          </p:cNvPr>
          <p:cNvSpPr/>
          <p:nvPr/>
        </p:nvSpPr>
        <p:spPr>
          <a:xfrm>
            <a:off x="5658829" y="758389"/>
            <a:ext cx="2165526" cy="57581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F62F68-09C9-BA21-E3D7-35872BA7BDE0}"/>
              </a:ext>
            </a:extLst>
          </p:cNvPr>
          <p:cNvSpPr/>
          <p:nvPr/>
        </p:nvSpPr>
        <p:spPr>
          <a:xfrm>
            <a:off x="401010" y="3150261"/>
            <a:ext cx="2016890" cy="27513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PR </a:t>
            </a:r>
            <a:r>
              <a:rPr lang="en-US" altLang="zh-CN" dirty="0" err="1"/>
              <a:t>Discript</a:t>
            </a:r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30786A-34C6-D7B2-1A73-01F9D6029580}"/>
              </a:ext>
            </a:extLst>
          </p:cNvPr>
          <p:cNvSpPr/>
          <p:nvPr/>
        </p:nvSpPr>
        <p:spPr>
          <a:xfrm>
            <a:off x="516800" y="2561638"/>
            <a:ext cx="1808066" cy="5412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Commit message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9137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8CED3F-3E99-CE30-1897-90DF8536A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数据收集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8DA0610-3FA2-4FC8-91EB-C435E8077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494" y="2435879"/>
            <a:ext cx="6067425" cy="249535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77371CFB-5BCC-867D-E102-B60BED477D9E}"/>
              </a:ext>
            </a:extLst>
          </p:cNvPr>
          <p:cNvSpPr txBox="1"/>
          <p:nvPr/>
        </p:nvSpPr>
        <p:spPr>
          <a:xfrm>
            <a:off x="1017494" y="1910443"/>
            <a:ext cx="3684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利用</a:t>
            </a:r>
            <a:r>
              <a:rPr lang="en-US" altLang="zh-CN" dirty="0" err="1"/>
              <a:t>graphql</a:t>
            </a:r>
            <a:r>
              <a:rPr lang="en-US" altLang="zh-CN" dirty="0"/>
              <a:t> </a:t>
            </a:r>
            <a:r>
              <a:rPr lang="zh-CN" altLang="en-US" dirty="0"/>
              <a:t>以及 </a:t>
            </a:r>
            <a:r>
              <a:rPr lang="en-US" altLang="zh-CN" dirty="0" err="1"/>
              <a:t>github</a:t>
            </a:r>
            <a:r>
              <a:rPr lang="en-US" altLang="zh-CN" dirty="0"/>
              <a:t> restful </a:t>
            </a:r>
            <a:r>
              <a:rPr lang="en-US" altLang="zh-CN" dirty="0" err="1"/>
              <a:t>api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7A8C2B-366C-2BE1-4224-2A2970F2C2B9}"/>
              </a:ext>
            </a:extLst>
          </p:cNvPr>
          <p:cNvSpPr txBox="1"/>
          <p:nvPr/>
        </p:nvSpPr>
        <p:spPr>
          <a:xfrm>
            <a:off x="908317" y="5182382"/>
            <a:ext cx="932498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获取了：</a:t>
            </a:r>
            <a:endParaRPr lang="en-US" altLang="zh-CN" sz="2800" dirty="0"/>
          </a:p>
          <a:p>
            <a:pPr marL="342900" indent="-342900">
              <a:buAutoNum type="arabicPeriod"/>
            </a:pPr>
            <a:r>
              <a:rPr lang="en-US" altLang="zh-CN" sz="2800" dirty="0"/>
              <a:t>merge-base </a:t>
            </a:r>
            <a:r>
              <a:rPr lang="zh-CN" altLang="en-US" sz="2800" dirty="0"/>
              <a:t>以及</a:t>
            </a:r>
            <a:r>
              <a:rPr lang="en-US" altLang="zh-CN" sz="2800" dirty="0"/>
              <a:t>feature</a:t>
            </a:r>
            <a:r>
              <a:rPr lang="zh-CN" altLang="en-US" sz="2800" dirty="0"/>
              <a:t>的 </a:t>
            </a:r>
            <a:r>
              <a:rPr lang="en-US" altLang="zh-CN" sz="2800" dirty="0"/>
              <a:t>repo</a:t>
            </a:r>
          </a:p>
          <a:p>
            <a:pPr marL="342900" indent="-342900">
              <a:buAutoNum type="arabicPeriod"/>
            </a:pPr>
            <a:r>
              <a:rPr lang="zh-CN" altLang="en-US" sz="2800" dirty="0"/>
              <a:t>获取该</a:t>
            </a:r>
            <a:r>
              <a:rPr lang="en-US" altLang="zh-CN" sz="2800" dirty="0"/>
              <a:t>pr</a:t>
            </a:r>
            <a:r>
              <a:rPr lang="zh-CN" altLang="en-US" sz="2800" dirty="0"/>
              <a:t>的 </a:t>
            </a:r>
            <a:r>
              <a:rPr lang="en-US" altLang="zh-CN" sz="2800" dirty="0"/>
              <a:t>&lt;</a:t>
            </a:r>
            <a:r>
              <a:rPr lang="en-US" altLang="zh-CN" sz="2800" dirty="0" err="1"/>
              <a:t>diff_hunk</a:t>
            </a:r>
            <a:r>
              <a:rPr lang="en-US" altLang="zh-CN" sz="2800" dirty="0"/>
              <a:t>,  review comment,  revised code&gt;</a:t>
            </a:r>
          </a:p>
          <a:p>
            <a:pPr marL="342900" indent="-342900">
              <a:buAutoNum type="arabicPeriod"/>
            </a:pP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268274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AD7C75D8-ECF5-B28A-1105-8630C56D00B8}"/>
              </a:ext>
            </a:extLst>
          </p:cNvPr>
          <p:cNvSpPr/>
          <p:nvPr/>
        </p:nvSpPr>
        <p:spPr>
          <a:xfrm>
            <a:off x="9788013" y="2186594"/>
            <a:ext cx="1794387" cy="1461796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由</a:t>
            </a:r>
            <a:r>
              <a:rPr lang="en-US" altLang="zh-CN" dirty="0">
                <a:solidFill>
                  <a:schemeClr val="tx1"/>
                </a:solidFill>
              </a:rPr>
              <a:t>depth</a:t>
            </a:r>
            <a:r>
              <a:rPr lang="zh-CN" altLang="en-US" dirty="0">
                <a:solidFill>
                  <a:schemeClr val="tx1"/>
                </a:solidFill>
              </a:rPr>
              <a:t>限制的可获取具体内容的</a:t>
            </a:r>
            <a:endParaRPr lang="en-US" altLang="zh-CN" dirty="0">
              <a:solidFill>
                <a:schemeClr val="tx1"/>
              </a:solidFill>
            </a:endParaRPr>
          </a:p>
          <a:p>
            <a:pPr algn="ctr"/>
            <a:r>
              <a:rPr lang="en-US" altLang="zh-CN" dirty="0">
                <a:solidFill>
                  <a:schemeClr val="tx1"/>
                </a:solidFill>
              </a:rPr>
              <a:t>Callee </a:t>
            </a:r>
            <a:r>
              <a:rPr lang="zh-CN" altLang="en-US" dirty="0">
                <a:solidFill>
                  <a:schemeClr val="tx1"/>
                </a:solidFill>
              </a:rPr>
              <a:t>和</a:t>
            </a:r>
            <a:r>
              <a:rPr lang="en-US" altLang="zh-CN" dirty="0">
                <a:solidFill>
                  <a:schemeClr val="tx1"/>
                </a:solidFill>
              </a:rPr>
              <a:t> Caller Tree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CC7D9DC-8AB8-B7D6-B365-88FA85F305C2}"/>
              </a:ext>
            </a:extLst>
          </p:cNvPr>
          <p:cNvSpPr/>
          <p:nvPr/>
        </p:nvSpPr>
        <p:spPr>
          <a:xfrm>
            <a:off x="4129548" y="244138"/>
            <a:ext cx="2546555" cy="28138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C0E5B60-BB1C-F1E5-FB6A-E3DE77BF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输入</a:t>
            </a:r>
            <a:r>
              <a:rPr lang="en-US" altLang="zh-CN" dirty="0"/>
              <a:t>Context</a:t>
            </a:r>
            <a:endParaRPr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FD6E864-79E2-A0B2-61C1-41E106C7C384}"/>
              </a:ext>
            </a:extLst>
          </p:cNvPr>
          <p:cNvSpPr/>
          <p:nvPr/>
        </p:nvSpPr>
        <p:spPr>
          <a:xfrm>
            <a:off x="838200" y="2703871"/>
            <a:ext cx="1101212" cy="11503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repo</a:t>
            </a:r>
            <a:endParaRPr lang="zh-CN" altLang="en-US" dirty="0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9D3837D1-D5E9-B400-4DAD-2EB43599229A}"/>
              </a:ext>
            </a:extLst>
          </p:cNvPr>
          <p:cNvCxnSpPr/>
          <p:nvPr/>
        </p:nvCxnSpPr>
        <p:spPr>
          <a:xfrm flipV="1">
            <a:off x="2035277" y="2231923"/>
            <a:ext cx="2094271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AD3DA91-0455-68FA-07B2-7EC25B78C83A}"/>
              </a:ext>
            </a:extLst>
          </p:cNvPr>
          <p:cNvSpPr txBox="1"/>
          <p:nvPr/>
        </p:nvSpPr>
        <p:spPr>
          <a:xfrm>
            <a:off x="2418736" y="2186594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Repo structure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B910E0E-125A-1BEE-B60C-E684297F8D74}"/>
              </a:ext>
            </a:extLst>
          </p:cNvPr>
          <p:cNvSpPr txBox="1"/>
          <p:nvPr/>
        </p:nvSpPr>
        <p:spPr>
          <a:xfrm>
            <a:off x="4225413" y="244138"/>
            <a:ext cx="2902974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fixed_test_project/</a:t>
            </a:r>
          </a:p>
          <a:p>
            <a:r>
              <a:rPr lang="zh-CN" altLang="en-US" sz="1400" dirty="0"/>
              <a:t>├── features/</a:t>
            </a:r>
          </a:p>
          <a:p>
            <a:r>
              <a:rPr lang="zh-CN" altLang="en-US" sz="1400" dirty="0"/>
              <a:t>│   ├── __init__.py</a:t>
            </a:r>
          </a:p>
          <a:p>
            <a:r>
              <a:rPr lang="zh-CN" altLang="en-US" sz="1400" dirty="0"/>
              <a:t>│   ├── dynamic_features.py</a:t>
            </a:r>
          </a:p>
          <a:p>
            <a:r>
              <a:rPr lang="zh-CN" altLang="en-US" sz="1400" dirty="0"/>
              <a:t>│   └── special_methods.py</a:t>
            </a:r>
          </a:p>
          <a:p>
            <a:r>
              <a:rPr lang="zh-CN" altLang="en-US" sz="1400" dirty="0"/>
              <a:t>├── helpers/</a:t>
            </a:r>
          </a:p>
          <a:p>
            <a:r>
              <a:rPr lang="zh-CN" altLang="en-US" sz="1400" dirty="0"/>
              <a:t>│   ├── __init__.py</a:t>
            </a:r>
          </a:p>
          <a:p>
            <a:r>
              <a:rPr lang="zh-CN" altLang="en-US" sz="1400" dirty="0"/>
              <a:t>│   └── string_utils.py</a:t>
            </a:r>
          </a:p>
          <a:p>
            <a:r>
              <a:rPr lang="zh-CN" altLang="en-US" sz="1400" dirty="0"/>
              <a:t>├── models/</a:t>
            </a:r>
          </a:p>
          <a:p>
            <a:r>
              <a:rPr lang="zh-CN" altLang="en-US" sz="1400" dirty="0"/>
              <a:t>│   ├── __init__.py</a:t>
            </a:r>
          </a:p>
          <a:p>
            <a:r>
              <a:rPr lang="zh-CN" altLang="en-US" sz="1400" dirty="0"/>
              <a:t>│   ├── base.py</a:t>
            </a:r>
          </a:p>
          <a:p>
            <a:r>
              <a:rPr lang="zh-CN" altLang="en-US" sz="1400" dirty="0"/>
              <a:t>│   └── pets.py</a:t>
            </a:r>
          </a:p>
          <a:p>
            <a:r>
              <a:rPr lang="zh-CN" altLang="en-US" sz="1400" dirty="0"/>
              <a:t>└── main.py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B30BE5B-EC6D-982C-10B1-D0C04C2C3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233" y="3565238"/>
            <a:ext cx="4249605" cy="2599126"/>
          </a:xfrm>
          <a:prstGeom prst="rect">
            <a:avLst/>
          </a:prstGeom>
        </p:spPr>
      </p:pic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A40C8E20-DD4A-FADC-30B6-B6DA02060558}"/>
              </a:ext>
            </a:extLst>
          </p:cNvPr>
          <p:cNvCxnSpPr/>
          <p:nvPr/>
        </p:nvCxnSpPr>
        <p:spPr>
          <a:xfrm>
            <a:off x="1388806" y="4041058"/>
            <a:ext cx="1216742" cy="1052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1276F4F4-DF67-4FCA-CF71-0CFB713EA4B1}"/>
              </a:ext>
            </a:extLst>
          </p:cNvPr>
          <p:cNvSpPr txBox="1"/>
          <p:nvPr/>
        </p:nvSpPr>
        <p:spPr>
          <a:xfrm>
            <a:off x="1061884" y="448351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调用链构造</a:t>
            </a:r>
          </a:p>
        </p:txBody>
      </p: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5ADD682C-7ED0-4BC4-404E-9858275E6540}"/>
              </a:ext>
            </a:extLst>
          </p:cNvPr>
          <p:cNvCxnSpPr>
            <a:cxnSpLocks/>
          </p:cNvCxnSpPr>
          <p:nvPr/>
        </p:nvCxnSpPr>
        <p:spPr>
          <a:xfrm>
            <a:off x="6302477" y="4897211"/>
            <a:ext cx="11700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54B5648-C6B4-CAD4-39A6-3AB1AE2EA146}"/>
              </a:ext>
            </a:extLst>
          </p:cNvPr>
          <p:cNvSpPr txBox="1"/>
          <p:nvPr/>
        </p:nvSpPr>
        <p:spPr>
          <a:xfrm>
            <a:off x="3238832" y="6371171"/>
            <a:ext cx="5202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利用</a:t>
            </a:r>
            <a:r>
              <a:rPr lang="en-US" altLang="zh-CN" dirty="0"/>
              <a:t>pyre</a:t>
            </a:r>
            <a:r>
              <a:rPr lang="zh-CN" altLang="en-US" dirty="0"/>
              <a:t>查询各个</a:t>
            </a:r>
            <a:r>
              <a:rPr lang="en-US" altLang="zh-CN" dirty="0" err="1"/>
              <a:t>func</a:t>
            </a:r>
            <a:r>
              <a:rPr lang="zh-CN" altLang="en-US" dirty="0"/>
              <a:t>的调用关系，构造一个</a:t>
            </a:r>
            <a:r>
              <a:rPr lang="en-US" altLang="zh-CN" dirty="0"/>
              <a:t>DAG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27080DC-CD39-D2BB-7F6A-5915B1CD4698}"/>
              </a:ext>
            </a:extLst>
          </p:cNvPr>
          <p:cNvSpPr txBox="1"/>
          <p:nvPr/>
        </p:nvSpPr>
        <p:spPr>
          <a:xfrm>
            <a:off x="7426200" y="4769944"/>
            <a:ext cx="3778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对于给定的</a:t>
            </a:r>
            <a:r>
              <a:rPr lang="en-US" altLang="zh-CN" dirty="0" err="1"/>
              <a:t>func</a:t>
            </a:r>
            <a:r>
              <a:rPr lang="zh-CN" altLang="en-US" dirty="0"/>
              <a:t>如</a:t>
            </a:r>
            <a:r>
              <a:rPr lang="en-US" altLang="zh-CN" dirty="0" err="1"/>
              <a:t>main.run_oo_tests</a:t>
            </a:r>
            <a:endParaRPr lang="en-US" altLang="zh-CN" dirty="0"/>
          </a:p>
          <a:p>
            <a:r>
              <a:rPr lang="en-US" altLang="zh-CN" dirty="0"/>
              <a:t>BFS</a:t>
            </a:r>
            <a:r>
              <a:rPr lang="zh-CN" altLang="en-US" dirty="0"/>
              <a:t>获取其 </a:t>
            </a:r>
            <a:r>
              <a:rPr lang="en-US" altLang="zh-CN" dirty="0"/>
              <a:t>callee</a:t>
            </a:r>
            <a:r>
              <a:rPr lang="zh-CN" altLang="en-US" dirty="0"/>
              <a:t>和</a:t>
            </a:r>
            <a:r>
              <a:rPr lang="en-US" altLang="zh-CN" dirty="0"/>
              <a:t>caller tree</a:t>
            </a: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0781538C-CFF3-5E4B-9A9E-44DDE46A8983}"/>
              </a:ext>
            </a:extLst>
          </p:cNvPr>
          <p:cNvCxnSpPr>
            <a:cxnSpLocks/>
          </p:cNvCxnSpPr>
          <p:nvPr/>
        </p:nvCxnSpPr>
        <p:spPr>
          <a:xfrm flipV="1">
            <a:off x="2123768" y="3146406"/>
            <a:ext cx="4552335" cy="2825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EA13C96-89F7-FD9A-101B-2C6F11B3FC03}"/>
              </a:ext>
            </a:extLst>
          </p:cNvPr>
          <p:cNvSpPr txBox="1"/>
          <p:nvPr/>
        </p:nvSpPr>
        <p:spPr>
          <a:xfrm>
            <a:off x="2703871" y="3279058"/>
            <a:ext cx="1176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Func </a:t>
            </a:r>
            <a:r>
              <a:rPr lang="zh-CN" altLang="en-US" dirty="0"/>
              <a:t>映射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BC224AE-3945-199A-4CB4-A6CCDF2AFFAB}"/>
              </a:ext>
            </a:extLst>
          </p:cNvPr>
          <p:cNvSpPr txBox="1"/>
          <p:nvPr/>
        </p:nvSpPr>
        <p:spPr>
          <a:xfrm>
            <a:off x="5884607" y="2971261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 err="1"/>
              <a:t>dict</a:t>
            </a:r>
            <a:r>
              <a:rPr lang="en-US" altLang="zh-CN" dirty="0"/>
              <a:t>(  </a:t>
            </a:r>
            <a:r>
              <a:rPr lang="en-US" altLang="zh-CN" dirty="0" err="1"/>
              <a:t>func</a:t>
            </a:r>
            <a:r>
              <a:rPr lang="en-US" altLang="zh-CN" dirty="0"/>
              <a:t> -&gt; </a:t>
            </a:r>
            <a:r>
              <a:rPr lang="en-US" altLang="zh-CN" dirty="0" err="1"/>
              <a:t>func</a:t>
            </a:r>
            <a:r>
              <a:rPr lang="en-US" altLang="zh-CN" dirty="0"/>
              <a:t> content)</a:t>
            </a:r>
            <a:endParaRPr lang="zh-CN" altLang="en-US" dirty="0"/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327D7DC-B891-59CF-E4E1-0B6F94E67CF9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8932607" y="3155927"/>
            <a:ext cx="865239" cy="147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968A9EBA-90CB-CD86-BD03-09AD24637CDE}"/>
              </a:ext>
            </a:extLst>
          </p:cNvPr>
          <p:cNvCxnSpPr/>
          <p:nvPr/>
        </p:nvCxnSpPr>
        <p:spPr>
          <a:xfrm flipV="1">
            <a:off x="9606116" y="3429000"/>
            <a:ext cx="363794" cy="12019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514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B2C28CF-E2F1-94E3-4FD3-53B2A5981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70" y="222269"/>
            <a:ext cx="11288299" cy="6355512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D01FD632-451A-0AB8-BA49-A499E0F29076}"/>
              </a:ext>
            </a:extLst>
          </p:cNvPr>
          <p:cNvSpPr txBox="1"/>
          <p:nvPr/>
        </p:nvSpPr>
        <p:spPr>
          <a:xfrm>
            <a:off x="9722021" y="373625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函数参数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16DB542-EAEF-FBE4-9485-BB4D455AA681}"/>
              </a:ext>
            </a:extLst>
          </p:cNvPr>
          <p:cNvSpPr txBox="1"/>
          <p:nvPr/>
        </p:nvSpPr>
        <p:spPr>
          <a:xfrm>
            <a:off x="7521677" y="168131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多态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CEEE07-D7FC-EC1B-3233-16A0D9C25671}"/>
              </a:ext>
            </a:extLst>
          </p:cNvPr>
          <p:cNvSpPr txBox="1"/>
          <p:nvPr/>
        </p:nvSpPr>
        <p:spPr>
          <a:xfrm>
            <a:off x="7846142" y="6263148"/>
            <a:ext cx="2545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Special magical method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139468-1913-6B56-6BA9-0C7FC4E9C625}"/>
              </a:ext>
            </a:extLst>
          </p:cNvPr>
          <p:cNvSpPr txBox="1"/>
          <p:nvPr/>
        </p:nvSpPr>
        <p:spPr>
          <a:xfrm>
            <a:off x="8035789" y="450809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变量</a:t>
            </a:r>
            <a:r>
              <a:rPr lang="zh-CN" altLang="en-US" dirty="0">
                <a:solidFill>
                  <a:srgbClr val="FF0000"/>
                </a:solidFill>
              </a:rPr>
              <a:t>作用域遮掩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3FB84B4-3274-FA79-A540-8B1F2E53F7C2}"/>
              </a:ext>
            </a:extLst>
          </p:cNvPr>
          <p:cNvSpPr txBox="1"/>
          <p:nvPr/>
        </p:nvSpPr>
        <p:spPr>
          <a:xfrm>
            <a:off x="2269169" y="287101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跨文件</a:t>
            </a:r>
          </a:p>
        </p:txBody>
      </p:sp>
    </p:spTree>
    <p:extLst>
      <p:ext uri="{BB962C8B-B14F-4D97-AF65-F5344CB8AC3E}">
        <p14:creationId xmlns:p14="http://schemas.microsoft.com/office/powerpoint/2010/main" val="625646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F72A31B-AB18-32FB-9344-BB3A256F133E}"/>
              </a:ext>
            </a:extLst>
          </p:cNvPr>
          <p:cNvSpPr txBox="1"/>
          <p:nvPr/>
        </p:nvSpPr>
        <p:spPr>
          <a:xfrm>
            <a:off x="1160206" y="1278194"/>
            <a:ext cx="65421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实际扫描了</a:t>
            </a:r>
            <a:r>
              <a:rPr lang="en-US" altLang="zh-CN" dirty="0" err="1"/>
              <a:t>pytorch</a:t>
            </a:r>
            <a:r>
              <a:rPr lang="zh-CN" altLang="en-US" dirty="0"/>
              <a:t>项目， 结果发现有</a:t>
            </a:r>
            <a:r>
              <a:rPr lang="en-US" altLang="zh-CN" dirty="0"/>
              <a:t>1800</a:t>
            </a:r>
            <a:r>
              <a:rPr lang="zh-CN" altLang="en-US" dirty="0"/>
              <a:t>个</a:t>
            </a:r>
            <a:r>
              <a:rPr lang="en-US" altLang="zh-CN" dirty="0"/>
              <a:t>function</a:t>
            </a:r>
            <a:r>
              <a:rPr lang="zh-CN" altLang="en-US" dirty="0"/>
              <a:t>、</a:t>
            </a:r>
            <a:r>
              <a:rPr lang="en-US" altLang="zh-CN" dirty="0"/>
              <a:t>method</a:t>
            </a:r>
          </a:p>
          <a:p>
            <a:endParaRPr lang="en-US" altLang="zh-CN" dirty="0"/>
          </a:p>
          <a:p>
            <a:r>
              <a:rPr lang="zh-CN" altLang="en-US" dirty="0"/>
              <a:t>构建</a:t>
            </a:r>
            <a:r>
              <a:rPr lang="en-US" altLang="zh-CN" dirty="0"/>
              <a:t>DAG</a:t>
            </a:r>
            <a:r>
              <a:rPr lang="zh-CN" altLang="en-US" dirty="0"/>
              <a:t>用了</a:t>
            </a:r>
            <a:r>
              <a:rPr lang="en-US" altLang="zh-CN" dirty="0"/>
              <a:t>30</a:t>
            </a:r>
            <a:r>
              <a:rPr lang="zh-CN" altLang="en-US" dirty="0"/>
              <a:t>分钟，一个非常大的图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下一步应该考虑基于给定的</a:t>
            </a:r>
            <a:r>
              <a:rPr lang="en-US" altLang="zh-CN" dirty="0"/>
              <a:t>function</a:t>
            </a:r>
            <a:r>
              <a:rPr lang="zh-CN" altLang="en-US" dirty="0"/>
              <a:t>、</a:t>
            </a:r>
            <a:r>
              <a:rPr lang="en-US" altLang="zh-CN" dirty="0"/>
              <a:t>method </a:t>
            </a:r>
            <a:r>
              <a:rPr lang="zh-CN" altLang="en-US" dirty="0"/>
              <a:t>边查边构建</a:t>
            </a:r>
          </a:p>
        </p:txBody>
      </p:sp>
    </p:spTree>
    <p:extLst>
      <p:ext uri="{BB962C8B-B14F-4D97-AF65-F5344CB8AC3E}">
        <p14:creationId xmlns:p14="http://schemas.microsoft.com/office/powerpoint/2010/main" val="1589981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对话气泡: 圆角矩形 42">
            <a:extLst>
              <a:ext uri="{FF2B5EF4-FFF2-40B4-BE49-F238E27FC236}">
                <a16:creationId xmlns:a16="http://schemas.microsoft.com/office/drawing/2014/main" id="{357093CA-78E9-AD61-4632-EF7453214478}"/>
              </a:ext>
            </a:extLst>
          </p:cNvPr>
          <p:cNvSpPr/>
          <p:nvPr/>
        </p:nvSpPr>
        <p:spPr>
          <a:xfrm>
            <a:off x="8559203" y="1150373"/>
            <a:ext cx="3632795" cy="3244645"/>
          </a:xfrm>
          <a:prstGeom prst="wedgeRoundRectCallou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" name="圆柱体 3">
            <a:extLst>
              <a:ext uri="{FF2B5EF4-FFF2-40B4-BE49-F238E27FC236}">
                <a16:creationId xmlns:a16="http://schemas.microsoft.com/office/drawing/2014/main" id="{6410E296-74CD-8C5E-69AD-E61144EA73EE}"/>
              </a:ext>
            </a:extLst>
          </p:cNvPr>
          <p:cNvSpPr/>
          <p:nvPr/>
        </p:nvSpPr>
        <p:spPr>
          <a:xfrm>
            <a:off x="491614" y="1288025"/>
            <a:ext cx="973393" cy="88490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/>
              <a:t>github</a:t>
            </a:r>
            <a:endParaRPr lang="zh-CN" altLang="en-US" dirty="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5C6613B-9521-918B-00DC-9C1909C3FF93}"/>
              </a:ext>
            </a:extLst>
          </p:cNvPr>
          <p:cNvCxnSpPr/>
          <p:nvPr/>
        </p:nvCxnSpPr>
        <p:spPr>
          <a:xfrm>
            <a:off x="3165987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204BA5D-F4FF-1B4B-5F93-A50D5267F513}"/>
              </a:ext>
            </a:extLst>
          </p:cNvPr>
          <p:cNvSpPr txBox="1"/>
          <p:nvPr/>
        </p:nvSpPr>
        <p:spPr>
          <a:xfrm>
            <a:off x="424312" y="38345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数据收集</a:t>
            </a: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72C5F033-36EE-8ADB-147E-B4F57B8CBDFA}"/>
              </a:ext>
            </a:extLst>
          </p:cNvPr>
          <p:cNvCxnSpPr>
            <a:cxnSpLocks/>
          </p:cNvCxnSpPr>
          <p:nvPr/>
        </p:nvCxnSpPr>
        <p:spPr>
          <a:xfrm>
            <a:off x="1661651" y="2271790"/>
            <a:ext cx="2123767" cy="30774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7808948C-A483-7730-9429-394E4F334FF3}"/>
              </a:ext>
            </a:extLst>
          </p:cNvPr>
          <p:cNvSpPr txBox="1"/>
          <p:nvPr/>
        </p:nvSpPr>
        <p:spPr>
          <a:xfrm>
            <a:off x="117987" y="4872335"/>
            <a:ext cx="255638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zh-CN" sz="1800" dirty="0"/>
              <a:t>merge-base </a:t>
            </a:r>
            <a:r>
              <a:rPr lang="zh-CN" altLang="en-US" sz="1800" dirty="0"/>
              <a:t>以及</a:t>
            </a:r>
            <a:r>
              <a:rPr lang="en-US" altLang="zh-CN" sz="1800" dirty="0"/>
              <a:t>feature</a:t>
            </a:r>
            <a:r>
              <a:rPr lang="zh-CN" altLang="en-US" sz="1800" dirty="0"/>
              <a:t>的 </a:t>
            </a:r>
            <a:r>
              <a:rPr lang="en-US" altLang="zh-CN" sz="1800" dirty="0"/>
              <a:t>repo</a:t>
            </a:r>
          </a:p>
          <a:p>
            <a:pPr marL="1257300" lvl="2" indent="-342900">
              <a:buAutoNum type="arabicPeriod"/>
            </a:pP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Closed </a:t>
            </a:r>
            <a:r>
              <a:rPr lang="en-US" altLang="zh-CN" sz="1800" dirty="0"/>
              <a:t>pr</a:t>
            </a:r>
            <a:r>
              <a:rPr lang="zh-CN" altLang="en-US" sz="1800" dirty="0"/>
              <a:t>的 </a:t>
            </a:r>
            <a:r>
              <a:rPr lang="en-US" altLang="zh-CN" sz="1800" dirty="0"/>
              <a:t>&lt;</a:t>
            </a:r>
            <a:r>
              <a:rPr lang="en-US" altLang="zh-CN" sz="1800" dirty="0" err="1"/>
              <a:t>diff_hunk</a:t>
            </a:r>
            <a:r>
              <a:rPr lang="en-US" altLang="zh-CN" sz="1800" dirty="0"/>
              <a:t>,  review comment,  revised code&gt; </a:t>
            </a:r>
            <a:r>
              <a:rPr lang="zh-CN" altLang="en-US" sz="1800" dirty="0"/>
              <a:t>三元组</a:t>
            </a:r>
            <a:endParaRPr lang="en-US" altLang="zh-CN" sz="18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49CC6-6C27-6B58-1D50-22D467C02409}"/>
              </a:ext>
            </a:extLst>
          </p:cNvPr>
          <p:cNvSpPr txBox="1"/>
          <p:nvPr/>
        </p:nvSpPr>
        <p:spPr>
          <a:xfrm>
            <a:off x="3637934" y="38345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上下文构建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6CA8B97-69FC-42BE-CB42-3A376784AF15}"/>
              </a:ext>
            </a:extLst>
          </p:cNvPr>
          <p:cNvSpPr/>
          <p:nvPr/>
        </p:nvSpPr>
        <p:spPr>
          <a:xfrm>
            <a:off x="3220729" y="2071835"/>
            <a:ext cx="757077" cy="550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repo</a:t>
            </a:r>
            <a:endParaRPr lang="zh-CN" altLang="en-US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8C089254-FF0E-9425-5357-4D992A66B82F}"/>
              </a:ext>
            </a:extLst>
          </p:cNvPr>
          <p:cNvCxnSpPr>
            <a:cxnSpLocks/>
          </p:cNvCxnSpPr>
          <p:nvPr/>
        </p:nvCxnSpPr>
        <p:spPr>
          <a:xfrm flipV="1">
            <a:off x="3856815" y="1782656"/>
            <a:ext cx="480848" cy="221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AC94F91A-3024-8713-1FAB-CCD0A9D993D1}"/>
              </a:ext>
            </a:extLst>
          </p:cNvPr>
          <p:cNvCxnSpPr>
            <a:cxnSpLocks/>
          </p:cNvCxnSpPr>
          <p:nvPr/>
        </p:nvCxnSpPr>
        <p:spPr>
          <a:xfrm>
            <a:off x="3774738" y="2588207"/>
            <a:ext cx="518362" cy="5034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B7798ACD-01BF-4FF1-3462-E88429C6C955}"/>
              </a:ext>
            </a:extLst>
          </p:cNvPr>
          <p:cNvSpPr/>
          <p:nvPr/>
        </p:nvSpPr>
        <p:spPr>
          <a:xfrm>
            <a:off x="4401575" y="1195157"/>
            <a:ext cx="1582993" cy="107663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Tree structure</a:t>
            </a:r>
            <a:endParaRPr lang="zh-CN" altLang="en-US" dirty="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EABB3A5-8EC9-D739-987C-35E975F1C68E}"/>
              </a:ext>
            </a:extLst>
          </p:cNvPr>
          <p:cNvSpPr/>
          <p:nvPr/>
        </p:nvSpPr>
        <p:spPr>
          <a:xfrm>
            <a:off x="4334904" y="2339924"/>
            <a:ext cx="1582993" cy="216372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受</a:t>
            </a:r>
            <a:r>
              <a:rPr lang="en-US" altLang="zh-CN" dirty="0"/>
              <a:t>depth</a:t>
            </a:r>
            <a:r>
              <a:rPr lang="zh-CN" altLang="en-US" dirty="0"/>
              <a:t>限制的可获得内容的 </a:t>
            </a:r>
            <a:r>
              <a:rPr lang="en-US" altLang="zh-CN" dirty="0"/>
              <a:t>callee</a:t>
            </a:r>
            <a:r>
              <a:rPr lang="zh-CN" altLang="en-US" dirty="0"/>
              <a:t>和 </a:t>
            </a:r>
            <a:r>
              <a:rPr lang="en-US" altLang="zh-CN" dirty="0"/>
              <a:t>caller tree</a:t>
            </a: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73282BEA-5A56-C272-C64A-EEF22B8B3565}"/>
              </a:ext>
            </a:extLst>
          </p:cNvPr>
          <p:cNvCxnSpPr/>
          <p:nvPr/>
        </p:nvCxnSpPr>
        <p:spPr>
          <a:xfrm>
            <a:off x="656794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5167361-87AC-9AF2-7BA3-958BA3173008}"/>
              </a:ext>
            </a:extLst>
          </p:cNvPr>
          <p:cNvSpPr txBox="1"/>
          <p:nvPr/>
        </p:nvSpPr>
        <p:spPr>
          <a:xfrm>
            <a:off x="6866195" y="38345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两阶段生成</a:t>
            </a:r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F2F0C5F8-6CD1-0C8C-D21A-02ED6E5F53E2}"/>
              </a:ext>
            </a:extLst>
          </p:cNvPr>
          <p:cNvGrpSpPr/>
          <p:nvPr/>
        </p:nvGrpSpPr>
        <p:grpSpPr>
          <a:xfrm>
            <a:off x="8544456" y="1967674"/>
            <a:ext cx="3549222" cy="1069258"/>
            <a:chOff x="6656439" y="3394547"/>
            <a:chExt cx="4564296" cy="2120772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791B9B40-AAEA-21EC-E59C-C04B77F2F0DC}"/>
                </a:ext>
              </a:extLst>
            </p:cNvPr>
            <p:cNvSpPr/>
            <p:nvPr/>
          </p:nvSpPr>
          <p:spPr>
            <a:xfrm>
              <a:off x="6656439" y="3394547"/>
              <a:ext cx="4564296" cy="2120772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0" name="图形 29" descr="机器人 纯色填充">
              <a:extLst>
                <a:ext uri="{FF2B5EF4-FFF2-40B4-BE49-F238E27FC236}">
                  <a16:creationId xmlns:a16="http://schemas.microsoft.com/office/drawing/2014/main" id="{FDC2CA4C-D9FD-652D-D9F7-B40DE80B2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69277" y="3543197"/>
              <a:ext cx="914400" cy="914400"/>
            </a:xfrm>
            <a:prstGeom prst="rect">
              <a:avLst/>
            </a:prstGeom>
          </p:spPr>
        </p:pic>
        <p:pic>
          <p:nvPicPr>
            <p:cNvPr id="31" name="图形 30" descr="机器人 纯色填充">
              <a:extLst>
                <a:ext uri="{FF2B5EF4-FFF2-40B4-BE49-F238E27FC236}">
                  <a16:creationId xmlns:a16="http://schemas.microsoft.com/office/drawing/2014/main" id="{BD4E682C-4AFF-23A6-8CF1-77550C03CE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08374" y="3543197"/>
              <a:ext cx="914400" cy="914400"/>
            </a:xfrm>
            <a:prstGeom prst="rect">
              <a:avLst/>
            </a:prstGeom>
          </p:spPr>
        </p:pic>
        <p:pic>
          <p:nvPicPr>
            <p:cNvPr id="32" name="图形 31" descr="机器人 纯色填充">
              <a:extLst>
                <a:ext uri="{FF2B5EF4-FFF2-40B4-BE49-F238E27FC236}">
                  <a16:creationId xmlns:a16="http://schemas.microsoft.com/office/drawing/2014/main" id="{23459BAA-8612-D2F5-CFCE-083F35205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47471" y="3541865"/>
              <a:ext cx="914400" cy="914400"/>
            </a:xfrm>
            <a:prstGeom prst="rect">
              <a:avLst/>
            </a:prstGeom>
          </p:spPr>
        </p:pic>
        <p:pic>
          <p:nvPicPr>
            <p:cNvPr id="33" name="图形 32" descr="机器人 纯色填充">
              <a:extLst>
                <a:ext uri="{FF2B5EF4-FFF2-40B4-BE49-F238E27FC236}">
                  <a16:creationId xmlns:a16="http://schemas.microsoft.com/office/drawing/2014/main" id="{F1B53883-244B-C2F0-02AD-4F5FB56FB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07910" y="3540533"/>
              <a:ext cx="914400" cy="914400"/>
            </a:xfrm>
            <a:prstGeom prst="rect">
              <a:avLst/>
            </a:prstGeom>
          </p:spPr>
        </p:pic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EF570E48-6CA9-43D0-5C3F-F0C67C89105E}"/>
                </a:ext>
              </a:extLst>
            </p:cNvPr>
            <p:cNvSpPr/>
            <p:nvPr/>
          </p:nvSpPr>
          <p:spPr>
            <a:xfrm>
              <a:off x="7844105" y="4625315"/>
              <a:ext cx="1278192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b="0" cap="none" spc="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security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77D3FC0-50B9-2433-2EE7-640E55BE7584}"/>
                </a:ext>
              </a:extLst>
            </p:cNvPr>
            <p:cNvSpPr/>
            <p:nvPr/>
          </p:nvSpPr>
          <p:spPr>
            <a:xfrm>
              <a:off x="9227244" y="4606502"/>
              <a:ext cx="1920887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performance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895FF9B-374E-13BC-9C93-60CDEB7D6E49}"/>
                </a:ext>
              </a:extLst>
            </p:cNvPr>
            <p:cNvSpPr/>
            <p:nvPr/>
          </p:nvSpPr>
          <p:spPr>
            <a:xfrm>
              <a:off x="8608142" y="4315755"/>
              <a:ext cx="914400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style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1B3EF33E-076B-CD28-CB6C-514FBBC83926}"/>
                </a:ext>
              </a:extLst>
            </p:cNvPr>
            <p:cNvSpPr/>
            <p:nvPr/>
          </p:nvSpPr>
          <p:spPr>
            <a:xfrm>
              <a:off x="6789504" y="4329290"/>
              <a:ext cx="1837972" cy="559694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altLang="zh-CN" sz="1200" dirty="0">
                  <a:ln w="0"/>
                  <a:solidFill>
                    <a:schemeClr val="accent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</a:rPr>
                <a:t>functionality</a:t>
              </a:r>
              <a:endParaRPr lang="zh-CN" altLang="en-US" sz="12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endParaRPr>
            </a:p>
          </p:txBody>
        </p:sp>
      </p:grpSp>
      <p:pic>
        <p:nvPicPr>
          <p:cNvPr id="38" name="图形 37" descr="用户 纯色填充">
            <a:extLst>
              <a:ext uri="{FF2B5EF4-FFF2-40B4-BE49-F238E27FC236}">
                <a16:creationId xmlns:a16="http://schemas.microsoft.com/office/drawing/2014/main" id="{B4C96D25-E2BE-D8A1-E3CA-E01C53A3127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21513" y="2093958"/>
            <a:ext cx="602520" cy="602520"/>
          </a:xfrm>
          <a:prstGeom prst="rect">
            <a:avLst/>
          </a:prstGeom>
        </p:spPr>
      </p:pic>
      <p:sp>
        <p:nvSpPr>
          <p:cNvPr id="39" name="矩形 38">
            <a:extLst>
              <a:ext uri="{FF2B5EF4-FFF2-40B4-BE49-F238E27FC236}">
                <a16:creationId xmlns:a16="http://schemas.microsoft.com/office/drawing/2014/main" id="{77EB8210-A93D-38BD-598A-03B5DC0866AA}"/>
              </a:ext>
            </a:extLst>
          </p:cNvPr>
          <p:cNvSpPr/>
          <p:nvPr/>
        </p:nvSpPr>
        <p:spPr>
          <a:xfrm>
            <a:off x="6695171" y="2640543"/>
            <a:ext cx="1514987" cy="33855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1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contributor</a:t>
            </a:r>
            <a:endParaRPr lang="zh-CN" altLang="en-US" sz="1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60FB247-34F6-2C29-F752-D38BAB9684AC}"/>
              </a:ext>
            </a:extLst>
          </p:cNvPr>
          <p:cNvSpPr/>
          <p:nvPr/>
        </p:nvSpPr>
        <p:spPr>
          <a:xfrm>
            <a:off x="6757150" y="3005751"/>
            <a:ext cx="119276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/>
              <a:t>1.Answer  2.Change</a:t>
            </a:r>
            <a:endParaRPr lang="zh-CN" altLang="en-US" sz="1200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F0AAD30-AA71-20D5-7B74-CD779C388366}"/>
              </a:ext>
            </a:extLst>
          </p:cNvPr>
          <p:cNvSpPr/>
          <p:nvPr/>
        </p:nvSpPr>
        <p:spPr>
          <a:xfrm>
            <a:off x="9804028" y="3185602"/>
            <a:ext cx="1938252" cy="77679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t"/>
          <a:lstStyle/>
          <a:p>
            <a:r>
              <a:rPr lang="en-US" altLang="zh-CN" sz="1200" dirty="0"/>
              <a:t>1.Question</a:t>
            </a:r>
          </a:p>
          <a:p>
            <a:r>
              <a:rPr lang="en-US" altLang="zh-CN" sz="1200" dirty="0"/>
              <a:t>2.Request Change</a:t>
            </a:r>
          </a:p>
          <a:p>
            <a:r>
              <a:rPr lang="en-US" altLang="zh-CN" sz="1200" dirty="0"/>
              <a:t>3.Approve</a:t>
            </a:r>
          </a:p>
          <a:p>
            <a:endParaRPr lang="zh-CN" altLang="en-US" sz="1200" dirty="0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FBE5665-FC48-E229-1239-AA3BC71CEA3C}"/>
              </a:ext>
            </a:extLst>
          </p:cNvPr>
          <p:cNvSpPr/>
          <p:nvPr/>
        </p:nvSpPr>
        <p:spPr>
          <a:xfrm>
            <a:off x="9831348" y="2821085"/>
            <a:ext cx="1493692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Actions</a:t>
            </a:r>
            <a:endParaRPr lang="zh-CN" altLang="en-US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8ACCE5E-4FFD-B1F6-A24E-DBB8D90734E8}"/>
              </a:ext>
            </a:extLst>
          </p:cNvPr>
          <p:cNvSpPr/>
          <p:nvPr/>
        </p:nvSpPr>
        <p:spPr>
          <a:xfrm>
            <a:off x="8314073" y="1080085"/>
            <a:ext cx="193755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CN" sz="2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plan</a:t>
            </a:r>
            <a:endParaRPr lang="zh-CN" altLang="en-US" sz="2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712AD9C-A128-4F8F-2EA0-E33A5BA475BE}"/>
              </a:ext>
            </a:extLst>
          </p:cNvPr>
          <p:cNvCxnSpPr/>
          <p:nvPr/>
        </p:nvCxnSpPr>
        <p:spPr>
          <a:xfrm>
            <a:off x="8013290" y="3091621"/>
            <a:ext cx="108547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91D660B6-0EF9-2437-B414-71650B15BC31}"/>
              </a:ext>
            </a:extLst>
          </p:cNvPr>
          <p:cNvCxnSpPr/>
          <p:nvPr/>
        </p:nvCxnSpPr>
        <p:spPr>
          <a:xfrm>
            <a:off x="8013290" y="3273517"/>
            <a:ext cx="108547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985467CD-1A8E-89BB-D78C-8886659E7CF7}"/>
              </a:ext>
            </a:extLst>
          </p:cNvPr>
          <p:cNvSpPr/>
          <p:nvPr/>
        </p:nvSpPr>
        <p:spPr>
          <a:xfrm>
            <a:off x="4051717" y="5155799"/>
            <a:ext cx="1030740" cy="550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三元组</a:t>
            </a:r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3F39D42F-A285-2D78-81F1-58E26A36F829}"/>
              </a:ext>
            </a:extLst>
          </p:cNvPr>
          <p:cNvCxnSpPr/>
          <p:nvPr/>
        </p:nvCxnSpPr>
        <p:spPr>
          <a:xfrm flipV="1">
            <a:off x="1691148" y="1967674"/>
            <a:ext cx="1337187" cy="73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箭头: 右 51">
            <a:extLst>
              <a:ext uri="{FF2B5EF4-FFF2-40B4-BE49-F238E27FC236}">
                <a16:creationId xmlns:a16="http://schemas.microsoft.com/office/drawing/2014/main" id="{7716B40D-8924-FA43-BEC1-74AB57E6D079}"/>
              </a:ext>
            </a:extLst>
          </p:cNvPr>
          <p:cNvSpPr/>
          <p:nvPr/>
        </p:nvSpPr>
        <p:spPr>
          <a:xfrm>
            <a:off x="2802194" y="2821085"/>
            <a:ext cx="703636" cy="2705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箭头: 右 52">
            <a:extLst>
              <a:ext uri="{FF2B5EF4-FFF2-40B4-BE49-F238E27FC236}">
                <a16:creationId xmlns:a16="http://schemas.microsoft.com/office/drawing/2014/main" id="{C9950FE1-4539-BCA8-0B97-17E0D7AA6648}"/>
              </a:ext>
            </a:extLst>
          </p:cNvPr>
          <p:cNvSpPr/>
          <p:nvPr/>
        </p:nvSpPr>
        <p:spPr>
          <a:xfrm>
            <a:off x="6121700" y="2877069"/>
            <a:ext cx="676355" cy="23071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29448552-A17C-A7C3-9C2B-ED7C62AA4EB0}"/>
              </a:ext>
            </a:extLst>
          </p:cNvPr>
          <p:cNvCxnSpPr/>
          <p:nvPr/>
        </p:nvCxnSpPr>
        <p:spPr>
          <a:xfrm>
            <a:off x="6121700" y="1782656"/>
            <a:ext cx="180777" cy="1057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2BC426F-D2EF-5897-FB2E-2FB385B9E230}"/>
              </a:ext>
            </a:extLst>
          </p:cNvPr>
          <p:cNvCxnSpPr/>
          <p:nvPr/>
        </p:nvCxnSpPr>
        <p:spPr>
          <a:xfrm flipV="1">
            <a:off x="5270090" y="3185602"/>
            <a:ext cx="1032387" cy="21636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55B050CA-11FB-789C-CEC3-32BC0B9786A3}"/>
              </a:ext>
            </a:extLst>
          </p:cNvPr>
          <p:cNvCxnSpPr>
            <a:cxnSpLocks/>
          </p:cNvCxnSpPr>
          <p:nvPr/>
        </p:nvCxnSpPr>
        <p:spPr>
          <a:xfrm flipV="1">
            <a:off x="5901359" y="3117468"/>
            <a:ext cx="335518" cy="126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箭头: 右弧形 67">
            <a:extLst>
              <a:ext uri="{FF2B5EF4-FFF2-40B4-BE49-F238E27FC236}">
                <a16:creationId xmlns:a16="http://schemas.microsoft.com/office/drawing/2014/main" id="{0DCBE249-D454-DD19-B242-855C8FA3987F}"/>
              </a:ext>
            </a:extLst>
          </p:cNvPr>
          <p:cNvSpPr/>
          <p:nvPr/>
        </p:nvSpPr>
        <p:spPr>
          <a:xfrm>
            <a:off x="11330969" y="4290976"/>
            <a:ext cx="609202" cy="1162718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70" name="图形 69" descr="机器人 纯色填充">
            <a:extLst>
              <a:ext uri="{FF2B5EF4-FFF2-40B4-BE49-F238E27FC236}">
                <a16:creationId xmlns:a16="http://schemas.microsoft.com/office/drawing/2014/main" id="{C705CC79-0C25-D66E-7A73-DCF167E5F63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97336" y="5212319"/>
            <a:ext cx="669740" cy="669740"/>
          </a:xfrm>
          <a:prstGeom prst="rect">
            <a:avLst/>
          </a:prstGeom>
        </p:spPr>
      </p:pic>
      <p:sp>
        <p:nvSpPr>
          <p:cNvPr id="72" name="文本框 71">
            <a:extLst>
              <a:ext uri="{FF2B5EF4-FFF2-40B4-BE49-F238E27FC236}">
                <a16:creationId xmlns:a16="http://schemas.microsoft.com/office/drawing/2014/main" id="{B6E245B8-E912-FD11-EA2C-E18EC94D6E3B}"/>
              </a:ext>
            </a:extLst>
          </p:cNvPr>
          <p:cNvSpPr txBox="1"/>
          <p:nvPr/>
        </p:nvSpPr>
        <p:spPr>
          <a:xfrm>
            <a:off x="9332581" y="5777915"/>
            <a:ext cx="2607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Validate and Being clear</a:t>
            </a:r>
            <a:endParaRPr lang="zh-CN" altLang="en-US" sz="18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34A141EA-8BD3-CFE6-FDB7-719F72E2682C}"/>
              </a:ext>
            </a:extLst>
          </p:cNvPr>
          <p:cNvSpPr/>
          <p:nvPr/>
        </p:nvSpPr>
        <p:spPr>
          <a:xfrm>
            <a:off x="6798055" y="5212320"/>
            <a:ext cx="2170631" cy="77253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</a:rPr>
              <a:t>review_comment</a:t>
            </a:r>
            <a:endParaRPr lang="en-US" altLang="zh-CN" sz="1600" dirty="0">
              <a:solidFill>
                <a:schemeClr val="tx1"/>
              </a:solidFill>
            </a:endParaRPr>
          </a:p>
          <a:p>
            <a:pPr algn="ctr"/>
            <a:r>
              <a:rPr lang="en-US" altLang="zh-CN" sz="1600" dirty="0" err="1">
                <a:solidFill>
                  <a:schemeClr val="tx1"/>
                </a:solidFill>
              </a:rPr>
              <a:t>revised_code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C977C908-844F-AA2E-7DAC-2D07A2CCF666}"/>
              </a:ext>
            </a:extLst>
          </p:cNvPr>
          <p:cNvCxnSpPr>
            <a:cxnSpLocks/>
          </p:cNvCxnSpPr>
          <p:nvPr/>
        </p:nvCxnSpPr>
        <p:spPr>
          <a:xfrm flipH="1">
            <a:off x="9098763" y="5675111"/>
            <a:ext cx="8646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4763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</TotalTime>
  <Words>1065</Words>
  <Application>Microsoft Office PowerPoint</Application>
  <PresentationFormat>宽屏</PresentationFormat>
  <Paragraphs>170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JetBrains Mono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现在实现的</vt:lpstr>
      <vt:lpstr>pipeline</vt:lpstr>
      <vt:lpstr>数据收集</vt:lpstr>
      <vt:lpstr>输入Context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 x</dc:creator>
  <cp:lastModifiedBy>sc x</cp:lastModifiedBy>
  <cp:revision>113</cp:revision>
  <dcterms:created xsi:type="dcterms:W3CDTF">2025-08-18T08:32:12Z</dcterms:created>
  <dcterms:modified xsi:type="dcterms:W3CDTF">2025-08-27T07:21:12Z</dcterms:modified>
</cp:coreProperties>
</file>