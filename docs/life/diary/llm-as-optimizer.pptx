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1" r:id="rId6"/>
    <p:sldId id="258" r:id="rId7"/>
    <p:sldId id="264" r:id="rId8"/>
    <p:sldId id="265" r:id="rId9"/>
    <p:sldId id="259" r:id="rId10"/>
    <p:sldId id="263" r:id="rId11"/>
    <p:sldId id="262" r:id="rId12"/>
    <p:sldId id="26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38" d="100"/>
          <a:sy n="138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发现可以直接用提供的</a:t>
            </a:r>
            <a:r>
              <a:rPr lang="en-US" altLang="zh-CN"/>
              <a:t>docker</a:t>
            </a:r>
            <a:r>
              <a:rPr lang="zh-CN" altLang="en-US"/>
              <a:t>镜像</a:t>
            </a:r>
            <a:r>
              <a:rPr lang="en-US" altLang="zh-CN"/>
              <a:t>(sweb.eval)，140</a:t>
            </a:r>
            <a:r>
              <a:rPr lang="zh-CN" altLang="en-US"/>
              <a:t>个直接拉取的它的</a:t>
            </a:r>
            <a:r>
              <a:rPr lang="en-US" altLang="zh-CN"/>
              <a:t>docker images，</a:t>
            </a:r>
            <a:r>
              <a:rPr lang="zh-CN" altLang="en-US"/>
              <a:t>但是还有几个不能运行</a:t>
            </a:r>
            <a:r>
              <a:rPr lang="en-US" altLang="zh-CN"/>
              <a:t>，</a:t>
            </a:r>
            <a:r>
              <a:rPr lang="zh-CN" altLang="en-US"/>
              <a:t>自己</a:t>
            </a:r>
            <a:r>
              <a:rPr lang="en-US" altLang="zh-CN"/>
              <a:t>pip install</a:t>
            </a:r>
            <a:r>
              <a:rPr lang="zh-CN" altLang="en-US"/>
              <a:t>了一些库给运行</a:t>
            </a:r>
            <a:r>
              <a:rPr lang="zh-CN" altLang="en-US"/>
              <a:t>起来</a:t>
            </a:r>
            <a:endParaRPr lang="zh-CN" altLang="en-US"/>
          </a:p>
          <a:p>
            <a:r>
              <a:rPr lang="en-US" altLang="zh-CN"/>
              <a:t>（</a:t>
            </a:r>
            <a:r>
              <a:rPr lang="zh-CN" altLang="en-US"/>
              <a:t>这里是有很大一番波折的</a:t>
            </a:r>
            <a:r>
              <a:rPr lang="en-US" altLang="zh-CN"/>
              <a:t>，</a:t>
            </a:r>
            <a:r>
              <a:rPr lang="zh-CN" altLang="en-US"/>
              <a:t>这个结构很巧妙</a:t>
            </a:r>
            <a:r>
              <a:rPr lang="en-US" altLang="zh-CN"/>
              <a:t>，sweb.base、sweb.env、sweb.eval、</a:t>
            </a:r>
            <a:r>
              <a:rPr lang="en-US" altLang="zh-CN"/>
              <a:t>container）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tottime (Total Time - </a:t>
            </a:r>
            <a:r>
              <a:rPr lang="zh-CN" altLang="en-US"/>
              <a:t>自身耗时</a:t>
            </a:r>
            <a:r>
              <a:rPr lang="en-US" altLang="zh-CN"/>
              <a:t>):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定义</a:t>
            </a:r>
            <a:r>
              <a:rPr lang="en-US" altLang="zh-CN"/>
              <a:t>: </a:t>
            </a:r>
            <a:r>
              <a:rPr lang="zh-CN" altLang="en-US"/>
              <a:t>函数自身逻辑执行所花费的时间（不包含它调用的子函数的时间）。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含义</a:t>
            </a:r>
            <a:r>
              <a:rPr lang="en-US" altLang="zh-CN"/>
              <a:t>: </a:t>
            </a:r>
            <a:r>
              <a:rPr lang="zh-CN" altLang="en-US"/>
              <a:t>如果一个函数的</a:t>
            </a:r>
            <a:r>
              <a:rPr lang="en-US" altLang="zh-CN"/>
              <a:t> tottime </a:t>
            </a:r>
            <a:r>
              <a:rPr lang="zh-CN" altLang="en-US"/>
              <a:t>很高，说明这个函数内部有复杂的循环、大量的计算或者低效的逻辑。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对应场景</a:t>
            </a:r>
            <a:r>
              <a:rPr lang="en-US" altLang="zh-CN"/>
              <a:t>: </a:t>
            </a:r>
            <a:r>
              <a:rPr lang="zh-CN" altLang="en-US"/>
              <a:t>纯计算函数，如矩阵乘法、复杂的数学公式计算。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cumtime (Cumulative Time - </a:t>
            </a:r>
            <a:r>
              <a:rPr lang="zh-CN" altLang="en-US"/>
              <a:t>累计耗时</a:t>
            </a:r>
            <a:r>
              <a:rPr lang="en-US" altLang="zh-CN"/>
              <a:t>):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定义</a:t>
            </a:r>
            <a:r>
              <a:rPr lang="en-US" altLang="zh-CN"/>
              <a:t>: </a:t>
            </a:r>
            <a:r>
              <a:rPr lang="zh-CN" altLang="en-US"/>
              <a:t>函数从开始调用到结束返回的总时间（包含它调用的所有子函数的时间）。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含义</a:t>
            </a:r>
            <a:r>
              <a:rPr lang="en-US" altLang="zh-CN"/>
              <a:t>: </a:t>
            </a:r>
            <a:r>
              <a:rPr lang="zh-CN" altLang="en-US"/>
              <a:t>如果一个函数的</a:t>
            </a:r>
            <a:r>
              <a:rPr lang="en-US" altLang="zh-CN"/>
              <a:t> cumtime </a:t>
            </a:r>
            <a:r>
              <a:rPr lang="zh-CN" altLang="en-US"/>
              <a:t>很高，但</a:t>
            </a:r>
            <a:r>
              <a:rPr lang="en-US" altLang="zh-CN"/>
              <a:t> tottime </a:t>
            </a:r>
            <a:r>
              <a:rPr lang="zh-CN" altLang="en-US"/>
              <a:t>很低，说明它是一个管理者（</a:t>
            </a:r>
            <a:r>
              <a:rPr lang="en-US" altLang="zh-CN"/>
              <a:t>Manager</a:t>
            </a:r>
            <a:r>
              <a:rPr lang="zh-CN" altLang="en-US"/>
              <a:t>）。它自己干活很少，但它调用的</a:t>
            </a:r>
            <a:r>
              <a:rPr lang="en-US" altLang="zh-CN"/>
              <a:t>“</a:t>
            </a:r>
            <a:r>
              <a:rPr lang="zh-CN" altLang="en-US"/>
              <a:t>下属</a:t>
            </a:r>
            <a:r>
              <a:rPr lang="en-US" altLang="zh-CN"/>
              <a:t>”</a:t>
            </a:r>
            <a:r>
              <a:rPr lang="zh-CN" altLang="en-US"/>
              <a:t>（子函数）很慢。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对应场景</a:t>
            </a:r>
            <a:r>
              <a:rPr lang="en-US" altLang="zh-CN"/>
              <a:t>: </a:t>
            </a:r>
            <a:r>
              <a:rPr lang="zh-CN" altLang="en-US"/>
              <a:t>顶层</a:t>
            </a:r>
            <a:r>
              <a:rPr lang="en-US" altLang="zh-CN"/>
              <a:t> API</a:t>
            </a:r>
            <a:r>
              <a:rPr lang="zh-CN" altLang="en-US"/>
              <a:t>（如</a:t>
            </a:r>
            <a:r>
              <a:rPr lang="en-US" altLang="zh-CN"/>
              <a:t> polyfit</a:t>
            </a:r>
            <a:r>
              <a:rPr lang="zh-CN" altLang="en-US"/>
              <a:t>），它负责调度数据准备、调用计算库（</a:t>
            </a:r>
            <a:r>
              <a:rPr lang="en-US" altLang="zh-CN"/>
              <a:t>Numpy/Pandas</a:t>
            </a:r>
            <a:r>
              <a:rPr lang="zh-CN" altLang="en-US"/>
              <a:t>）、重组结果。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2F4EF-A399-4249-94CF-D253FF7DA09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AF311-A7F4-114A-9620-5B826839FA2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llm as code optimizer</a:t>
            </a:r>
            <a:endParaRPr kumimoji="1"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1.dataset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91945"/>
            <a:ext cx="10515600" cy="4351338"/>
          </a:xfrm>
        </p:spPr>
        <p:txBody>
          <a:bodyPr/>
          <a:lstStyle/>
          <a:p>
            <a:r>
              <a:rPr kumimoji="1" lang="zh-CN" altLang="en-US"/>
              <a:t>重新运行</a:t>
            </a:r>
            <a:r>
              <a:rPr kumimoji="1" lang="en-US" altLang="zh-CN"/>
              <a:t>140</a:t>
            </a:r>
            <a:r>
              <a:rPr kumimoji="1" lang="zh-CN" altLang="en-US"/>
              <a:t>个</a:t>
            </a:r>
            <a:r>
              <a:rPr kumimoji="1" lang="en-US" altLang="zh-CN"/>
              <a:t>instance，</a:t>
            </a:r>
            <a:r>
              <a:rPr kumimoji="1" lang="zh-CN" altLang="en-US"/>
              <a:t>然后对</a:t>
            </a:r>
            <a:r>
              <a:rPr kumimoji="1" lang="en-US" altLang="zh-CN"/>
              <a:t>test func</a:t>
            </a:r>
            <a:r>
              <a:rPr kumimoji="1" lang="zh-CN" altLang="en-US"/>
              <a:t>分析</a:t>
            </a:r>
            <a:br>
              <a:rPr kumimoji="1" lang="zh-CN" altLang="en-US"/>
            </a:br>
            <a:r>
              <a:rPr kumimoji="1" lang="en-US" altLang="zh-CN"/>
              <a:t>IQR</a:t>
            </a:r>
            <a:r>
              <a:rPr kumimoji="1" lang="zh-CN" altLang="en-US"/>
              <a:t>过滤</a:t>
            </a:r>
            <a:r>
              <a:rPr kumimoji="1" lang="en-US" altLang="zh-CN"/>
              <a:t>，</a:t>
            </a:r>
            <a:r>
              <a:rPr kumimoji="1" lang="zh-CN" altLang="en-US"/>
              <a:t>然后</a:t>
            </a:r>
            <a:r>
              <a:rPr kumimoji="1" lang="en-US" altLang="zh-CN"/>
              <a:t> </a:t>
            </a:r>
            <a:r>
              <a:rPr kumimoji="1" lang="zh-CN" altLang="en-US"/>
              <a:t>取平均</a:t>
            </a:r>
            <a:r>
              <a:rPr kumimoji="1" lang="en-US" altLang="zh-CN"/>
              <a:t>，</a:t>
            </a:r>
            <a:r>
              <a:rPr kumimoji="1" lang="zh-CN" altLang="en-US"/>
              <a:t>计算百分比</a:t>
            </a:r>
            <a:endParaRPr kumimoji="1" lang="en-US" altLang="zh-CN"/>
          </a:p>
          <a:p>
            <a:endParaRPr kumimoji="1" lang="en-US" altLang="zh-CN"/>
          </a:p>
        </p:txBody>
      </p:sp>
      <p:pic>
        <p:nvPicPr>
          <p:cNvPr id="7" name="图片 6" descr="Code_Generated_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40" y="2580640"/>
            <a:ext cx="6603365" cy="39935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4775" y="6311900"/>
            <a:ext cx="9040495" cy="3987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400"/>
              </a:lnSpc>
            </a:pPr>
            <a:r>
              <a:rPr lang="en-US" altLang="zh-CN" sz="1600" b="0">
                <a:solidFill>
                  <a:srgbClr val="9CDCFE"/>
                </a:solidFill>
                <a:latin typeface="Menlo" panose="020B0609030804020204"/>
                <a:ea typeface="Menlo" panose="020B0609030804020204"/>
              </a:rPr>
              <a:t>bins</a:t>
            </a:r>
            <a:r>
              <a:rPr lang="en-US" altLang="zh-CN" sz="1600" b="0">
                <a:solidFill>
                  <a:srgbClr val="D4D4D4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 [</a:t>
            </a:r>
            <a:r>
              <a:rPr lang="en-US" altLang="zh-CN" sz="1600" b="0">
                <a:solidFill>
                  <a:srgbClr val="D4D4D4"/>
                </a:solidFill>
                <a:latin typeface="Menlo" panose="020B0609030804020204"/>
                <a:ea typeface="Menlo" panose="020B0609030804020204"/>
              </a:rPr>
              <a:t>-</a:t>
            </a:r>
            <a:r>
              <a:rPr lang="en-US" altLang="zh-CN" sz="1600" b="0">
                <a:solidFill>
                  <a:srgbClr val="4EC9B0"/>
                </a:solidFill>
                <a:latin typeface="Menlo" panose="020B0609030804020204"/>
                <a:ea typeface="Menlo" panose="020B0609030804020204"/>
              </a:rPr>
              <a:t>np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lang="en-US" altLang="zh-CN" sz="1600" b="0">
                <a:solidFill>
                  <a:srgbClr val="9CDCFE"/>
                </a:solidFill>
                <a:latin typeface="Menlo" panose="020B0609030804020204"/>
                <a:ea typeface="Menlo" panose="020B0609030804020204"/>
              </a:rPr>
              <a:t>inf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,  </a:t>
            </a:r>
            <a:r>
              <a:rPr lang="en-US" altLang="zh-CN" sz="1600" b="0">
                <a:solidFill>
                  <a:srgbClr val="D4D4D4"/>
                </a:solidFill>
                <a:latin typeface="Menlo" panose="020B0609030804020204"/>
                <a:ea typeface="Menlo" panose="020B0609030804020204"/>
              </a:rPr>
              <a:t>-</a:t>
            </a:r>
            <a:r>
              <a:rPr lang="en-US" altLang="zh-CN" sz="1600" b="0">
                <a:solidFill>
                  <a:srgbClr val="B5CEA8"/>
                </a:solidFill>
                <a:latin typeface="Menlo" panose="020B0609030804020204"/>
                <a:ea typeface="Menlo" panose="020B0609030804020204"/>
              </a:rPr>
              <a:t>0.05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,  </a:t>
            </a:r>
            <a:r>
              <a:rPr lang="en-US" altLang="zh-CN" sz="1600" b="0">
                <a:solidFill>
                  <a:srgbClr val="B5CEA8"/>
                </a:solidFill>
                <a:latin typeface="Menlo" panose="020B0609030804020204"/>
                <a:ea typeface="Menlo" panose="020B0609030804020204"/>
              </a:rPr>
              <a:t>0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,  </a:t>
            </a:r>
            <a:r>
              <a:rPr lang="en-US" altLang="zh-CN" sz="1600" b="0">
                <a:solidFill>
                  <a:srgbClr val="B5CEA8"/>
                </a:solidFill>
                <a:latin typeface="Menlo" panose="020B0609030804020204"/>
                <a:ea typeface="Menlo" panose="020B0609030804020204"/>
              </a:rPr>
              <a:t>0.05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,    </a:t>
            </a:r>
            <a:r>
              <a:rPr lang="en-US" altLang="zh-CN" sz="1600" b="0">
                <a:solidFill>
                  <a:srgbClr val="B5CEA8"/>
                </a:solidFill>
                <a:latin typeface="Menlo" panose="020B0609030804020204"/>
                <a:ea typeface="Menlo" panose="020B0609030804020204"/>
              </a:rPr>
              <a:t>0.5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,  </a:t>
            </a:r>
            <a:r>
              <a:rPr lang="en-US" altLang="zh-CN" sz="1600" b="0">
                <a:solidFill>
                  <a:srgbClr val="B5CEA8"/>
                </a:solidFill>
                <a:latin typeface="Menlo" panose="020B0609030804020204"/>
                <a:ea typeface="Menlo" panose="020B0609030804020204"/>
              </a:rPr>
              <a:t>0.8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,   </a:t>
            </a:r>
            <a:r>
              <a:rPr lang="en-US" altLang="zh-CN" sz="1600" b="0">
                <a:solidFill>
                  <a:srgbClr val="B5CEA8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,  </a:t>
            </a:r>
            <a:r>
              <a:rPr lang="en-US" altLang="zh-CN" sz="1600" b="0">
                <a:solidFill>
                  <a:srgbClr val="4EC9B0"/>
                </a:solidFill>
                <a:latin typeface="Menlo" panose="020B0609030804020204"/>
                <a:ea typeface="Menlo" panose="020B0609030804020204"/>
              </a:rPr>
              <a:t>np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lang="en-US" altLang="zh-CN" sz="1600" b="0">
                <a:solidFill>
                  <a:srgbClr val="9CDCFE"/>
                </a:solidFill>
                <a:latin typeface="Menlo" panose="020B0609030804020204"/>
                <a:ea typeface="Menlo" panose="020B0609030804020204"/>
              </a:rPr>
              <a:t>inf</a:t>
            </a:r>
            <a:r>
              <a:rPr lang="en-US" altLang="zh-CN" sz="1600" b="0">
                <a:solidFill>
                  <a:srgbClr val="CCCCCC"/>
                </a:solidFill>
                <a:latin typeface="Menlo" panose="020B0609030804020204"/>
                <a:ea typeface="Menlo" panose="020B0609030804020204"/>
              </a:rPr>
              <a:t>]</a:t>
            </a:r>
            <a:endParaRPr lang="en-US" altLang="zh-CN" sz="1600" b="0">
              <a:solidFill>
                <a:srgbClr val="CCCCCC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90890" y="0"/>
            <a:ext cx="3730625" cy="7616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验证</a:t>
            </a:r>
            <a:r>
              <a:rPr lang="en-US" altLang="zh-CN"/>
              <a:t>unit test</a:t>
            </a:r>
            <a:r>
              <a:rPr lang="zh-CN" altLang="en-US"/>
              <a:t>性能提升：</a:t>
            </a:r>
            <a:endParaRPr lang="zh-CN" altLang="en-US"/>
          </a:p>
          <a:p>
            <a:r>
              <a:rPr lang="en-US" altLang="zh-CN"/>
              <a:t>    warm-up 3</a:t>
            </a:r>
            <a:r>
              <a:rPr lang="zh-CN" altLang="en-US"/>
              <a:t>次</a:t>
            </a:r>
            <a:endParaRPr lang="zh-CN" altLang="en-US"/>
          </a:p>
          <a:p>
            <a:r>
              <a:rPr lang="en-US" altLang="zh-CN"/>
              <a:t>    *</a:t>
            </a:r>
            <a:r>
              <a:rPr lang="zh-CN" altLang="en-US"/>
              <a:t>执行</a:t>
            </a:r>
            <a:r>
              <a:rPr lang="en-US" altLang="zh-CN"/>
              <a:t>**20</a:t>
            </a:r>
            <a:r>
              <a:rPr lang="zh-CN" altLang="en-US"/>
              <a:t>🤔</a:t>
            </a:r>
            <a:r>
              <a:rPr lang="en-US" altLang="zh-CN"/>
              <a:t>**</a:t>
            </a:r>
            <a:r>
              <a:rPr lang="zh-CN" altLang="en-US"/>
              <a:t>次重复的</a:t>
            </a:r>
            <a:r>
              <a:rPr lang="en-US" altLang="zh-CN"/>
              <a:t>pytest</a:t>
            </a:r>
            <a:r>
              <a:rPr lang="zh-CN" altLang="en-US"/>
              <a:t>测量</a:t>
            </a:r>
            <a:endParaRPr lang="zh-CN" altLang="en-US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**</a:t>
            </a:r>
            <a:r>
              <a:rPr lang="zh-CN" altLang="en-US">
                <a:solidFill>
                  <a:srgbClr val="FF0000"/>
                </a:solidFill>
              </a:rPr>
              <a:t>过滤离群值</a:t>
            </a:r>
            <a:r>
              <a:rPr lang="zh-CN" altLang="en-US"/>
              <a:t>🤔！</a:t>
            </a:r>
            <a:r>
              <a:rPr lang="en-US" altLang="zh-CN"/>
              <a:t>**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使用阈值乘数为</a:t>
            </a:r>
            <a:r>
              <a:rPr lang="en-US" altLang="zh-CN"/>
              <a:t>1</a:t>
            </a:r>
            <a:r>
              <a:rPr lang="zh-CN" altLang="en-US"/>
              <a:t>的</a:t>
            </a:r>
            <a:r>
              <a:rPr lang="en-US" altLang="zh-CN"/>
              <a:t>IQR</a:t>
            </a:r>
            <a:r>
              <a:rPr lang="zh-CN" altLang="en-US"/>
              <a:t>四分位距方法。</a:t>
            </a:r>
            <a:endParaRPr lang="zh-CN" altLang="en-US"/>
          </a:p>
          <a:p>
            <a:r>
              <a:rPr lang="en-US" altLang="zh-CN"/>
              <a:t>       </a:t>
            </a:r>
            <a:r>
              <a:rPr lang="zh-CN" altLang="en-US" sz="1400"/>
              <a:t>过程为：</a:t>
            </a:r>
            <a:r>
              <a:rPr lang="en-US" altLang="zh-CN" sz="1400"/>
              <a:t> </a:t>
            </a:r>
            <a:r>
              <a:rPr lang="zh-CN" altLang="en-US" sz="1400"/>
              <a:t>假设排序后数组</a:t>
            </a:r>
            <a:r>
              <a:rPr lang="en-US" altLang="zh-CN" sz="1400"/>
              <a:t> a1,a2,a3,......,a20</a:t>
            </a:r>
            <a:endParaRPr lang="en-US" altLang="zh-CN" sz="1400"/>
          </a:p>
          <a:p>
            <a:r>
              <a:rPr lang="en-US" altLang="zh-CN" sz="1400"/>
              <a:t>            </a:t>
            </a:r>
            <a:r>
              <a:rPr lang="zh-CN" altLang="en-US" sz="1400"/>
              <a:t>则</a:t>
            </a:r>
            <a:r>
              <a:rPr lang="en-US" altLang="zh-CN" sz="1400"/>
              <a:t>Q1: a5</a:t>
            </a:r>
            <a:r>
              <a:rPr lang="zh-CN" altLang="en-US" sz="1400"/>
              <a:t>、</a:t>
            </a:r>
            <a:r>
              <a:rPr lang="en-US" altLang="zh-CN" sz="1400"/>
              <a:t>a6</a:t>
            </a:r>
            <a:r>
              <a:rPr lang="zh-CN" altLang="en-US" sz="1400"/>
              <a:t>的平均值</a:t>
            </a:r>
            <a:r>
              <a:rPr lang="en-US" altLang="zh-CN" sz="1400"/>
              <a:t>  Q3:a15</a:t>
            </a:r>
            <a:r>
              <a:rPr lang="zh-CN" altLang="en-US" sz="1400"/>
              <a:t>、</a:t>
            </a:r>
            <a:r>
              <a:rPr lang="en-US" altLang="zh-CN" sz="1400"/>
              <a:t>a16</a:t>
            </a:r>
            <a:r>
              <a:rPr lang="zh-CN" altLang="en-US" sz="1400"/>
              <a:t>的平均值</a:t>
            </a:r>
            <a:endParaRPr lang="zh-CN" altLang="en-US" sz="1400"/>
          </a:p>
          <a:p>
            <a:r>
              <a:rPr lang="en-US" altLang="zh-CN" sz="1400"/>
              <a:t>            </a:t>
            </a:r>
            <a:r>
              <a:rPr lang="zh-CN" altLang="en-US" sz="1400"/>
              <a:t>取</a:t>
            </a:r>
            <a:r>
              <a:rPr lang="en-US" altLang="zh-CN" sz="1400"/>
              <a:t>IQR= Q3-Q1</a:t>
            </a:r>
            <a:endParaRPr lang="en-US" altLang="zh-CN" sz="1400"/>
          </a:p>
          <a:p>
            <a:r>
              <a:rPr lang="en-US" altLang="zh-CN" sz="1400"/>
              <a:t>            </a:t>
            </a:r>
            <a:r>
              <a:rPr lang="zh-CN" altLang="en-US" sz="1400"/>
              <a:t>然后过滤掉</a:t>
            </a:r>
            <a:r>
              <a:rPr lang="en-US" altLang="zh-CN" sz="1400"/>
              <a:t>  </a:t>
            </a:r>
            <a:r>
              <a:rPr lang="zh-CN" altLang="en-US" sz="1400"/>
              <a:t>小于</a:t>
            </a:r>
            <a:r>
              <a:rPr lang="en-US" altLang="zh-CN" sz="1400"/>
              <a:t>Q1-IQR,</a:t>
            </a:r>
            <a:r>
              <a:rPr lang="zh-CN" altLang="en-US" sz="1400"/>
              <a:t>大于</a:t>
            </a:r>
            <a:r>
              <a:rPr lang="en-US" altLang="zh-CN" sz="1400"/>
              <a:t>Q3+IQR </a:t>
            </a:r>
            <a:r>
              <a:rPr lang="zh-CN" altLang="en-US" sz="1400"/>
              <a:t>的数据，这些数据即离群点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/>
              <a:t>**</a:t>
            </a:r>
            <a:r>
              <a:rPr lang="zh-CN" altLang="en-US"/>
              <a:t>计算统计意义上</a:t>
            </a:r>
            <a:r>
              <a:rPr lang="zh-CN" altLang="en-US">
                <a:solidFill>
                  <a:srgbClr val="FF0000"/>
                </a:solidFill>
              </a:rPr>
              <a:t>最小性能增益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    </a:t>
            </a:r>
            <a:r>
              <a:rPr lang="zh-CN" altLang="en-US" sz="1400"/>
              <a:t>假设</a:t>
            </a:r>
            <a:r>
              <a:rPr lang="en-US" altLang="zh-CN" sz="1400"/>
              <a:t>A</a:t>
            </a:r>
            <a:r>
              <a:rPr lang="zh-CN" altLang="en-US" sz="1400"/>
              <a:t>为</a:t>
            </a:r>
            <a:r>
              <a:rPr lang="en-US" altLang="zh-CN" sz="1400"/>
              <a:t>original code</a:t>
            </a:r>
            <a:r>
              <a:rPr lang="zh-CN" altLang="en-US" sz="1400"/>
              <a:t>的</a:t>
            </a:r>
            <a:r>
              <a:rPr lang="en-US" altLang="zh-CN" sz="1400"/>
              <a:t>runtimes</a:t>
            </a:r>
            <a:r>
              <a:rPr lang="zh-CN" altLang="en-US" sz="1400"/>
              <a:t>，</a:t>
            </a:r>
            <a:r>
              <a:rPr lang="en-US" altLang="zh-CN" sz="1400"/>
              <a:t>B</a:t>
            </a:r>
            <a:r>
              <a:rPr lang="zh-CN" altLang="en-US" sz="1400"/>
              <a:t>为</a:t>
            </a:r>
            <a:r>
              <a:rPr lang="en-US" altLang="zh-CN" sz="1400"/>
              <a:t>modified code runtimes</a:t>
            </a:r>
            <a:endParaRPr lang="en-US" altLang="zh-CN" sz="1400"/>
          </a:p>
          <a:p>
            <a:r>
              <a:rPr lang="en-US" altLang="zh-CN" sz="1400"/>
              <a:t>        </a:t>
            </a:r>
            <a:r>
              <a:rPr lang="zh-CN" altLang="en-US" sz="1400"/>
              <a:t>不断的人为使得</a:t>
            </a:r>
            <a:r>
              <a:rPr lang="en-US" altLang="zh-CN" sz="1400"/>
              <a:t>B</a:t>
            </a:r>
            <a:r>
              <a:rPr lang="zh-CN" altLang="en-US" sz="1400"/>
              <a:t>变慢，每次乘以</a:t>
            </a:r>
            <a:r>
              <a:rPr lang="en-US" altLang="zh-CN" sz="1400"/>
              <a:t>(1-x),x</a:t>
            </a:r>
            <a:r>
              <a:rPr lang="zh-CN" altLang="en-US" sz="1400"/>
              <a:t>每步加</a:t>
            </a:r>
            <a:r>
              <a:rPr lang="en-US" altLang="zh-CN" sz="1400"/>
              <a:t>0.01</a:t>
            </a:r>
            <a:r>
              <a:rPr lang="zh-CN" altLang="en-US" sz="1400"/>
              <a:t>，减少百分之</a:t>
            </a:r>
            <a:r>
              <a:rPr lang="en-US" altLang="zh-CN" sz="1400"/>
              <a:t>1</a:t>
            </a:r>
            <a:r>
              <a:rPr lang="zh-CN" altLang="en-US" sz="1400"/>
              <a:t>的性能，看</a:t>
            </a:r>
            <a:r>
              <a:rPr lang="en-US" altLang="zh-CN" sz="1400"/>
              <a:t>B</a:t>
            </a:r>
            <a:r>
              <a:rPr lang="zh-CN" altLang="en-US" sz="1400"/>
              <a:t>是否仍然比</a:t>
            </a:r>
            <a:r>
              <a:rPr lang="en-US" altLang="zh-CN" sz="1400"/>
              <a:t>A</a:t>
            </a:r>
            <a:r>
              <a:rPr lang="zh-CN" altLang="en-US" sz="1400"/>
              <a:t>快，统计意义上</a:t>
            </a:r>
            <a:r>
              <a:rPr lang="en-US" altLang="zh-CN" sz="1400"/>
              <a:t> MannWhitneyUTest</a:t>
            </a:r>
            <a:r>
              <a:rPr lang="zh-CN" altLang="en-US" sz="1400"/>
              <a:t>，</a:t>
            </a:r>
            <a:r>
              <a:rPr lang="en-US" altLang="zh-CN" sz="1400"/>
              <a:t>p</a:t>
            </a:r>
            <a:r>
              <a:rPr lang="zh-CN" altLang="en-US" sz="1400"/>
              <a:t>值这里取</a:t>
            </a:r>
            <a:r>
              <a:rPr lang="en-US" altLang="zh-CN" sz="1400"/>
              <a:t>0.1</a:t>
            </a:r>
            <a:endParaRPr lang="en-US" altLang="zh-CN" sz="1400"/>
          </a:p>
          <a:p>
            <a:r>
              <a:rPr lang="en-US" altLang="zh-CN" sz="1400"/>
              <a:t>        </a:t>
            </a:r>
            <a:r>
              <a:rPr lang="zh-CN" altLang="en-US" sz="1400"/>
              <a:t>最终最大的符合要求</a:t>
            </a:r>
            <a:r>
              <a:rPr lang="en-US" altLang="zh-CN" sz="1400"/>
              <a:t>x</a:t>
            </a:r>
            <a:r>
              <a:rPr lang="zh-CN" altLang="en-US" sz="1400"/>
              <a:t>，即为目标值。</a:t>
            </a:r>
            <a:r>
              <a:rPr lang="en-US" altLang="zh-CN" sz="1400"/>
              <a:t>  </a:t>
            </a:r>
            <a:r>
              <a:rPr lang="zh-CN" altLang="en-US" sz="1400"/>
              <a:t>过滤掉提升不足</a:t>
            </a:r>
            <a:r>
              <a:rPr lang="en-US" altLang="zh-CN" sz="1400"/>
              <a:t>5%</a:t>
            </a:r>
            <a:r>
              <a:rPr lang="zh-CN" altLang="en-US" sz="1400"/>
              <a:t>的数据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925" y="2410460"/>
            <a:ext cx="5142230" cy="481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en-US" altLang="zh-CN"/>
              <a:t>dataset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在一条数据上跑通</a:t>
            </a:r>
            <a:r>
              <a:rPr lang="en-US" altLang="zh-CN"/>
              <a:t>perf </a:t>
            </a:r>
            <a:r>
              <a:rPr lang="zh-CN" altLang="en-US"/>
              <a:t>测量</a:t>
            </a:r>
            <a:r>
              <a:rPr lang="en-US" altLang="zh-CN"/>
              <a:t> cpu</a:t>
            </a:r>
            <a:r>
              <a:rPr lang="zh-CN" altLang="en-US"/>
              <a:t>指令数</a:t>
            </a:r>
            <a:r>
              <a:rPr lang="en-US" altLang="zh-CN"/>
              <a:t>，</a:t>
            </a:r>
            <a:r>
              <a:rPr lang="zh-CN" altLang="en-US"/>
              <a:t>发现这个其实也有波动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95" y="2403475"/>
            <a:ext cx="3008630" cy="3917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2.Method</a:t>
            </a:r>
            <a:r>
              <a:rPr kumimoji="1" lang="zh-CN" altLang="en-US" dirty="0"/>
              <a:t> </a:t>
            </a:r>
            <a:endParaRPr kumimoji="1" lang="zh-CN" altLang="en-US" dirty="0"/>
          </a:p>
        </p:txBody>
      </p:sp>
      <p:sp>
        <p:nvSpPr>
          <p:cNvPr id="7" name="AutoShape 8" descr="的图片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AutoShape 10" descr="的图片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459857" y="14319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0" name="AutoShape 12" descr="的图片"/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95" y="1228090"/>
            <a:ext cx="11002645" cy="55486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6995" y="1987550"/>
            <a:ext cx="883920" cy="302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stage 0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允许修改数据</a:t>
            </a:r>
            <a:r>
              <a:rPr lang="zh-CN" altLang="en-US"/>
              <a:t>规模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理由是在压力测试下</a:t>
            </a:r>
            <a:r>
              <a:rPr lang="en-US" altLang="zh-CN"/>
              <a:t>，</a:t>
            </a:r>
            <a:r>
              <a:rPr lang="zh-CN" altLang="en-US"/>
              <a:t>更容易</a:t>
            </a:r>
            <a:r>
              <a:rPr lang="zh-CN" altLang="en-US"/>
              <a:t>识别出性能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15125" y="7759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stage3，4</a:t>
            </a:r>
            <a:r>
              <a:rPr lang="zh-CN" altLang="en-US"/>
              <a:t>还需要优化</a:t>
            </a:r>
            <a:r>
              <a:rPr lang="en-US" altLang="zh-CN"/>
              <a:t>，</a:t>
            </a:r>
            <a:endParaRPr lang="en-US" altLang="zh-CN"/>
          </a:p>
          <a:p>
            <a:r>
              <a:rPr lang="zh-CN" altLang="en-US"/>
              <a:t>可能需要在更多例子上找</a:t>
            </a:r>
            <a:r>
              <a:rPr lang="zh-CN" altLang="en-US"/>
              <a:t>灵感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59130" y="6451600"/>
            <a:ext cx="352806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这个节点分类可能</a:t>
            </a:r>
            <a:r>
              <a:rPr lang="zh-CN" altLang="en-US"/>
              <a:t>还需要</a:t>
            </a:r>
            <a:r>
              <a:rPr lang="zh-CN" altLang="en-US"/>
              <a:t>细化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</a:t>
            </a:r>
            <a:r>
              <a:rPr lang="en-US" altLang="zh-CN"/>
              <a:t>method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7850" y="1945640"/>
            <a:ext cx="3830320" cy="4351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855" y="1945640"/>
            <a:ext cx="6528435" cy="44602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718560" y="315595"/>
            <a:ext cx="7303770" cy="13220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400"/>
              </a:lnSpc>
            </a:pPr>
            <a:r>
              <a:rPr lang="en-US" altLang="zh-CN" sz="1600" b="1">
                <a:solidFill>
                  <a:schemeClr val="tx1"/>
                </a:solidFill>
                <a:latin typeface="Menlo Bold" panose="020B0609030804020204" charset="0"/>
                <a:ea typeface="Menlo" panose="020B0609030804020204"/>
                <a:cs typeface="Menlo Bold" panose="020B0609030804020204" charset="0"/>
              </a:rPr>
              <a:t>sphinx-doc__sphinx-8537</a:t>
            </a:r>
            <a:endParaRPr lang="en-US" altLang="zh-CN" sz="1600" b="1">
              <a:solidFill>
                <a:schemeClr val="tx1"/>
              </a:solidFill>
              <a:latin typeface="Menlo Bold" panose="020B0609030804020204" charset="0"/>
              <a:ea typeface="Menlo" panose="020B0609030804020204"/>
              <a:cs typeface="Menlo Bold" panose="020B060903080402020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600" b="1">
                <a:solidFill>
                  <a:schemeClr val="tx1"/>
                </a:solidFill>
                <a:latin typeface="Menlo Bold" panose="020B0609030804020204" charset="0"/>
                <a:ea typeface="Menlo" panose="020B0609030804020204"/>
                <a:cs typeface="Menlo Bold" panose="020B0609030804020204" charset="0"/>
              </a:rPr>
              <a:t>tests/test_ext_autodoc.py::test_autodoc_ignore_module_all</a:t>
            </a:r>
            <a:endParaRPr lang="en-US" altLang="zh-CN" sz="1600" b="1">
              <a:solidFill>
                <a:schemeClr val="tx1"/>
              </a:solidFill>
              <a:latin typeface="Menlo Bold" panose="020B0609030804020204" charset="0"/>
              <a:ea typeface="Menlo" panose="020B0609030804020204"/>
              <a:cs typeface="Menlo Bold" panose="020B060903080402020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600" b="1">
                <a:solidFill>
                  <a:schemeClr val="tx1"/>
                </a:solidFill>
                <a:latin typeface="Menlo Bold" panose="020B0609030804020204" charset="0"/>
                <a:ea typeface="Menlo" panose="020B0609030804020204"/>
                <a:cs typeface="Menlo Bold" panose="020B0609030804020204" charset="0"/>
              </a:rPr>
              <a:t>0.8822847245545644,</a:t>
            </a:r>
            <a:endParaRPr lang="en-US" altLang="zh-CN" sz="1600" b="1">
              <a:solidFill>
                <a:schemeClr val="tx1"/>
              </a:solidFill>
              <a:latin typeface="Menlo Bold" panose="020B0609030804020204" charset="0"/>
              <a:ea typeface="Menlo" panose="020B0609030804020204"/>
              <a:cs typeface="Menlo Bold" panose="020B060903080402020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600" b="1">
                <a:solidFill>
                  <a:schemeClr val="tx1"/>
                </a:solidFill>
                <a:latin typeface="Menlo Bold" panose="020B0609030804020204" charset="0"/>
                <a:ea typeface="Menlo" panose="020B0609030804020204"/>
                <a:cs typeface="Menlo Bold" panose="020B0609030804020204" charset="0"/>
              </a:rPr>
              <a:t>0.0435421424001106, </a:t>
            </a:r>
            <a:endParaRPr lang="en-US" altLang="zh-CN" sz="1600" b="1">
              <a:solidFill>
                <a:schemeClr val="tx1"/>
              </a:solidFill>
              <a:latin typeface="Menlo Bold" panose="020B0609030804020204" charset="0"/>
              <a:ea typeface="Menlo" panose="020B0609030804020204"/>
              <a:cs typeface="Menlo Bold" panose="020B0609030804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3.</a:t>
            </a:r>
            <a:r>
              <a:rPr kumimoji="1" lang="zh-CN" altLang="en-US" dirty="0"/>
              <a:t>其他</a:t>
            </a:r>
            <a:r>
              <a:rPr kumimoji="1" lang="zh-CN" altLang="en-US" dirty="0"/>
              <a:t>问题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1. </a:t>
            </a:r>
            <a:r>
              <a:rPr kumimoji="1" lang="en-US" altLang="zh-CN"/>
              <a:t>baseline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en-US" altLang="zh-CN"/>
              <a:t>2. </a:t>
            </a:r>
            <a:r>
              <a:rPr kumimoji="1" lang="zh-CN" altLang="en-US"/>
              <a:t>这个优化器的</a:t>
            </a:r>
            <a:r>
              <a:rPr kumimoji="1" lang="en-US" altLang="zh-CN"/>
              <a:t> </a:t>
            </a:r>
            <a:r>
              <a:rPr kumimoji="1" lang="zh-CN" altLang="en-US"/>
              <a:t>数据集</a:t>
            </a:r>
            <a:r>
              <a:rPr kumimoji="1" lang="en-US" altLang="zh-CN"/>
              <a:t>，</a:t>
            </a:r>
            <a:r>
              <a:rPr kumimoji="1" lang="zh-CN" altLang="en-US"/>
              <a:t>是否需要考虑均衡</a:t>
            </a:r>
            <a:r>
              <a:rPr kumimoji="1" lang="en-US" altLang="zh-CN"/>
              <a:t>，</a:t>
            </a:r>
            <a:r>
              <a:rPr kumimoji="1" lang="zh-CN" altLang="en-US"/>
              <a:t>就是一半数据需要优化</a:t>
            </a:r>
            <a:r>
              <a:rPr kumimoji="1" lang="en-US" altLang="zh-CN"/>
              <a:t>、</a:t>
            </a:r>
            <a:r>
              <a:rPr kumimoji="1" lang="zh-CN" altLang="en-US"/>
              <a:t>一半又不需要</a:t>
            </a:r>
            <a:r>
              <a:rPr kumimoji="1" lang="zh-CN" altLang="en-US"/>
              <a:t>优化</a:t>
            </a:r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</a:t>
            </a:r>
            <a:r>
              <a:rPr kumimoji="1" lang="en-US" altLang="zh-CN" dirty="0"/>
              <a:t>RQ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baseline</a:t>
            </a:r>
            <a:r>
              <a:rPr kumimoji="1" lang="zh-CN" altLang="en-US" dirty="0"/>
              <a:t>比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 消融</a:t>
            </a:r>
            <a:endParaRPr kumimoji="1" lang="en-US" altLang="zh-CN" dirty="0"/>
          </a:p>
          <a:p>
            <a:r>
              <a:rPr kumimoji="1" lang="en-US" altLang="zh-CN" dirty="0"/>
              <a:t>3.</a:t>
            </a:r>
            <a:r>
              <a:rPr kumimoji="1" lang="zh-CN" altLang="en-US" dirty="0"/>
              <a:t> 多</a:t>
            </a:r>
            <a:r>
              <a:rPr kumimoji="1" lang="en-US" altLang="zh-CN" dirty="0" err="1"/>
              <a:t>llm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4.case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</a:t>
            </a:r>
            <a:endParaRPr kumimoji="1"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945</Words>
  <Application>WPS 演示</Application>
  <PresentationFormat>宽屏</PresentationFormat>
  <Paragraphs>65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Menlo</vt:lpstr>
      <vt:lpstr>Apple Color Emoji</vt:lpstr>
      <vt:lpstr>Menlo Bold</vt:lpstr>
      <vt:lpstr>Office 主题​​</vt:lpstr>
      <vt:lpstr>PowerPoint 演示文稿</vt:lpstr>
      <vt:lpstr>1.dataset</vt:lpstr>
      <vt:lpstr>PowerPoint 演示文稿</vt:lpstr>
      <vt:lpstr>2.Method </vt:lpstr>
      <vt:lpstr>PowerPoint 演示文稿</vt:lpstr>
      <vt:lpstr>PowerPoint 演示文稿</vt:lpstr>
      <vt:lpstr>3.baseline</vt:lpstr>
      <vt:lpstr>PowerPoint 演示文稿</vt:lpstr>
      <vt:lpstr>PowerPoint 演示文稿</vt:lpstr>
      <vt:lpstr>4. RQ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coffeecat</dc:creator>
  <cp:lastModifiedBy>ベ断桥烟雨ミ</cp:lastModifiedBy>
  <cp:revision>34</cp:revision>
  <dcterms:created xsi:type="dcterms:W3CDTF">2026-01-16T14:58:47Z</dcterms:created>
  <dcterms:modified xsi:type="dcterms:W3CDTF">2026-01-16T14:58:47Z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E3485449C3489C51573E6A6973F334A3_42</vt:lpwstr>
  </property>
  <property fmtid="{D5CDD505-2E9C-101B-9397-08002B2CF9AE}" pid="3" name="KSOProductBuildVer">
    <vt:lpwstr>2052-12.1.23540.23540</vt:lpwstr>
  </property>
</Properties>
</file>