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9"/>
  </p:handoutMasterIdLst>
  <p:sldIdLst>
    <p:sldId id="257" r:id="rId3"/>
    <p:sldId id="258" r:id="rId4"/>
    <p:sldId id="259" r:id="rId6"/>
    <p:sldId id="260" r:id="rId7"/>
    <p:sldId id="261" r:id="rId8"/>
    <p:sldId id="295" r:id="rId9"/>
    <p:sldId id="262" r:id="rId10"/>
    <p:sldId id="265" r:id="rId11"/>
    <p:sldId id="266" r:id="rId12"/>
    <p:sldId id="263" r:id="rId13"/>
    <p:sldId id="267" r:id="rId14"/>
    <p:sldId id="268" r:id="rId15"/>
    <p:sldId id="269" r:id="rId16"/>
    <p:sldId id="264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dirty="0">
                <a:solidFill>
                  <a:srgbClr val="92D050"/>
                </a:solidFill>
                <a:sym typeface="+mn-ea"/>
              </a:rPr>
              <a:t>semopt</a:t>
            </a:r>
            <a:r>
              <a:rPr lang="zh-CN" altLang="en-US" dirty="0">
                <a:sym typeface="+mn-ea"/>
              </a:rPr>
              <a:t>实验中采用 </a:t>
            </a:r>
            <a:r>
              <a:rPr lang="en-US" altLang="zh-CN" dirty="0">
                <a:sym typeface="+mn-ea"/>
              </a:rPr>
              <a:t>profiling </a:t>
            </a:r>
            <a:r>
              <a:rPr lang="zh-CN" altLang="en-US" dirty="0">
                <a:sym typeface="+mn-ea"/>
              </a:rPr>
              <a:t>识别热点函数，并仅将这些函数作为优化目标。这种设计能够有效缩小搜索空间，但也将优化问题限制在单函数范围内，未显式考虑函数调用关系、跨函数依赖以及调用链层面的联动优化机会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hotspots</a:t>
            </a:r>
            <a:r>
              <a:rPr lang="zh-CN" altLang="en-US"/>
              <a:t>的影响</a:t>
            </a:r>
            <a:r>
              <a:rPr lang="en-US" altLang="zh-CN"/>
              <a:t>case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056818" y="5950858"/>
            <a:ext cx="2332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汇报人：</a:t>
            </a:r>
            <a:r>
              <a:rPr lang="en-US" altLang="zh-CN" sz="2400" b="1" dirty="0"/>
              <a:t>xsc</a:t>
            </a:r>
            <a:endParaRPr lang="en-US" altLang="zh-CN" sz="2400" b="1" dirty="0"/>
          </a:p>
        </p:txBody>
      </p:sp>
      <p:sp>
        <p:nvSpPr>
          <p:cNvPr id="21" name="矩形 20"/>
          <p:cNvSpPr/>
          <p:nvPr/>
        </p:nvSpPr>
        <p:spPr>
          <a:xfrm>
            <a:off x="193354" y="2588017"/>
            <a:ext cx="11805285" cy="2122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>
                <a:sym typeface="+mn-ea"/>
              </a:rPr>
              <a:t> PROPER：A </a:t>
            </a:r>
            <a:r>
              <a:rPr lang="en-US" altLang="zh-CN" sz="4400" b="1">
                <a:solidFill>
                  <a:srgbClr val="FF0000"/>
                </a:solidFill>
                <a:sym typeface="+mn-ea"/>
              </a:rPr>
              <a:t>Pro</a:t>
            </a:r>
            <a:r>
              <a:rPr lang="en-US" altLang="zh-CN" sz="4400" b="1">
                <a:sym typeface="+mn-ea"/>
              </a:rPr>
              <a:t>filing-guided agent </a:t>
            </a:r>
            <a:r>
              <a:rPr lang="en-US" altLang="zh-CN" sz="4400" b="1">
                <a:solidFill>
                  <a:srgbClr val="FF0000"/>
                </a:solidFill>
                <a:sym typeface="+mn-ea"/>
              </a:rPr>
              <a:t>p</a:t>
            </a:r>
            <a:r>
              <a:rPr lang="en-US" altLang="zh-CN" sz="4400" b="1">
                <a:sym typeface="+mn-ea"/>
              </a:rPr>
              <a:t>lugin </a:t>
            </a:r>
            <a:endParaRPr lang="en-US" altLang="zh-CN" sz="4400" b="1">
              <a:sym typeface="+mn-ea"/>
            </a:endParaRPr>
          </a:p>
          <a:p>
            <a:pPr algn="ctr"/>
            <a:r>
              <a:rPr lang="en-US" altLang="zh-CN" sz="4400" b="1">
                <a:sym typeface="+mn-ea"/>
              </a:rPr>
              <a:t>for SWE </a:t>
            </a:r>
            <a:r>
              <a:rPr lang="en-US" altLang="zh-CN" sz="4400" b="1">
                <a:solidFill>
                  <a:srgbClr val="FF0000"/>
                </a:solidFill>
                <a:sym typeface="+mn-ea"/>
              </a:rPr>
              <a:t>E</a:t>
            </a:r>
            <a:r>
              <a:rPr lang="en-US" altLang="zh-CN" sz="4400" b="1">
                <a:sym typeface="+mn-ea"/>
              </a:rPr>
              <a:t>fficiency </a:t>
            </a:r>
            <a:r>
              <a:rPr lang="en-US" altLang="zh-CN" sz="4400" b="1">
                <a:solidFill>
                  <a:srgbClr val="FF0000"/>
                </a:solidFill>
                <a:sym typeface="+mn-ea"/>
              </a:rPr>
              <a:t>R</a:t>
            </a:r>
            <a:r>
              <a:rPr lang="en-US" altLang="zh-CN" sz="4400" b="1">
                <a:sym typeface="+mn-ea"/>
              </a:rPr>
              <a:t>epo</a:t>
            </a:r>
            <a:r>
              <a:rPr lang="en-US" altLang="zh-CN" sz="4400" b="1">
                <a:sym typeface="+mn-ea"/>
              </a:rPr>
              <a:t>s </a:t>
            </a:r>
            <a:endParaRPr lang="en-US" altLang="zh-CN" sz="4400" b="1"/>
          </a:p>
          <a:p>
            <a:pPr algn="ctr"/>
            <a:endParaRPr lang="zh-CN" altLang="en-US" sz="44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0" y="3715132"/>
            <a:ext cx="121920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2600" b="1" spc="100" dirty="0">
              <a:solidFill>
                <a:schemeClr val="bg1"/>
              </a:solidFill>
              <a:latin typeface="Georgia" panose="02040502050405090303" pitchFamily="18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" y="0"/>
            <a:ext cx="4432397" cy="68580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88" y="-132623"/>
            <a:ext cx="3947419" cy="13820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8901" y="2668728"/>
            <a:ext cx="2254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</a:rPr>
              <a:t>目  录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20076" y="3941730"/>
            <a:ext cx="187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9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9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0546" y="2927691"/>
            <a:ext cx="254121" cy="405405"/>
            <a:chOff x="872368" y="2932651"/>
            <a:chExt cx="289004" cy="461055"/>
          </a:xfrm>
          <a:solidFill>
            <a:schemeClr val="bg1">
              <a:alpha val="25000"/>
            </a:schemeClr>
          </a:solidFill>
        </p:grpSpPr>
        <p:sp>
          <p:nvSpPr>
            <p:cNvPr id="7" name="梯形 6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555838" y="3738315"/>
            <a:ext cx="3320716" cy="45719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4899872" y="198654"/>
            <a:ext cx="5686546" cy="1015663"/>
            <a:chOff x="5399714" y="1249447"/>
            <a:chExt cx="5686546" cy="1015663"/>
          </a:xfrm>
        </p:grpSpPr>
        <p:grpSp>
          <p:nvGrpSpPr>
            <p:cNvPr id="37" name="组合 36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18" name="矩形: 对角圆角 17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1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Intro</a:t>
              </a:r>
              <a:endParaRPr lang="en-US" altLang="zh-CN" sz="4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900507" y="1343820"/>
            <a:ext cx="7339330" cy="1015663"/>
            <a:chOff x="5399714" y="1249447"/>
            <a:chExt cx="7339330" cy="1015663"/>
          </a:xfrm>
        </p:grpSpPr>
        <p:grpSp>
          <p:nvGrpSpPr>
            <p:cNvPr id="21" name="组合 20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3" name="矩形: 对角圆角 22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2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6306494" y="1336442"/>
              <a:ext cx="643255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4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preliminary</a:t>
              </a:r>
              <a:endParaRPr lang="en-US" altLang="zh-CN" sz="4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899237" y="2488986"/>
            <a:ext cx="5545576" cy="1015663"/>
            <a:chOff x="5399714" y="1249447"/>
            <a:chExt cx="5545576" cy="1015663"/>
          </a:xfrm>
        </p:grpSpPr>
        <p:grpSp>
          <p:nvGrpSpPr>
            <p:cNvPr id="26" name="组合 25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8" name="矩形: 对角圆角 27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3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624745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4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method</a:t>
              </a:r>
              <a:endParaRPr lang="en-US" altLang="zh-CN" sz="4800" b="1" strike="sngStrike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825577" y="5209587"/>
            <a:ext cx="7167880" cy="1014730"/>
            <a:chOff x="5399714" y="1249447"/>
            <a:chExt cx="7167880" cy="1014730"/>
          </a:xfrm>
        </p:grpSpPr>
        <p:grpSp>
          <p:nvGrpSpPr>
            <p:cNvPr id="31" name="组合 30"/>
            <p:cNvGrpSpPr/>
            <p:nvPr/>
          </p:nvGrpSpPr>
          <p:grpSpPr>
            <a:xfrm>
              <a:off x="5399714" y="1249447"/>
              <a:ext cx="770179" cy="1014730"/>
              <a:chOff x="5399714" y="1249447"/>
              <a:chExt cx="770179" cy="1014730"/>
            </a:xfrm>
          </p:grpSpPr>
          <p:sp>
            <p:nvSpPr>
              <p:cNvPr id="33" name="矩形: 对角圆角 32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473607" y="1249447"/>
                <a:ext cx="696286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5</a:t>
                </a:r>
                <a:endParaRPr lang="en-US" altLang="zh-CN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6388409" y="1380257"/>
              <a:ext cx="617918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limits &amp; conclusion</a:t>
              </a:r>
              <a:endParaRPr lang="en-US" altLang="zh-CN" sz="4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-160343" y="1201274"/>
            <a:ext cx="4408441" cy="5899957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899237" y="3822112"/>
            <a:ext cx="5546211" cy="1015663"/>
            <a:chOff x="5399714" y="1249447"/>
            <a:chExt cx="5546211" cy="1015663"/>
          </a:xfrm>
        </p:grpSpPr>
        <p:grpSp>
          <p:nvGrpSpPr>
            <p:cNvPr id="17" name="组合 16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35" name="矩形: 对角圆角 32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4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40" name="文本框 39"/>
            <p:cNvSpPr txBox="1"/>
            <p:nvPr/>
          </p:nvSpPr>
          <p:spPr>
            <a:xfrm>
              <a:off x="6248090" y="1392586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experiment</a:t>
              </a:r>
              <a:endParaRPr lang="en-US" altLang="zh-CN" sz="4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88315" y="257175"/>
            <a:ext cx="10427335" cy="905510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800" dirty="0" smtClean="0">
                <a:latin typeface="Calibri Light" charset="0"/>
                <a:ea typeface="宋体" pitchFamily="2" charset="-122"/>
                <a:cs typeface="+mn-ea"/>
              </a:rPr>
              <a:t>Core Related Work : Code Efficiency Development </a:t>
            </a:r>
            <a:endParaRPr lang="en-US" altLang="zh-CN" sz="2800" dirty="0" smtClean="0">
              <a:latin typeface="Calibri Light" charset="0"/>
              <a:ea typeface="宋体" pitchFamily="2" charset="-122"/>
              <a:cs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574290" y="2134870"/>
            <a:ext cx="0" cy="455041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765300" y="1216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dataset 类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65035" y="1270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method 类</a:t>
            </a:r>
            <a:endParaRPr lang="en-US" altLang="zh-CN">
              <a:solidFill>
                <a:schemeClr val="accent2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7674610" y="2076450"/>
            <a:ext cx="0" cy="402145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7350" y="2513965"/>
            <a:ext cx="1841500" cy="814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zh-CN" sz="1600" dirty="0">
                <a:sym typeface="+mn-ea"/>
              </a:rPr>
              <a:t>nips24</a:t>
            </a:r>
            <a:r>
              <a:rPr lang="en-US" altLang="en-GB" sz="1600" dirty="0">
                <a:sym typeface="+mn-ea"/>
              </a:rPr>
              <a:t> </a:t>
            </a:r>
            <a:r>
              <a:rPr kumimoji="1" lang="en-US" altLang="zh-CN" sz="1600" dirty="0" err="1">
                <a:solidFill>
                  <a:schemeClr val="accent1"/>
                </a:solidFill>
                <a:sym typeface="+mn-ea"/>
              </a:rPr>
              <a:t>EffiBench，</a:t>
            </a:r>
            <a:r>
              <a:rPr kumimoji="1" lang="en-US" altLang="zh-CN" sz="1600" dirty="0">
                <a:solidFill>
                  <a:schemeClr val="accent1"/>
                </a:solidFill>
                <a:sym typeface="+mn-ea"/>
              </a:rPr>
              <a:t>Mercury</a:t>
            </a:r>
            <a:endParaRPr kumimoji="1" lang="en-US" altLang="zh-CN" sz="1600" dirty="0">
              <a:solidFill>
                <a:schemeClr val="accent1"/>
              </a:solidFill>
              <a:sym typeface="+mn-ea"/>
            </a:endParaRPr>
          </a:p>
          <a:p>
            <a:r>
              <a:rPr lang="en-US" altLang="zh-CN" sz="1600"/>
              <a:t>基于</a:t>
            </a:r>
            <a:r>
              <a:rPr lang="en-US" altLang="zh-CN" sz="1600">
                <a:solidFill>
                  <a:srgbClr val="FF0000"/>
                </a:solidFill>
              </a:rPr>
              <a:t>leetcode</a:t>
            </a:r>
            <a:r>
              <a:rPr lang="en-US" altLang="zh-CN" sz="1600"/>
              <a:t>的竞赛数据集</a:t>
            </a:r>
            <a:endParaRPr lang="en-US" altLang="zh-CN" sz="1600"/>
          </a:p>
        </p:txBody>
      </p:sp>
      <p:sp>
        <p:nvSpPr>
          <p:cNvPr id="14" name="文本框 13"/>
          <p:cNvSpPr txBox="1"/>
          <p:nvPr/>
        </p:nvSpPr>
        <p:spPr>
          <a:xfrm>
            <a:off x="488315" y="434276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zh-CN" sz="1600" dirty="0">
                <a:sym typeface="+mn-ea"/>
              </a:rPr>
              <a:t>ICLR25</a:t>
            </a:r>
            <a:r>
              <a:rPr lang="en-US" altLang="en-GB" sz="1600" dirty="0">
                <a:sym typeface="+mn-ea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sym typeface="+mn-ea"/>
              </a:rPr>
              <a:t>ENAMEL</a:t>
            </a:r>
            <a:endParaRPr kumimoji="1" lang="en-US" altLang="zh-CN" sz="1600" dirty="0">
              <a:solidFill>
                <a:schemeClr val="accent1"/>
              </a:solidFill>
              <a:sym typeface="+mn-ea"/>
            </a:endParaRPr>
          </a:p>
          <a:p>
            <a:r>
              <a:rPr lang="en-US" altLang="zh-CN" sz="1600"/>
              <a:t>改造humaneval、</a:t>
            </a:r>
            <a:endParaRPr lang="en-US" altLang="zh-CN" sz="1600"/>
          </a:p>
          <a:p>
            <a:r>
              <a:rPr lang="en-US" altLang="zh-CN" sz="1600">
                <a:solidFill>
                  <a:srgbClr val="FF0000"/>
                </a:solidFill>
              </a:rPr>
              <a:t>multi-level</a:t>
            </a:r>
            <a:r>
              <a:rPr lang="en-US" altLang="zh-CN" sz="1600"/>
              <a:t>评估 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34925" y="5172710"/>
            <a:ext cx="248602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zh-CN" sz="1600" dirty="0">
                <a:sym typeface="+mn-ea"/>
              </a:rPr>
              <a:t>FSE 25 award</a:t>
            </a:r>
            <a:r>
              <a:rPr lang="en-US" altLang="en-GB" sz="1600" dirty="0">
                <a:sym typeface="+mn-ea"/>
              </a:rPr>
              <a:t> </a:t>
            </a:r>
            <a:r>
              <a:rPr lang="en-US" altLang="en-GB" sz="1600" dirty="0">
                <a:solidFill>
                  <a:schemeClr val="accent1"/>
                </a:solidFill>
                <a:sym typeface="+mn-ea"/>
              </a:rPr>
              <a:t>COFFE</a:t>
            </a:r>
            <a:endParaRPr lang="en-US" altLang="en-GB" sz="1600" dirty="0">
              <a:solidFill>
                <a:schemeClr val="accent1"/>
              </a:solidFill>
              <a:sym typeface="+mn-ea"/>
            </a:endParaRPr>
          </a:p>
          <a:p>
            <a:r>
              <a:rPr lang="zh-CN" altLang="en-US" sz="1600" dirty="0">
                <a:sym typeface="+mn-ea"/>
              </a:rPr>
              <a:t>筛选</a:t>
            </a:r>
            <a:r>
              <a:rPr lang="en-GB" altLang="zh-CN" sz="1600" dirty="0" err="1">
                <a:sym typeface="+mn-ea"/>
              </a:rPr>
              <a:t>humaneval</a:t>
            </a:r>
            <a:r>
              <a:rPr lang="zh-CN" altLang="en-US" sz="1600" dirty="0">
                <a:sym typeface="+mn-ea"/>
              </a:rPr>
              <a:t>和</a:t>
            </a:r>
            <a:r>
              <a:rPr lang="en-GB" altLang="zh-CN" sz="1600" dirty="0">
                <a:sym typeface="+mn-ea"/>
              </a:rPr>
              <a:t>APPS</a:t>
            </a:r>
            <a:r>
              <a:rPr lang="en-US" altLang="en-GB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提出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Stressful</a:t>
            </a:r>
            <a:r>
              <a:rPr lang="en-US" altLang="zh-CN" sz="1600" dirty="0">
                <a:sym typeface="+mn-ea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sym typeface="+mn-ea"/>
              </a:rPr>
              <a:t>Test</a:t>
            </a:r>
            <a:r>
              <a:rPr lang="zh-CN" altLang="en-US" sz="1600" dirty="0">
                <a:sym typeface="+mn-ea"/>
              </a:rPr>
              <a:t>生成方法</a:t>
            </a:r>
            <a:endParaRPr lang="zh-CN" altLang="en-US" sz="1600" dirty="0">
              <a:sym typeface="+mn-ea"/>
            </a:endParaRPr>
          </a:p>
          <a:p>
            <a:endParaRPr lang="en-US" altLang="en-GB" sz="160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8905" y="1638935"/>
            <a:ext cx="2445385" cy="3689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function-level &amp; file-level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574290" y="1728470"/>
            <a:ext cx="2445385" cy="3689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repo-level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" y="3594100"/>
            <a:ext cx="2229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zh-CN" sz="1600" dirty="0">
                <a:sym typeface="+mn-ea"/>
              </a:rPr>
              <a:t>ICLR</a:t>
            </a:r>
            <a:r>
              <a:rPr lang="en-US" sz="1600" dirty="0">
                <a:sym typeface="+mn-ea"/>
              </a:rPr>
              <a:t>24 </a:t>
            </a:r>
            <a:r>
              <a:rPr lang="en-US" sz="1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PIE</a:t>
            </a:r>
            <a:endParaRPr kumimoji="1" lang="en-US" altLang="zh-CN" sz="1600" dirty="0">
              <a:solidFill>
                <a:schemeClr val="accent1"/>
              </a:solidFill>
              <a:sym typeface="+mn-ea"/>
            </a:endParaRPr>
          </a:p>
          <a:p>
            <a:r>
              <a:rPr lang="en-US" altLang="zh-CN" sz="1600"/>
              <a:t>competitive c++ data</a:t>
            </a:r>
            <a:endParaRPr lang="en-US" altLang="zh-CN" sz="1600"/>
          </a:p>
          <a:p>
            <a:r>
              <a:rPr lang="en-US" altLang="zh-CN" sz="1600"/>
              <a:t>gem5 模拟器评测</a:t>
            </a:r>
            <a:endParaRPr lang="en-US" altLang="zh-CN" sz="1600"/>
          </a:p>
        </p:txBody>
      </p:sp>
      <p:sp>
        <p:nvSpPr>
          <p:cNvPr id="26" name="文本框 25"/>
          <p:cNvSpPr txBox="1"/>
          <p:nvPr/>
        </p:nvSpPr>
        <p:spPr>
          <a:xfrm>
            <a:off x="2919730" y="23806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NIPS25 </a:t>
            </a:r>
            <a:r>
              <a:rPr lang="en-US" altLang="zh-CN" sz="1600">
                <a:solidFill>
                  <a:srgbClr val="0070C0"/>
                </a:solidFill>
              </a:rPr>
              <a:t>GSO </a:t>
            </a:r>
            <a:endParaRPr lang="en-US" altLang="zh-CN" sz="1600">
              <a:solidFill>
                <a:srgbClr val="0070C0"/>
              </a:solidFill>
            </a:endParaRPr>
          </a:p>
          <a:p>
            <a:r>
              <a:rPr lang="en-US" altLang="zh-CN" sz="1600">
                <a:solidFill>
                  <a:srgbClr val="FF0000"/>
                </a:solidFill>
              </a:rPr>
              <a:t>自动分析</a:t>
            </a:r>
            <a:r>
              <a:rPr lang="en-US" altLang="zh-CN" sz="1600">
                <a:solidFill>
                  <a:schemeClr val="tx1"/>
                </a:solidFill>
              </a:rPr>
              <a:t>repo、commit生成workload</a:t>
            </a:r>
            <a:r>
              <a:rPr lang="en-US" altLang="zh-CN" sz="1600">
                <a:solidFill>
                  <a:srgbClr val="0070C0"/>
                </a:solidFill>
              </a:rPr>
              <a:t>  </a:t>
            </a:r>
            <a:endParaRPr lang="en-US" altLang="zh-CN" sz="1600">
              <a:solidFill>
                <a:srgbClr val="0070C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672715" y="3342005"/>
            <a:ext cx="3548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nips25 workshop </a:t>
            </a:r>
            <a:r>
              <a:rPr lang="en-US" altLang="zh-CN" sz="1600">
                <a:solidFill>
                  <a:srgbClr val="0070C0"/>
                </a:solidFill>
              </a:rPr>
              <a:t>sweperf</a:t>
            </a:r>
            <a:endParaRPr lang="en-US" altLang="zh-CN" sz="1600">
              <a:solidFill>
                <a:srgbClr val="0070C0"/>
              </a:solidFill>
            </a:endParaRPr>
          </a:p>
          <a:p>
            <a:r>
              <a:rPr lang="en-US" altLang="zh-CN" sz="1600">
                <a:solidFill>
                  <a:srgbClr val="FF0000"/>
                </a:solidFill>
              </a:rPr>
              <a:t>类swebench系列、过滤性能提升的PR</a:t>
            </a:r>
            <a:r>
              <a:rPr lang="en-US" altLang="zh-CN" sz="1600">
                <a:solidFill>
                  <a:schemeClr val="tx1"/>
                </a:solidFill>
              </a:rPr>
              <a:t>，构造的数据集、提供相关pytest测试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743200" y="5454650"/>
            <a:ext cx="2486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arxiv25 </a:t>
            </a:r>
            <a:r>
              <a:rPr lang="en-US" altLang="zh-CN" sz="1600">
                <a:solidFill>
                  <a:srgbClr val="0070C0"/>
                </a:solidFill>
              </a:rPr>
              <a:t>swefficiency</a:t>
            </a:r>
            <a:endParaRPr lang="en-US" altLang="zh-CN" sz="1600">
              <a:solidFill>
                <a:srgbClr val="0070C0"/>
              </a:solidFill>
            </a:endParaRPr>
          </a:p>
          <a:p>
            <a:r>
              <a:rPr lang="en-US" altLang="zh-CN" sz="1600">
                <a:solidFill>
                  <a:schemeClr val="tx1"/>
                </a:solidFill>
              </a:rPr>
              <a:t>相较于sweperf而言，</a:t>
            </a:r>
            <a:r>
              <a:rPr lang="en-US" altLang="zh-CN" sz="1600">
                <a:solidFill>
                  <a:srgbClr val="FF0000"/>
                </a:solidFill>
              </a:rPr>
              <a:t>基于issue中构造了1个workload</a:t>
            </a:r>
            <a:endParaRPr lang="en-US" altLang="zh-CN" sz="160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574290" y="442404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ICML25 workshop </a:t>
            </a:r>
            <a:r>
              <a:rPr lang="en-US" altLang="zh-CN" sz="1600">
                <a:solidFill>
                  <a:srgbClr val="0070C0"/>
                </a:solidFill>
              </a:rPr>
              <a:t>FormulaCode</a:t>
            </a:r>
            <a:endParaRPr lang="en-US" altLang="zh-CN" sz="1600">
              <a:solidFill>
                <a:srgbClr val="0070C0"/>
              </a:solidFill>
            </a:endParaRPr>
          </a:p>
          <a:p>
            <a:r>
              <a:rPr lang="en-US" altLang="zh-CN" sz="1600">
                <a:solidFill>
                  <a:schemeClr val="tx1"/>
                </a:solidFill>
              </a:rPr>
              <a:t>收集社区的</a:t>
            </a:r>
            <a:r>
              <a:rPr lang="en-US" altLang="zh-CN" sz="1600">
                <a:solidFill>
                  <a:srgbClr val="FF0000"/>
                </a:solidFill>
              </a:rPr>
              <a:t>asv</a:t>
            </a:r>
            <a:r>
              <a:rPr lang="en-US" altLang="zh-CN" sz="1600">
                <a:solidFill>
                  <a:schemeClr val="tx1"/>
                </a:solidFill>
              </a:rPr>
              <a:t> benchmark，每一个instance提供</a:t>
            </a:r>
            <a:r>
              <a:rPr lang="en-US" altLang="zh-CN" sz="1600">
                <a:solidFill>
                  <a:srgbClr val="FF0000"/>
                </a:solidFill>
              </a:rPr>
              <a:t>多个workload</a:t>
            </a:r>
            <a:endParaRPr lang="en-US" altLang="zh-CN" sz="160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674610" y="418973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arxiv 25</a:t>
            </a:r>
            <a:r>
              <a:rPr lang="en-US" altLang="zh-CN" sz="1600" dirty="0">
                <a:solidFill>
                  <a:srgbClr val="0070C0"/>
                </a:solidFill>
                <a:sym typeface="+mn-ea"/>
              </a:rPr>
              <a:t> SemOpt</a:t>
            </a:r>
            <a:endParaRPr lang="en-US" altLang="zh-CN" sz="1600" dirty="0">
              <a:solidFill>
                <a:srgbClr val="0070C0"/>
              </a:solidFill>
              <a:sym typeface="+mn-ea"/>
            </a:endParaRPr>
          </a:p>
          <a:p>
            <a:r>
              <a:rPr lang="en-US" altLang="zh-CN" sz="1600"/>
              <a:t>利用llm</a:t>
            </a:r>
            <a:r>
              <a:rPr lang="en-US" altLang="zh-CN" sz="1600">
                <a:solidFill>
                  <a:srgbClr val="FF0000"/>
                </a:solidFill>
              </a:rPr>
              <a:t>合成semgrep静态规则</a:t>
            </a:r>
            <a:r>
              <a:rPr lang="en-US" altLang="zh-CN" sz="1600"/>
              <a:t>，</a:t>
            </a:r>
            <a:endParaRPr lang="en-US" altLang="zh-CN" sz="1600"/>
          </a:p>
          <a:p>
            <a:r>
              <a:rPr lang="en-US" altLang="zh-CN" sz="1600"/>
              <a:t>用profiler跑出hotspots topk，然后对这些cpp函数，让llm结合rule优化</a:t>
            </a:r>
            <a:endParaRPr lang="en-US" altLang="zh-CN" sz="1600"/>
          </a:p>
        </p:txBody>
      </p:sp>
      <p:sp>
        <p:nvSpPr>
          <p:cNvPr id="42" name="文本框 41"/>
          <p:cNvSpPr txBox="1"/>
          <p:nvPr/>
        </p:nvSpPr>
        <p:spPr>
          <a:xfrm>
            <a:off x="7740015" y="2847975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ICSE25</a:t>
            </a:r>
            <a:r>
              <a:rPr lang="en-US" altLang="zh-CN" sz="1600" dirty="0">
                <a:solidFill>
                  <a:srgbClr val="0070C0"/>
                </a:solidFill>
                <a:sym typeface="+mn-ea"/>
              </a:rPr>
              <a:t> SBLLM</a:t>
            </a:r>
            <a:endParaRPr lang="en-US" altLang="zh-CN" sz="1600" dirty="0">
              <a:solidFill>
                <a:srgbClr val="0070C0"/>
              </a:solidFill>
              <a:sym typeface="+mn-ea"/>
            </a:endParaRPr>
          </a:p>
          <a:p>
            <a:r>
              <a:rPr lang="en-US" altLang="zh-CN" sz="1600"/>
              <a:t>pie数据集上，</a:t>
            </a:r>
            <a:r>
              <a:rPr lang="zh-CN" altLang="en-US" sz="1600"/>
              <a:t>受遗传算子启发的思维链提示</a:t>
            </a:r>
            <a:r>
              <a:rPr lang="en-US" altLang="zh-CN" sz="1600"/>
              <a:t>，</a:t>
            </a:r>
            <a:r>
              <a:rPr lang="zh-CN" altLang="en-US" sz="1600"/>
              <a:t>把代码优化看成一个</a:t>
            </a:r>
            <a:r>
              <a:rPr lang="zh-CN" altLang="en-US" sz="1600">
                <a:solidFill>
                  <a:srgbClr val="FF0000"/>
                </a:solidFill>
              </a:rPr>
              <a:t>搜索问题</a:t>
            </a:r>
            <a:r>
              <a:rPr lang="zh-CN" altLang="en-US" sz="1600"/>
              <a:t>，让</a:t>
            </a:r>
            <a:r>
              <a:rPr lang="en-US" altLang="zh-CN" sz="1600"/>
              <a:t> LLM </a:t>
            </a:r>
            <a:r>
              <a:rPr lang="zh-CN" altLang="en-US" sz="1600"/>
              <a:t>像在搜索空间里逐步试错和改进</a:t>
            </a:r>
            <a:endParaRPr lang="zh-CN" altLang="en-US" sz="1600"/>
          </a:p>
        </p:txBody>
      </p:sp>
      <p:sp>
        <p:nvSpPr>
          <p:cNvPr id="43" name="文本框 42"/>
          <p:cNvSpPr txBox="1"/>
          <p:nvPr/>
        </p:nvSpPr>
        <p:spPr>
          <a:xfrm>
            <a:off x="7674610" y="550926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ASE25</a:t>
            </a:r>
            <a:r>
              <a:rPr lang="en-US" altLang="zh-CN" sz="1600" dirty="0">
                <a:solidFill>
                  <a:srgbClr val="0070C0"/>
                </a:solidFill>
                <a:sym typeface="+mn-ea"/>
              </a:rPr>
              <a:t> PEACE</a:t>
            </a:r>
            <a:endParaRPr lang="en-US" altLang="zh-CN" sz="1600" dirty="0">
              <a:solidFill>
                <a:srgbClr val="0070C0"/>
              </a:solidFill>
              <a:sym typeface="+mn-ea"/>
            </a:endParaRPr>
          </a:p>
          <a:p>
            <a:r>
              <a:rPr lang="en-US" altLang="zh-CN" sz="1600"/>
              <a:t>是给定一个target function,然后</a:t>
            </a:r>
            <a:endParaRPr lang="en-US" altLang="zh-CN" sz="1600"/>
          </a:p>
          <a:p>
            <a:r>
              <a:rPr lang="en-US" altLang="zh-CN" sz="1600"/>
              <a:t>通过</a:t>
            </a:r>
            <a:r>
              <a:rPr lang="en-US" altLang="zh-CN" sz="1600">
                <a:solidFill>
                  <a:srgbClr val="FF0000"/>
                </a:solidFill>
              </a:rPr>
              <a:t>调用关系感知、打分、历史相关编辑知识</a:t>
            </a:r>
            <a:r>
              <a:rPr lang="en-US" altLang="zh-CN" sz="1600"/>
              <a:t>，最后给优化</a:t>
            </a:r>
            <a:endParaRPr lang="en-US" altLang="zh-CN" sz="1600"/>
          </a:p>
        </p:txBody>
      </p:sp>
      <p:sp>
        <p:nvSpPr>
          <p:cNvPr id="44" name="文本框 43"/>
          <p:cNvSpPr txBox="1"/>
          <p:nvPr/>
        </p:nvSpPr>
        <p:spPr>
          <a:xfrm>
            <a:off x="7810500" y="18110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ICLR 24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 PIE</a:t>
            </a:r>
            <a:endParaRPr lang="en-US" altLang="zh-CN" dirty="0">
              <a:solidFill>
                <a:srgbClr val="0070C0"/>
              </a:solidFill>
              <a:sym typeface="+mn-ea"/>
            </a:endParaRPr>
          </a:p>
          <a:p>
            <a:r>
              <a:rPr lang="en-US" altLang="zh-CN"/>
              <a:t>对prompt、finetuning提出了adaptive strategy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0" y="2087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colm24</a:t>
            </a:r>
            <a:r>
              <a:rPr lang="en-US" altLang="zh-CN">
                <a:solidFill>
                  <a:srgbClr val="0070C0"/>
                </a:solidFill>
              </a:rPr>
              <a:t>  dpe、evalperf数据集</a:t>
            </a:r>
            <a:endParaRPr lang="en-US" altLang="zh-CN">
              <a:solidFill>
                <a:srgbClr val="0070C0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0" y="6146800"/>
            <a:ext cx="227647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nips25 </a:t>
            </a:r>
            <a:r>
              <a:rPr lang="en-US" altLang="zh-CN" sz="1600">
                <a:solidFill>
                  <a:schemeClr val="accent1"/>
                </a:solidFill>
              </a:rPr>
              <a:t>wedge </a:t>
            </a:r>
            <a:endParaRPr lang="en-US" altLang="zh-CN" sz="1600">
              <a:solidFill>
                <a:schemeClr val="accent1"/>
              </a:solidFill>
            </a:endParaRPr>
          </a:p>
          <a:p>
            <a:r>
              <a:rPr lang="en-US" altLang="zh-CN" sz="1600">
                <a:solidFill>
                  <a:schemeClr val="tx1"/>
                </a:solidFill>
              </a:rPr>
              <a:t>压力测试生成方法</a:t>
            </a:r>
            <a:endParaRPr lang="en-US" altLang="zh-CN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48345" y="2691884"/>
            <a:ext cx="381000" cy="96983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2303457" y="3258880"/>
            <a:ext cx="7585087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1.Intro</a:t>
            </a:r>
            <a:endParaRPr lang="en-US" altLang="zh-CN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总目标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9145" y="1313815"/>
            <a:ext cx="10574655" cy="448246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zh-CN" dirty="0"/>
              <a:t>现有工作的缺陷：  </a:t>
            </a:r>
            <a:endParaRPr lang="en-US" altLang="zh-CN" dirty="0"/>
          </a:p>
          <a:p>
            <a:pPr lvl="1"/>
            <a:r>
              <a:rPr lang="en-US" altLang="zh-CN" sz="1780" dirty="0"/>
              <a:t>1) </a:t>
            </a:r>
            <a:r>
              <a:rPr lang="zh-CN" altLang="en-US" sz="1780" dirty="0">
                <a:sym typeface="+mn-ea"/>
              </a:rPr>
              <a:t>之前的</a:t>
            </a:r>
            <a:r>
              <a:rPr lang="en-US" altLang="zh-CN" sz="1780" dirty="0">
                <a:sym typeface="+mn-ea"/>
              </a:rPr>
              <a:t>code efficiency</a:t>
            </a:r>
            <a:r>
              <a:rPr lang="zh-CN" altLang="en-US" sz="1780" dirty="0">
                <a:sym typeface="+mn-ea"/>
              </a:rPr>
              <a:t>相关方法大多是</a:t>
            </a:r>
            <a:r>
              <a:rPr lang="en-US" altLang="zh-CN" sz="1780" dirty="0">
                <a:solidFill>
                  <a:srgbClr val="FF0000"/>
                </a:solidFill>
                <a:sym typeface="+mn-ea"/>
              </a:rPr>
              <a:t>function-level，</a:t>
            </a:r>
            <a:r>
              <a:rPr lang="zh-CN" altLang="en-US" sz="1780" dirty="0">
                <a:solidFill>
                  <a:srgbClr val="FF0000"/>
                </a:solidFill>
                <a:sym typeface="+mn-ea"/>
              </a:rPr>
              <a:t>优化受到很大限制</a:t>
            </a:r>
            <a:r>
              <a:rPr lang="en-US" altLang="zh-CN" sz="1780" dirty="0">
                <a:sym typeface="+mn-ea"/>
              </a:rPr>
              <a:t>，（</a:t>
            </a:r>
            <a:r>
              <a:rPr lang="zh-CN" altLang="en-US" sz="1780" dirty="0">
                <a:sym typeface="+mn-ea"/>
              </a:rPr>
              <a:t>比如</a:t>
            </a:r>
            <a:r>
              <a:rPr lang="en-US" altLang="zh-CN" sz="1780" dirty="0">
                <a:solidFill>
                  <a:srgbClr val="92D050"/>
                </a:solidFill>
                <a:sym typeface="+mn-ea"/>
              </a:rPr>
              <a:t>semopt</a:t>
            </a:r>
            <a:r>
              <a:rPr lang="zh-CN" altLang="en-US" sz="1780" dirty="0">
                <a:sym typeface="+mn-ea"/>
              </a:rPr>
              <a:t>实验中将优化问题限制在单函数范围内，未显式考虑函数调用关系、跨函数依赖以及调用链层面的联动优化机会</a:t>
            </a:r>
            <a:r>
              <a:rPr lang="en-US" altLang="zh-CN" sz="1780" dirty="0">
                <a:sym typeface="+mn-ea"/>
              </a:rPr>
              <a:t>）</a:t>
            </a:r>
            <a:r>
              <a:rPr lang="zh-CN" altLang="en-US" sz="1780" dirty="0">
                <a:sym typeface="+mn-ea"/>
              </a:rPr>
              <a:t>。</a:t>
            </a:r>
            <a:r>
              <a:rPr lang="en-US" altLang="zh-CN" sz="1780" dirty="0">
                <a:sym typeface="+mn-ea"/>
              </a:rPr>
              <a:t>目前</a:t>
            </a:r>
            <a:r>
              <a:rPr lang="en-US" altLang="zh-CN" sz="1780" dirty="0">
                <a:solidFill>
                  <a:srgbClr val="00B0F0"/>
                </a:solidFill>
                <a:sym typeface="+mn-ea"/>
              </a:rPr>
              <a:t>缺少</a:t>
            </a:r>
            <a:r>
              <a:rPr lang="en-US" altLang="zh-CN" sz="1780" dirty="0">
                <a:sym typeface="+mn-ea"/>
              </a:rPr>
              <a:t>一</a:t>
            </a:r>
            <a:r>
              <a:rPr lang="zh-CN" altLang="en-US" sz="1780" dirty="0">
                <a:sym typeface="+mn-ea"/>
              </a:rPr>
              <a:t>个专门</a:t>
            </a:r>
            <a:r>
              <a:rPr lang="en-US" altLang="zh-CN" sz="1780" dirty="0">
                <a:sym typeface="+mn-ea"/>
              </a:rPr>
              <a:t>的repo-level方法设计。</a:t>
            </a:r>
            <a:endParaRPr lang="en-US" altLang="zh-CN" sz="1780" dirty="0"/>
          </a:p>
          <a:p>
            <a:pPr lvl="1"/>
            <a:r>
              <a:rPr lang="en-US" altLang="zh-CN" sz="1780" dirty="0">
                <a:sym typeface="+mn-ea"/>
              </a:rPr>
              <a:t>2)</a:t>
            </a:r>
            <a:r>
              <a:rPr lang="en-US" altLang="zh-CN" sz="1780" dirty="0">
                <a:sym typeface="+mn-ea"/>
              </a:rPr>
              <a:t>swe agent </a:t>
            </a:r>
            <a:r>
              <a:rPr lang="en-US" altLang="zh-CN" sz="1780" dirty="0">
                <a:solidFill>
                  <a:srgbClr val="FF0000"/>
                </a:solidFill>
                <a:sym typeface="+mn-ea"/>
              </a:rPr>
              <a:t>analyse-then-edit</a:t>
            </a:r>
            <a:r>
              <a:rPr lang="zh-CN" altLang="en-US" sz="1780" dirty="0">
                <a:solidFill>
                  <a:srgbClr val="FF0000"/>
                </a:solidFill>
                <a:sym typeface="+mn-ea"/>
              </a:rPr>
              <a:t>的方式不完全适用于代码优化任务</a:t>
            </a:r>
            <a:r>
              <a:rPr lang="en-US" altLang="zh-CN" sz="1780" dirty="0">
                <a:sym typeface="+mn-ea"/>
              </a:rPr>
              <a:t>。(</a:t>
            </a:r>
            <a:r>
              <a:rPr lang="zh-CN" altLang="en-US" sz="1780" dirty="0">
                <a:sym typeface="+mn-ea"/>
              </a:rPr>
              <a:t>比如优化一个非关键函数</a:t>
            </a:r>
            <a:r>
              <a:rPr lang="en-US" altLang="zh-CN" sz="1780" dirty="0">
                <a:sym typeface="+mn-ea"/>
              </a:rPr>
              <a:t>，</a:t>
            </a:r>
            <a:r>
              <a:rPr lang="zh-CN" altLang="en-US" sz="1780" dirty="0">
                <a:sym typeface="+mn-ea"/>
              </a:rPr>
              <a:t>虽然有性能提升</a:t>
            </a:r>
            <a:r>
              <a:rPr lang="en-US" altLang="zh-CN" sz="1780" dirty="0">
                <a:sym typeface="+mn-ea"/>
              </a:rPr>
              <a:t>，</a:t>
            </a:r>
            <a:r>
              <a:rPr lang="zh-CN" altLang="en-US" sz="1780" dirty="0">
                <a:sym typeface="+mn-ea"/>
              </a:rPr>
              <a:t>但是整体提升有限</a:t>
            </a:r>
            <a:r>
              <a:rPr lang="en-US" altLang="zh-CN" sz="1780" dirty="0">
                <a:sym typeface="+mn-ea"/>
              </a:rPr>
              <a:t>)。</a:t>
            </a:r>
            <a:endParaRPr lang="en-US" altLang="zh-CN" sz="1780" dirty="0">
              <a:sym typeface="+mn-ea"/>
            </a:endParaRPr>
          </a:p>
          <a:p>
            <a:pPr lvl="1"/>
            <a:r>
              <a:rPr lang="en-US" altLang="zh-CN" sz="1780" dirty="0">
                <a:sym typeface="+mn-ea"/>
              </a:rPr>
              <a:t>3）</a:t>
            </a:r>
            <a:r>
              <a:rPr lang="en-US" altLang="zh-CN" sz="1780" dirty="0">
                <a:sym typeface="+mn-ea"/>
              </a:rPr>
              <a:t>swe agent</a:t>
            </a:r>
            <a:r>
              <a:rPr lang="zh-CN" altLang="en-US" sz="1780" dirty="0">
                <a:sym typeface="+mn-ea"/>
              </a:rPr>
              <a:t>等对</a:t>
            </a:r>
            <a:r>
              <a:rPr lang="en-US" altLang="zh-CN" sz="1780" dirty="0">
                <a:sym typeface="+mn-ea"/>
              </a:rPr>
              <a:t>repo-level</a:t>
            </a:r>
            <a:r>
              <a:rPr lang="zh-CN" altLang="en-US" sz="1780" dirty="0">
                <a:sym typeface="+mn-ea"/>
              </a:rPr>
              <a:t>上的</a:t>
            </a:r>
            <a:r>
              <a:rPr lang="en-US" altLang="zh-CN" sz="1780" dirty="0">
                <a:sym typeface="+mn-ea"/>
              </a:rPr>
              <a:t>性能优化这个困难任务还存在</a:t>
            </a:r>
            <a:r>
              <a:rPr lang="zh-CN" altLang="en-US" sz="1780" dirty="0">
                <a:sym typeface="+mn-ea"/>
              </a:rPr>
              <a:t>很多</a:t>
            </a:r>
            <a:r>
              <a:rPr lang="en-US" altLang="zh-CN" sz="1780" dirty="0">
                <a:sym typeface="+mn-ea"/>
              </a:rPr>
              <a:t>不足，</a:t>
            </a:r>
            <a:r>
              <a:rPr lang="en-US" altLang="zh-CN" sz="1780" dirty="0">
                <a:solidFill>
                  <a:srgbClr val="00B0F0"/>
                </a:solidFill>
                <a:sym typeface="+mn-ea"/>
              </a:rPr>
              <a:t>人类专家在处理</a:t>
            </a:r>
            <a:r>
              <a:rPr lang="zh-CN" altLang="en-US" sz="1780" dirty="0">
                <a:solidFill>
                  <a:srgbClr val="00B0F0"/>
                </a:solidFill>
                <a:sym typeface="+mn-ea"/>
              </a:rPr>
              <a:t>该</a:t>
            </a:r>
            <a:r>
              <a:rPr lang="en-US" altLang="zh-CN" sz="1780" dirty="0">
                <a:solidFill>
                  <a:srgbClr val="00B0F0"/>
                </a:solidFill>
                <a:sym typeface="+mn-ea"/>
              </a:rPr>
              <a:t>任务时往往会借助profiler工具,</a:t>
            </a:r>
            <a:r>
              <a:rPr lang="zh-CN" altLang="en-US" sz="1780" dirty="0">
                <a:solidFill>
                  <a:srgbClr val="00B0F0"/>
                </a:solidFill>
                <a:sym typeface="+mn-ea"/>
              </a:rPr>
              <a:t>并有一套特定的思维方式</a:t>
            </a:r>
            <a:r>
              <a:rPr lang="en-US" altLang="zh-CN" sz="1780" dirty="0">
                <a:sym typeface="+mn-ea"/>
              </a:rPr>
              <a:t>，</a:t>
            </a:r>
            <a:r>
              <a:rPr lang="zh-CN" altLang="en-US" sz="1780" dirty="0">
                <a:sym typeface="+mn-ea"/>
              </a:rPr>
              <a:t>而</a:t>
            </a:r>
            <a:r>
              <a:rPr lang="en-US" altLang="zh-CN" sz="1780" dirty="0">
                <a:sym typeface="+mn-ea"/>
              </a:rPr>
              <a:t>agent</a:t>
            </a:r>
            <a:r>
              <a:rPr lang="zh-CN" altLang="en-US" sz="1780" dirty="0">
                <a:sym typeface="+mn-ea"/>
              </a:rPr>
              <a:t>目前</a:t>
            </a:r>
            <a:r>
              <a:rPr lang="zh-CN" altLang="en-US" sz="1780" dirty="0">
                <a:solidFill>
                  <a:srgbClr val="FF0000"/>
                </a:solidFill>
                <a:sym typeface="+mn-ea"/>
              </a:rPr>
              <a:t>不擅长使用</a:t>
            </a:r>
            <a:r>
              <a:rPr lang="en-US" altLang="zh-CN" sz="1780" dirty="0">
                <a:solidFill>
                  <a:srgbClr val="FF0000"/>
                </a:solidFill>
                <a:sym typeface="+mn-ea"/>
              </a:rPr>
              <a:t>profile</a:t>
            </a:r>
            <a:r>
              <a:rPr lang="zh-CN" altLang="en-US" sz="1780" dirty="0">
                <a:sym typeface="+mn-ea"/>
              </a:rPr>
              <a:t>等性能优化中常用的工具</a:t>
            </a:r>
            <a:r>
              <a:rPr lang="en-US" altLang="zh-CN" sz="1780" dirty="0">
                <a:sym typeface="+mn-ea"/>
              </a:rPr>
              <a:t>。</a:t>
            </a:r>
            <a:endParaRPr lang="en-US" altLang="zh-CN" sz="1780" dirty="0">
              <a:sym typeface="+mn-ea"/>
            </a:endParaRP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r>
              <a:rPr lang="en-US" altLang="zh-CN" dirty="0">
                <a:solidFill>
                  <a:schemeClr val="accent1"/>
                </a:solidFill>
              </a:rPr>
              <a:t>总目标</a:t>
            </a:r>
            <a:r>
              <a:rPr lang="en-US" altLang="zh-CN" dirty="0"/>
              <a:t>：</a:t>
            </a:r>
            <a:r>
              <a:rPr lang="zh-CN" altLang="en-US" dirty="0"/>
              <a:t>在</a:t>
            </a:r>
            <a:r>
              <a:rPr lang="en-US" altLang="zh-CN" dirty="0"/>
              <a:t>repo-level</a:t>
            </a:r>
            <a:r>
              <a:rPr lang="zh-CN" altLang="en-US" dirty="0"/>
              <a:t>上结合</a:t>
            </a:r>
            <a:r>
              <a:rPr lang="en-US" altLang="zh-CN" dirty="0"/>
              <a:t>profiler</a:t>
            </a:r>
            <a:r>
              <a:rPr lang="zh-CN" altLang="en-US" dirty="0"/>
              <a:t>进行代码加速的</a:t>
            </a:r>
            <a:r>
              <a:rPr lang="zh-CN" altLang="en-US" dirty="0"/>
              <a:t>任务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4283059" y="5927315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i="1" dirty="0"/>
              <a:t>工具</a:t>
            </a:r>
            <a:r>
              <a:rPr kumimoji="1" lang="en-US" altLang="zh-CN" i="1" dirty="0"/>
              <a:t>/</a:t>
            </a:r>
            <a:r>
              <a:rPr kumimoji="1" lang="zh-CN" altLang="en-US" i="1" dirty="0"/>
              <a:t>依据</a:t>
            </a:r>
            <a:endParaRPr kumimoji="1" lang="zh-CN" altLang="en-US" i="1" dirty="0"/>
          </a:p>
        </p:txBody>
      </p:sp>
      <p:cxnSp>
        <p:nvCxnSpPr>
          <p:cNvPr id="7" name="直线箭头连接符 6"/>
          <p:cNvCxnSpPr/>
          <p:nvPr/>
        </p:nvCxnSpPr>
        <p:spPr>
          <a:xfrm flipV="1">
            <a:off x="4701903" y="5609632"/>
            <a:ext cx="0" cy="317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motivation </a:t>
            </a:r>
            <a:r>
              <a:rPr lang="en-US" altLang="zh-CN"/>
              <a:t>example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baseline</a:t>
            </a:r>
            <a:r>
              <a:rPr lang="zh-CN" altLang="en-US"/>
              <a:t>修改非关键函数导致了性能提升</a:t>
            </a:r>
            <a:r>
              <a:rPr lang="zh-CN" altLang="en-US"/>
              <a:t>很小</a:t>
            </a:r>
            <a:endParaRPr lang="zh-CN" altLang="en-US"/>
          </a:p>
          <a:p>
            <a:r>
              <a:rPr lang="en-US" altLang="zh-CN"/>
              <a:t>proper</a:t>
            </a:r>
            <a:r>
              <a:rPr lang="zh-CN" altLang="en-US"/>
              <a:t>准确定位了</a:t>
            </a:r>
            <a:r>
              <a:rPr lang="en-US" altLang="zh-CN"/>
              <a:t>hotspots，</a:t>
            </a:r>
            <a:r>
              <a:rPr lang="zh-CN" altLang="en-US"/>
              <a:t>并找到了合适的修改位置</a:t>
            </a:r>
            <a:r>
              <a:rPr lang="en-US" altLang="zh-CN"/>
              <a:t>，</a:t>
            </a:r>
            <a:r>
              <a:rPr lang="zh-CN" altLang="en-US"/>
              <a:t>达到较大</a:t>
            </a:r>
            <a:r>
              <a:rPr lang="zh-CN" altLang="en-US"/>
              <a:t>提升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pandas48723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3669030"/>
            <a:ext cx="8724900" cy="29857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64475" y="65341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baseline</a:t>
            </a:r>
            <a:r>
              <a:rPr lang="zh-CN" altLang="en-US"/>
              <a:t>被</a:t>
            </a:r>
            <a:r>
              <a:rPr lang="en-US" altLang="zh-CN"/>
              <a:t>copy</a:t>
            </a:r>
            <a:r>
              <a:rPr lang="zh-CN" altLang="en-US"/>
              <a:t>误导了</a:t>
            </a:r>
            <a:r>
              <a:rPr lang="en-US" altLang="zh-CN"/>
              <a:t>，</a:t>
            </a:r>
            <a:r>
              <a:rPr lang="zh-CN" altLang="en-US"/>
              <a:t>修的</a:t>
            </a:r>
            <a:r>
              <a:rPr lang="en-US" altLang="zh-CN"/>
              <a:t>_validate_names</a:t>
            </a:r>
            <a:r>
              <a:rPr lang="zh-CN" altLang="en-US"/>
              <a:t>函数</a:t>
            </a:r>
            <a:r>
              <a:rPr lang="en-US" altLang="zh-CN"/>
              <a:t>，</a:t>
            </a:r>
            <a:endParaRPr lang="en-US" altLang="zh-CN"/>
          </a:p>
          <a:p>
            <a:r>
              <a:rPr lang="zh-CN" altLang="en-US"/>
              <a:t>最后加速比只有</a:t>
            </a:r>
            <a:r>
              <a:rPr lang="en-US" altLang="zh-CN"/>
              <a:t>1.08x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proper</a:t>
            </a:r>
            <a:r>
              <a:rPr lang="zh-CN" altLang="en-US"/>
              <a:t>根据</a:t>
            </a:r>
            <a:r>
              <a:rPr lang="en-US" altLang="zh-CN"/>
              <a:t>hotspots，</a:t>
            </a:r>
            <a:r>
              <a:rPr lang="zh-CN" altLang="en-US"/>
              <a:t>修了图中</a:t>
            </a:r>
            <a:r>
              <a:rPr lang="en-US" altLang="zh-CN"/>
              <a:t>size</a:t>
            </a:r>
            <a:r>
              <a:rPr lang="zh-CN" altLang="en-US"/>
              <a:t>这个位置</a:t>
            </a:r>
            <a:r>
              <a:rPr lang="en-US" altLang="zh-CN"/>
              <a:t>，</a:t>
            </a:r>
            <a:r>
              <a:rPr lang="zh-CN" altLang="en-US"/>
              <a:t>重点是去掉冗余的</a:t>
            </a:r>
            <a:r>
              <a:rPr lang="en-US" altLang="zh-CN"/>
              <a:t>self._values</a:t>
            </a:r>
            <a:r>
              <a:rPr lang="zh-CN" altLang="en-US"/>
              <a:t>调用</a:t>
            </a:r>
            <a:r>
              <a:rPr lang="en-US" altLang="zh-CN"/>
              <a:t>，</a:t>
            </a:r>
            <a:endParaRPr lang="en-US" altLang="zh-CN"/>
          </a:p>
          <a:p>
            <a:r>
              <a:rPr lang="zh-CN" altLang="en-US"/>
              <a:t>加速比达到</a:t>
            </a:r>
            <a:r>
              <a:rPr lang="en-US" altLang="zh-CN"/>
              <a:t>1367x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995"/>
          </a:xfrm>
        </p:spPr>
        <p:txBody>
          <a:bodyPr>
            <a:normAutofit fontScale="90000"/>
          </a:bodyPr>
          <a:p>
            <a:r>
              <a:rPr lang="en-US" altLang="zh-CN"/>
              <a:t>motivation example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60120"/>
            <a:ext cx="10260330" cy="733425"/>
          </a:xfrm>
        </p:spPr>
        <p:txBody>
          <a:bodyPr/>
          <a:p>
            <a:r>
              <a:rPr lang="zh-CN" altLang="en-US" sz="2000"/>
              <a:t>对于一个热点</a:t>
            </a:r>
            <a:r>
              <a:rPr lang="en-US" altLang="zh-CN" sz="2000"/>
              <a:t>hotspots</a:t>
            </a:r>
            <a:r>
              <a:rPr lang="zh-CN" altLang="en-US" sz="2000"/>
              <a:t>函数</a:t>
            </a:r>
            <a:r>
              <a:rPr lang="en-US" altLang="zh-CN" sz="2000"/>
              <a:t>，</a:t>
            </a:r>
            <a:r>
              <a:rPr lang="zh-CN" altLang="en-US" sz="2000"/>
              <a:t>选取的优化策略可能是优化该函数本身</a:t>
            </a:r>
            <a:r>
              <a:rPr lang="en-US" altLang="zh-CN" sz="2000"/>
              <a:t>，</a:t>
            </a:r>
            <a:r>
              <a:rPr lang="zh-CN" altLang="en-US" sz="2000"/>
              <a:t>也可能不是该函数</a:t>
            </a:r>
            <a:r>
              <a:rPr lang="en-US" altLang="zh-CN" sz="2000"/>
              <a:t>，</a:t>
            </a:r>
            <a:r>
              <a:rPr lang="zh-CN" altLang="en-US" sz="2000"/>
              <a:t>比如修改上层数据构造</a:t>
            </a:r>
            <a:r>
              <a:rPr lang="en-US" altLang="zh-CN" sz="2000"/>
              <a:t>，</a:t>
            </a:r>
            <a:r>
              <a:rPr lang="zh-CN" altLang="en-US" sz="2000"/>
              <a:t>参数传递等</a:t>
            </a:r>
            <a:endParaRPr lang="zh-CN" altLang="en-US" sz="2000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35170" y="1901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pandas52430</a:t>
            </a:r>
            <a:endParaRPr lang="en-US" altLang="zh-CN" b="1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35" y="2464435"/>
            <a:ext cx="7207885" cy="42995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05495" y="2593340"/>
            <a:ext cx="36061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_isna_array </a:t>
            </a:r>
            <a:r>
              <a:rPr lang="zh-CN" altLang="en-US"/>
              <a:t>是下游症状</a:t>
            </a:r>
            <a:br>
              <a:rPr lang="zh-CN" altLang="en-US"/>
            </a:br>
            <a:br>
              <a:rPr lang="zh-CN" altLang="en-US"/>
            </a:br>
            <a:br>
              <a:rPr lang="zh-CN" altLang="en-US"/>
            </a:br>
            <a:br>
              <a:rPr lang="zh-CN" altLang="en-US"/>
            </a:br>
            <a:r>
              <a:rPr lang="zh-CN" altLang="en-US"/>
              <a:t>最好的 </a:t>
            </a:r>
            <a:r>
              <a:rPr lang="en-US" altLang="zh-CN"/>
              <a:t>edit layer </a:t>
            </a:r>
            <a:r>
              <a:rPr lang="zh-CN" altLang="en-US"/>
              <a:t>是上游 </a:t>
            </a:r>
            <a:r>
              <a:rPr lang="en-US" altLang="zh-CN"/>
              <a:t>to_numpy，</a:t>
            </a:r>
            <a:r>
              <a:rPr lang="zh-CN" altLang="en-US"/>
              <a:t>直接跳过整条 </a:t>
            </a:r>
            <a:r>
              <a:rPr lang="en-US" altLang="zh-CN"/>
              <a:t>Series.isna -&gt; _isna_array </a:t>
            </a:r>
            <a:r>
              <a:rPr lang="zh-CN" altLang="en-US"/>
              <a:t>扫描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48345" y="2691884"/>
            <a:ext cx="381000" cy="96983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2303457" y="3258880"/>
            <a:ext cx="7585087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2.Empirical Fin</a:t>
            </a:r>
            <a:r>
              <a:rPr lang="en-US" altLang="zh-CN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dings</a:t>
            </a:r>
            <a:endParaRPr lang="en-US" altLang="zh-CN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The hottest function is often a symptom,    not the best edit location.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00B050"/>
                </a:solidFill>
                <a:sym typeface="+mn-ea"/>
              </a:rPr>
              <a:t>数据集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过滤后的</a:t>
            </a:r>
            <a:r>
              <a:rPr lang="en-US" altLang="zh-CN">
                <a:sym typeface="+mn-ea"/>
              </a:rPr>
              <a:t>swefficiency_lite，</a:t>
            </a:r>
            <a:r>
              <a:rPr lang="zh-CN" altLang="en-US">
                <a:sym typeface="+mn-ea"/>
              </a:rPr>
              <a:t>相关详细描述见后面的</a:t>
            </a:r>
            <a:r>
              <a:rPr lang="en-US" altLang="zh-CN">
                <a:sym typeface="+mn-ea"/>
              </a:rPr>
              <a:t>experiment setup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已有</a:t>
            </a:r>
            <a:r>
              <a:rPr lang="en-US" altLang="zh-CN">
                <a:sym typeface="+mn-ea"/>
              </a:rPr>
              <a:t>workload，</a:t>
            </a:r>
            <a:r>
              <a:rPr lang="zh-CN" altLang="en-US">
                <a:sym typeface="+mn-ea"/>
              </a:rPr>
              <a:t>记</a:t>
            </a:r>
            <a:r>
              <a:rPr lang="en-US" altLang="zh-CN">
                <a:sym typeface="+mn-ea"/>
              </a:rPr>
              <a:t>patch</a:t>
            </a:r>
            <a:r>
              <a:rPr lang="zh-CN" altLang="en-US">
                <a:sym typeface="+mn-ea"/>
              </a:rPr>
              <a:t>前后为</a:t>
            </a:r>
            <a:r>
              <a:rPr lang="en-US" altLang="zh-CN">
                <a:sym typeface="+mn-ea"/>
              </a:rPr>
              <a:t>base、patched，</a:t>
            </a:r>
            <a:r>
              <a:rPr lang="zh-CN" altLang="en-US">
                <a:sym typeface="+mn-ea"/>
              </a:rPr>
              <a:t>可以得到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prof，</a:t>
            </a:r>
            <a:r>
              <a:rPr lang="zh-CN" altLang="en-US">
                <a:sym typeface="+mn-ea"/>
              </a:rPr>
              <a:t>记为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base、patched</a:t>
            </a:r>
            <a:endParaRPr lang="en-US" altLang="zh-CN">
              <a:solidFill>
                <a:schemeClr val="accent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/>
              <a:t>然后定义</a:t>
            </a:r>
            <a:r>
              <a:rPr lang="en-US" altLang="zh-CN"/>
              <a:t>：</a:t>
            </a:r>
            <a:endParaRPr lang="en-US" altLang="zh-CN"/>
          </a:p>
          <a:p>
            <a:pPr lvl="1"/>
            <a:r>
              <a:rPr lang="en-US" altLang="zh-CN"/>
              <a:t> </a:t>
            </a:r>
            <a:r>
              <a:rPr lang="en-US" altLang="zh-CN">
                <a:solidFill>
                  <a:schemeClr val="accent1"/>
                </a:solidFill>
              </a:rPr>
              <a:t>hotspots</a:t>
            </a:r>
            <a:r>
              <a:rPr lang="en-US" altLang="zh-CN"/>
              <a:t>：patch </a:t>
            </a:r>
            <a:r>
              <a:rPr lang="zh-CN" altLang="en-US"/>
              <a:t>前</a:t>
            </a:r>
            <a:r>
              <a:rPr lang="en-US" altLang="zh-CN"/>
              <a:t>profile </a:t>
            </a:r>
            <a:r>
              <a:rPr lang="zh-CN" altLang="en-US"/>
              <a:t>中</a:t>
            </a:r>
            <a:r>
              <a:rPr lang="en-US" altLang="zh-CN"/>
              <a:t>hybrid time topk</a:t>
            </a:r>
            <a:r>
              <a:rPr lang="zh-CN" altLang="en-US"/>
              <a:t>函数</a:t>
            </a:r>
            <a:endParaRPr lang="zh-CN" altLang="en-US"/>
          </a:p>
          <a:p>
            <a:pPr lvl="1"/>
            <a:r>
              <a:rPr lang="en-US" altLang="zh-CN" strike="sngStrike">
                <a:solidFill>
                  <a:schemeClr val="accent1"/>
                </a:solidFill>
              </a:rPr>
              <a:t>optimized target</a:t>
            </a:r>
            <a:r>
              <a:rPr lang="en-US" altLang="zh-CN" strike="sngStrike">
                <a:solidFill>
                  <a:schemeClr val="tx1"/>
                </a:solidFill>
              </a:rPr>
              <a:t>：patch</a:t>
            </a:r>
            <a:r>
              <a:rPr lang="zh-CN" altLang="en-US" strike="sngStrike">
                <a:solidFill>
                  <a:schemeClr val="tx1"/>
                </a:solidFill>
              </a:rPr>
              <a:t>前后</a:t>
            </a:r>
            <a:r>
              <a:rPr lang="en-US" altLang="zh-CN" strike="sngStrike">
                <a:solidFill>
                  <a:schemeClr val="tx1"/>
                </a:solidFill>
              </a:rPr>
              <a:t>hybrid time</a:t>
            </a:r>
            <a:r>
              <a:rPr lang="zh-CN" altLang="en-US" strike="sngStrike">
                <a:solidFill>
                  <a:schemeClr val="tx1"/>
                </a:solidFill>
              </a:rPr>
              <a:t>下降最多的函数</a:t>
            </a:r>
            <a:endParaRPr lang="zh-CN" altLang="en-US" strike="sngStrike">
              <a:solidFill>
                <a:schemeClr val="tx1"/>
              </a:solidFill>
            </a:endParaRPr>
          </a:p>
          <a:p>
            <a:pPr lvl="1"/>
            <a:r>
              <a:rPr lang="en-US" altLang="zh-CN">
                <a:solidFill>
                  <a:schemeClr val="tx1"/>
                </a:solidFill>
              </a:rPr>
              <a:t>edit function: human patch</a:t>
            </a:r>
            <a:r>
              <a:rPr lang="zh-CN" altLang="en-US">
                <a:solidFill>
                  <a:schemeClr val="tx1"/>
                </a:solidFill>
              </a:rPr>
              <a:t>实际修改的函数</a:t>
            </a:r>
            <a:r>
              <a:rPr lang="en-US" altLang="zh-CN">
                <a:solidFill>
                  <a:schemeClr val="tx1"/>
                </a:solidFill>
              </a:rPr>
              <a:t> （</a:t>
            </a:r>
            <a:r>
              <a:rPr lang="zh-CN" altLang="en-US">
                <a:solidFill>
                  <a:schemeClr val="tx1"/>
                </a:solidFill>
              </a:rPr>
              <a:t>前两者跟</a:t>
            </a:r>
            <a:r>
              <a:rPr lang="en-US" altLang="zh-CN">
                <a:solidFill>
                  <a:schemeClr val="tx1"/>
                </a:solidFill>
              </a:rPr>
              <a:t>edit funciton</a:t>
            </a:r>
            <a:r>
              <a:rPr lang="zh-CN" altLang="en-US">
                <a:solidFill>
                  <a:schemeClr val="tx1"/>
                </a:solidFill>
              </a:rPr>
              <a:t>进行匹配</a:t>
            </a:r>
            <a:r>
              <a:rPr lang="en-US" altLang="zh-CN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pPr lvl="0"/>
            <a:r>
              <a:rPr lang="zh-CN" altLang="en-US">
                <a:solidFill>
                  <a:schemeClr val="accent1"/>
                </a:solidFill>
              </a:rPr>
              <a:t>这里</a:t>
            </a:r>
            <a:r>
              <a:rPr lang="en-US" altLang="zh-CN">
                <a:solidFill>
                  <a:schemeClr val="accent1"/>
                </a:solidFill>
              </a:rPr>
              <a:t>hit </a:t>
            </a:r>
            <a:r>
              <a:rPr lang="zh-CN" altLang="en-US">
                <a:solidFill>
                  <a:schemeClr val="accent1"/>
                </a:solidFill>
              </a:rPr>
              <a:t>是实例级命中：</a:t>
            </a:r>
            <a:r>
              <a:rPr lang="en-US" altLang="zh-CN">
                <a:solidFill>
                  <a:schemeClr val="accent1"/>
                </a:solidFill>
              </a:rPr>
              <a:t>top-k </a:t>
            </a:r>
            <a:r>
              <a:rPr lang="zh-CN" altLang="en-US">
                <a:solidFill>
                  <a:schemeClr val="accent1"/>
                </a:solidFill>
              </a:rPr>
              <a:t>中任一函数与 </a:t>
            </a:r>
            <a:r>
              <a:rPr lang="en-US" altLang="zh-CN">
                <a:solidFill>
                  <a:schemeClr val="accent1"/>
                </a:solidFill>
              </a:rPr>
              <a:t>human patch edit function </a:t>
            </a:r>
            <a:r>
              <a:rPr lang="zh-CN" altLang="en-US">
                <a:solidFill>
                  <a:schemeClr val="accent1"/>
                </a:solidFill>
              </a:rPr>
              <a:t>匹配即算命中。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08330" y="4607560"/>
          <a:ext cx="5972175" cy="1383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725"/>
                <a:gridCol w="1990725"/>
                <a:gridCol w="1990725"/>
              </a:tblGrid>
              <a:tr h="37147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top1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top5</a:t>
                      </a:r>
                      <a:endParaRPr lang="en-US" altLang="zh-CN"/>
                    </a:p>
                  </a:txBody>
                  <a:tcPr/>
                </a:tc>
              </a:tr>
              <a:tr h="3721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hotspots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29/94(30.85%)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49/94(52.13%)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08330" y="5991225"/>
            <a:ext cx="10314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命中率并不高</a:t>
            </a:r>
            <a:r>
              <a:rPr lang="en-US" altLang="zh-CN"/>
              <a:t>，</a:t>
            </a:r>
            <a:r>
              <a:rPr lang="zh-CN" altLang="en-US"/>
              <a:t>恰恰表明，</a:t>
            </a:r>
            <a:r>
              <a:rPr lang="en-US" altLang="zh-CN">
                <a:solidFill>
                  <a:srgbClr val="00B0F0"/>
                </a:solidFill>
              </a:rPr>
              <a:t>hotspot</a:t>
            </a:r>
            <a:r>
              <a:rPr lang="zh-CN" altLang="en-US">
                <a:solidFill>
                  <a:srgbClr val="00B0F0"/>
                </a:solidFill>
              </a:rPr>
              <a:t>不能直接作为修改点</a:t>
            </a:r>
            <a:r>
              <a:rPr lang="en-US" altLang="zh-CN">
                <a:solidFill>
                  <a:srgbClr val="00B0F0"/>
                </a:solidFill>
              </a:rPr>
              <a:t>， </a:t>
            </a:r>
            <a:r>
              <a:rPr lang="zh-CN" altLang="en-US">
                <a:solidFill>
                  <a:srgbClr val="00B0F0"/>
                </a:solidFill>
              </a:rPr>
              <a:t>更适合作为 </a:t>
            </a:r>
            <a:r>
              <a:rPr lang="en-US" altLang="zh-CN">
                <a:solidFill>
                  <a:srgbClr val="00B0F0"/>
                </a:solidFill>
              </a:rPr>
              <a:t>evidence seed。</a:t>
            </a:r>
            <a:endParaRPr lang="en-US" altLang="zh-CN"/>
          </a:p>
          <a:p>
            <a:r>
              <a:rPr lang="zh-CN" altLang="en-US"/>
              <a:t> 真正的 </a:t>
            </a:r>
            <a:r>
              <a:rPr lang="en-US" altLang="zh-CN"/>
              <a:t>edit location </a:t>
            </a:r>
            <a:r>
              <a:rPr lang="zh-CN" altLang="en-US"/>
              <a:t>需要沿 </a:t>
            </a:r>
            <a:r>
              <a:rPr lang="en-US" altLang="zh-CN"/>
              <a:t>profiler tree </a:t>
            </a:r>
            <a:r>
              <a:rPr lang="zh-CN" altLang="en-US"/>
              <a:t>结合源码语义判断：可能是 </a:t>
            </a:r>
            <a:r>
              <a:rPr lang="en-US" altLang="zh-CN"/>
              <a:t>caller、hotspot </a:t>
            </a:r>
            <a:r>
              <a:rPr lang="zh-CN" altLang="en-US"/>
              <a:t>本身、</a:t>
            </a:r>
            <a:r>
              <a:rPr lang="en-US" altLang="zh-CN"/>
              <a:t>callee，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75850"/>
            <a:ext cx="10515600" cy="4351338"/>
          </a:xfrm>
        </p:spPr>
        <p:txBody>
          <a:bodyPr>
            <a:normAutofit lnSpcReduction="20000"/>
          </a:bodyPr>
          <a:lstStyle/>
          <a:p>
            <a:endParaRPr lang="zh-CN" altLang="en-US" dirty="0"/>
          </a:p>
          <a:p>
            <a:r>
              <a:rPr lang="en-US" altLang="zh-CN" dirty="0">
                <a:solidFill>
                  <a:schemeClr val="accent1"/>
                </a:solidFill>
              </a:rPr>
              <a:t>总目标</a:t>
            </a:r>
            <a:r>
              <a:rPr lang="en-US" altLang="zh-CN" dirty="0"/>
              <a:t>：</a:t>
            </a:r>
            <a:r>
              <a:rPr lang="zh-CN" altLang="en-US" dirty="0"/>
              <a:t>在</a:t>
            </a:r>
            <a:r>
              <a:rPr lang="en-US" altLang="zh-CN" dirty="0"/>
              <a:t>repo-level</a:t>
            </a:r>
            <a:r>
              <a:rPr lang="zh-CN" altLang="en-US" dirty="0"/>
              <a:t>上结合</a:t>
            </a:r>
            <a:r>
              <a:rPr lang="en-US" altLang="zh-CN" dirty="0"/>
              <a:t>profiler</a:t>
            </a:r>
            <a:r>
              <a:rPr lang="zh-CN" altLang="en-US" dirty="0"/>
              <a:t>进行代码加速的工作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solidFill>
                  <a:schemeClr val="accent1"/>
                </a:solidFill>
              </a:rPr>
              <a:t>思路</a:t>
            </a:r>
            <a:r>
              <a:rPr lang="en-US" altLang="zh-CN" dirty="0"/>
              <a:t> </a:t>
            </a:r>
            <a:r>
              <a:rPr lang="zh-CN" altLang="en-US" dirty="0"/>
              <a:t>将</a:t>
            </a:r>
            <a:r>
              <a:rPr lang="en-US" altLang="zh-CN" dirty="0"/>
              <a:t>hotspots</a:t>
            </a:r>
            <a:r>
              <a:rPr lang="zh-CN" altLang="en-US" dirty="0"/>
              <a:t>与</a:t>
            </a:r>
            <a:r>
              <a:rPr lang="en-US" altLang="zh-CN" dirty="0"/>
              <a:t>edited function</a:t>
            </a:r>
            <a:r>
              <a:rPr lang="zh-CN" altLang="en-US" dirty="0">
                <a:solidFill>
                  <a:schemeClr val="tx1"/>
                </a:solidFill>
              </a:rPr>
              <a:t>区分开</a:t>
            </a:r>
            <a:r>
              <a:rPr lang="en-US" altLang="zh-CN" dirty="0">
                <a:solidFill>
                  <a:schemeClr val="tx1"/>
                </a:solidFill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从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hotspots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思考优化方向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再根据优化策略再找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optimization function）</a:t>
            </a:r>
            <a:endParaRPr lang="en-US" altLang="zh-CN" dirty="0"/>
          </a:p>
          <a:p>
            <a:r>
              <a:rPr lang="zh-CN" altLang="en-US" dirty="0"/>
              <a:t>获取</a:t>
            </a:r>
            <a:r>
              <a:rPr lang="en-US" altLang="zh-CN" dirty="0"/>
              <a:t>hotspots</a:t>
            </a:r>
            <a:r>
              <a:rPr lang="zh-CN" altLang="en-US" dirty="0"/>
              <a:t>后</a:t>
            </a:r>
            <a:r>
              <a:rPr lang="en-US" altLang="zh-CN" dirty="0"/>
              <a:t>，</a:t>
            </a:r>
            <a:r>
              <a:rPr lang="zh-CN" altLang="en-US" dirty="0"/>
              <a:t>沿着</a:t>
            </a:r>
            <a:r>
              <a:rPr lang="en-US" altLang="zh-CN" dirty="0"/>
              <a:t>profiler tree</a:t>
            </a:r>
            <a:r>
              <a:rPr lang="zh-CN" altLang="en-US" dirty="0"/>
              <a:t>调用链精准搜集上下午</a:t>
            </a:r>
            <a:r>
              <a:rPr lang="en-US" altLang="zh-CN" dirty="0"/>
              <a:t>，</a:t>
            </a:r>
            <a:r>
              <a:rPr lang="zh-CN" altLang="en-US" dirty="0"/>
              <a:t>最终确定优化策略和对应的优化</a:t>
            </a:r>
            <a:r>
              <a:rPr lang="en-US" altLang="zh-CN" dirty="0"/>
              <a:t>patch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ym typeface="+mn-ea"/>
              </a:rPr>
              <a:t>整体上将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代码优化任务建模</a:t>
            </a:r>
            <a:r>
              <a:rPr lang="zh-CN" altLang="en-US" dirty="0">
                <a:sym typeface="+mn-ea"/>
              </a:rPr>
              <a:t>为</a:t>
            </a:r>
            <a:r>
              <a:rPr lang="en-US" altLang="zh-CN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寻找瓶颈点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思考优化策略和合适编辑位置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尝试代码优化</a:t>
            </a:r>
            <a:r>
              <a:rPr lang="en-US" altLang="zh-CN" dirty="0">
                <a:sym typeface="+mn-ea"/>
              </a:rPr>
              <a:t>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741602" y="2626476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optimization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intention</a:t>
            </a:r>
            <a:endParaRPr kumimoji="1" lang="zh-CN" altLang="en-US" i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3309660" y="2626476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optimization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strategy</a:t>
            </a:r>
            <a:endParaRPr kumimoji="1" lang="zh-CN" altLang="en-US" i="1" dirty="0"/>
          </a:p>
        </p:txBody>
      </p:sp>
      <p:cxnSp>
        <p:nvCxnSpPr>
          <p:cNvPr id="13" name="直线箭头连接符 12"/>
          <p:cNvCxnSpPr/>
          <p:nvPr/>
        </p:nvCxnSpPr>
        <p:spPr>
          <a:xfrm>
            <a:off x="4211782" y="2927854"/>
            <a:ext cx="0" cy="31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>
            <a:off x="2244436" y="2893196"/>
            <a:ext cx="0" cy="31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091924" y="1630270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i="1" dirty="0"/>
              <a:t>工具</a:t>
            </a:r>
            <a:r>
              <a:rPr kumimoji="1" lang="en-US" altLang="zh-CN" i="1" dirty="0"/>
              <a:t>/</a:t>
            </a:r>
            <a:r>
              <a:rPr kumimoji="1" lang="zh-CN" altLang="en-US" i="1" dirty="0"/>
              <a:t>依据</a:t>
            </a:r>
            <a:endParaRPr kumimoji="1" lang="zh-CN" altLang="en-US" i="1" dirty="0"/>
          </a:p>
        </p:txBody>
      </p:sp>
      <p:cxnSp>
        <p:nvCxnSpPr>
          <p:cNvPr id="7" name="直线箭头连接符 6"/>
          <p:cNvCxnSpPr/>
          <p:nvPr/>
        </p:nvCxnSpPr>
        <p:spPr>
          <a:xfrm>
            <a:off x="4689203" y="1916472"/>
            <a:ext cx="0" cy="31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48345" y="2691884"/>
            <a:ext cx="381000" cy="96983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2303457" y="3258880"/>
            <a:ext cx="7585087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3.Method</a:t>
            </a:r>
            <a:endParaRPr lang="en-US" altLang="zh-CN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3.Method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PROPER </a:t>
            </a:r>
            <a:r>
              <a:rPr lang="zh-CN" altLang="en-US"/>
              <a:t>不是把 </a:t>
            </a:r>
            <a:r>
              <a:rPr lang="en-US" altLang="zh-CN"/>
              <a:t>profiler dump </a:t>
            </a:r>
            <a:r>
              <a:rPr lang="zh-CN" altLang="en-US"/>
              <a:t>直接塞给模型，而是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先把 </a:t>
            </a:r>
            <a:r>
              <a:rPr lang="en-US" altLang="zh-CN"/>
              <a:t>workload </a:t>
            </a:r>
            <a:r>
              <a:rPr lang="zh-CN" altLang="en-US"/>
              <a:t>执行转成结构化、可查询的性能证据；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再通过专门设计的</a:t>
            </a:r>
            <a:r>
              <a:rPr lang="en-US" altLang="zh-CN"/>
              <a:t> profiler tools </a:t>
            </a:r>
            <a:r>
              <a:rPr lang="zh-CN" altLang="en-US"/>
              <a:t>引导 </a:t>
            </a:r>
            <a:r>
              <a:rPr lang="en-US" altLang="zh-CN"/>
              <a:t>agent </a:t>
            </a:r>
            <a:r>
              <a:rPr lang="zh-CN" altLang="en-US"/>
              <a:t>定位瓶颈路径和合适编辑</a:t>
            </a:r>
            <a:r>
              <a:rPr lang="zh-CN" altLang="en-US"/>
              <a:t>位置；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最后用 </a:t>
            </a:r>
            <a:r>
              <a:rPr lang="en-US" altLang="zh-CN"/>
              <a:t>plan tool </a:t>
            </a:r>
            <a:r>
              <a:rPr lang="zh-CN" altLang="en-US"/>
              <a:t>和 </a:t>
            </a:r>
            <a:r>
              <a:rPr lang="en-US" altLang="zh-CN"/>
              <a:t>thinking workflow </a:t>
            </a:r>
            <a:r>
              <a:rPr lang="zh-CN" altLang="en-US"/>
              <a:t>约束 </a:t>
            </a:r>
            <a:r>
              <a:rPr lang="en-US" altLang="zh-CN"/>
              <a:t>agent </a:t>
            </a:r>
            <a:r>
              <a:rPr lang="zh-CN" altLang="en-US"/>
              <a:t>行为</a:t>
            </a:r>
            <a:r>
              <a:rPr lang="en-US" altLang="zh-CN"/>
              <a:t>，</a:t>
            </a:r>
            <a:r>
              <a:rPr lang="zh-CN" altLang="en-US"/>
              <a:t>选择“该改哪里、为什么安全、&gt;预期收益为什么</a:t>
            </a:r>
            <a:r>
              <a:rPr lang="zh-CN" altLang="en-US"/>
              <a:t>高”。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090" y="0"/>
            <a:ext cx="10134600" cy="6756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9875" y="2952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proper </a:t>
            </a:r>
            <a:endParaRPr lang="en-US" altLang="zh-CN"/>
          </a:p>
          <a:p>
            <a:r>
              <a:rPr lang="en-US" altLang="zh-CN"/>
              <a:t>overview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方法优势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zh-CN" sz="1600"/>
              <a:t>  1. </a:t>
            </a:r>
            <a:r>
              <a:rPr lang="zh-CN" altLang="en-US" sz="1600"/>
              <a:t>现状问题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     LLM agents </a:t>
            </a:r>
            <a:r>
              <a:rPr lang="zh-CN" altLang="en-US" sz="1600"/>
              <a:t>已经能读</a:t>
            </a:r>
            <a:r>
              <a:rPr lang="en-US" altLang="zh-CN" sz="1600"/>
              <a:t> repo</a:t>
            </a:r>
            <a:r>
              <a:rPr lang="zh-CN" altLang="en-US" sz="1600"/>
              <a:t>、改代码、跑测试，但性能优化和普通</a:t>
            </a:r>
            <a:r>
              <a:rPr lang="en-US" altLang="zh-CN" sz="1600"/>
              <a:t> bug fixing </a:t>
            </a:r>
            <a:r>
              <a:rPr lang="zh-CN" altLang="en-US" sz="1600"/>
              <a:t>不一样。</a:t>
            </a:r>
            <a:r>
              <a:rPr lang="en-US" altLang="zh-CN" sz="1600"/>
              <a:t>bug fixing </a:t>
            </a:r>
            <a:r>
              <a:rPr lang="zh-CN" altLang="en-US" sz="1600"/>
              <a:t>通常有失败测试指向错误行为；性能优化没有天然</a:t>
            </a:r>
            <a:r>
              <a:rPr lang="en-US" altLang="zh-CN" sz="1600"/>
              <a:t> oracle</a:t>
            </a:r>
            <a:r>
              <a:rPr lang="zh-CN" altLang="en-US" sz="1600"/>
              <a:t>，</a:t>
            </a:r>
            <a:r>
              <a:rPr lang="en-US" altLang="zh-CN" sz="1600"/>
              <a:t>agent </a:t>
            </a:r>
            <a:r>
              <a:rPr lang="zh-CN" altLang="en-US" sz="1600"/>
              <a:t>很容易靠代码表面结构和经验猜测</a:t>
            </a:r>
            <a:r>
              <a:rPr lang="en-US" altLang="zh-CN" sz="1600"/>
              <a:t> bottleneck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en-US" altLang="zh-CN" sz="1600"/>
              <a:t>  2. </a:t>
            </a:r>
            <a:r>
              <a:rPr lang="zh-CN" altLang="en-US" sz="1600"/>
              <a:t>核心</a:t>
            </a:r>
            <a:r>
              <a:rPr lang="en-US" altLang="zh-CN" sz="1600"/>
              <a:t> gap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/>
              <a:t>     profiling </a:t>
            </a:r>
            <a:r>
              <a:rPr lang="zh-CN" altLang="en-US" sz="1600"/>
              <a:t>并不是新东西，强模型也可能自己写</a:t>
            </a:r>
            <a:r>
              <a:rPr lang="en-US" altLang="zh-CN" sz="1600"/>
              <a:t> profiler</a:t>
            </a:r>
            <a:r>
              <a:rPr lang="zh-CN" altLang="en-US" sz="1600"/>
              <a:t>。但这种</a:t>
            </a:r>
            <a:r>
              <a:rPr lang="en-US" altLang="zh-CN" sz="1600"/>
              <a:t> profiling </a:t>
            </a:r>
            <a:r>
              <a:rPr lang="zh-CN" altLang="en-US" sz="1600"/>
              <a:t>是偶发的，依赖</a:t>
            </a:r>
            <a:r>
              <a:rPr lang="en-US" altLang="zh-CN" sz="1600"/>
              <a:t> prompt</a:t>
            </a:r>
            <a:r>
              <a:rPr lang="zh-CN" altLang="en-US" sz="1600"/>
              <a:t>、模型能力、</a:t>
            </a:r>
            <a:r>
              <a:rPr lang="en-US" altLang="zh-CN" sz="1600"/>
              <a:t>reasoning effort </a:t>
            </a:r>
            <a:r>
              <a:rPr lang="zh-CN" altLang="en-US" sz="1600"/>
              <a:t>和具体</a:t>
            </a:r>
            <a:r>
              <a:rPr lang="en-US" altLang="zh-CN" sz="1600"/>
              <a:t>instance</a:t>
            </a:r>
            <a:r>
              <a:rPr lang="zh-CN" altLang="en-US" sz="1600"/>
              <a:t>。也就是说，</a:t>
            </a:r>
            <a:r>
              <a:rPr lang="zh-CN" altLang="en-US" sz="1600">
                <a:solidFill>
                  <a:schemeClr val="accent4"/>
                </a:solidFill>
              </a:rPr>
              <a:t>性能证据没有被系统化地纳入</a:t>
            </a:r>
            <a:r>
              <a:rPr lang="en-US" altLang="zh-CN" sz="1600">
                <a:solidFill>
                  <a:schemeClr val="accent4"/>
                </a:solidFill>
              </a:rPr>
              <a:t> repair loop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en-US" altLang="zh-CN" sz="1600"/>
              <a:t>  3. </a:t>
            </a:r>
            <a:r>
              <a:rPr lang="zh-CN" altLang="en-US" sz="1600"/>
              <a:t>方法优势</a:t>
            </a:r>
            <a:endParaRPr lang="zh-CN" altLang="en-US" sz="1600"/>
          </a:p>
          <a:p>
            <a:pPr marL="0" indent="457200">
              <a:buNone/>
            </a:pPr>
            <a:r>
              <a:rPr lang="zh-CN" altLang="en-US" sz="1600"/>
              <a:t>我们的方法把</a:t>
            </a:r>
            <a:r>
              <a:rPr lang="en-US" altLang="zh-CN" sz="1600"/>
              <a:t> </a:t>
            </a:r>
            <a:r>
              <a:rPr lang="en-US" altLang="zh-CN" sz="1600">
                <a:solidFill>
                  <a:srgbClr val="00B0F0"/>
                </a:solidFill>
              </a:rPr>
              <a:t>repo-level profiling evidence </a:t>
            </a:r>
            <a:r>
              <a:rPr lang="zh-CN" altLang="en-US" sz="1600">
                <a:solidFill>
                  <a:srgbClr val="00B0F0"/>
                </a:solidFill>
              </a:rPr>
              <a:t>标准化</a:t>
            </a:r>
            <a:r>
              <a:rPr lang="zh-CN" altLang="en-US" sz="1600"/>
              <a:t>：每个</a:t>
            </a:r>
            <a:r>
              <a:rPr lang="en-US" altLang="zh-CN" sz="1600"/>
              <a:t> instance </a:t>
            </a:r>
            <a:r>
              <a:rPr lang="zh-CN" altLang="en-US" sz="1600"/>
              <a:t>都先构造可比较的热点证据和</a:t>
            </a:r>
            <a:r>
              <a:rPr lang="en-US" altLang="zh-CN" sz="1600"/>
              <a:t> call-tree context</a:t>
            </a:r>
            <a:r>
              <a:rPr lang="zh-CN" altLang="en-US" sz="1600"/>
              <a:t>，然后让</a:t>
            </a:r>
            <a:r>
              <a:rPr lang="en-US" altLang="zh-CN" sz="1600"/>
              <a:t> agent </a:t>
            </a:r>
            <a:r>
              <a:rPr lang="zh-CN" altLang="en-US" sz="1600"/>
              <a:t>基于</a:t>
            </a:r>
            <a:r>
              <a:rPr lang="en-US" altLang="zh-CN" sz="1600"/>
              <a:t>evidence </a:t>
            </a:r>
            <a:r>
              <a:rPr lang="zh-CN" altLang="en-US" sz="1600"/>
              <a:t>去确定</a:t>
            </a:r>
            <a:r>
              <a:rPr lang="en-US" altLang="zh-CN" sz="1600"/>
              <a:t> optimization target</a:t>
            </a:r>
            <a:r>
              <a:rPr lang="zh-CN" altLang="en-US" sz="1600"/>
              <a:t>、选择</a:t>
            </a:r>
            <a:r>
              <a:rPr lang="en-US" altLang="zh-CN" sz="1600"/>
              <a:t> safe edit layer</a:t>
            </a:r>
            <a:r>
              <a:rPr lang="zh-CN" altLang="en-US" sz="1600"/>
              <a:t>、形成</a:t>
            </a:r>
            <a:r>
              <a:rPr lang="en-US" altLang="zh-CN" sz="1600"/>
              <a:t> patch plan</a:t>
            </a:r>
            <a:r>
              <a:rPr lang="zh-CN" altLang="en-US" sz="1600"/>
              <a:t>，再修改和验证。</a:t>
            </a:r>
            <a:endParaRPr lang="zh-CN" altLang="en-US" sz="1600"/>
          </a:p>
          <a:p>
            <a:pPr marL="0" indent="457200">
              <a:buNone/>
            </a:pPr>
            <a:r>
              <a:rPr lang="zh-CN" altLang="en-US" sz="1600"/>
              <a:t>这样做的意义不是</a:t>
            </a:r>
            <a:r>
              <a:rPr lang="en-US" altLang="zh-CN" sz="1600"/>
              <a:t>“</a:t>
            </a:r>
            <a:r>
              <a:rPr lang="zh-CN" altLang="en-US" sz="1600"/>
              <a:t>多了一个工具</a:t>
            </a:r>
            <a:r>
              <a:rPr lang="en-US" altLang="zh-CN" sz="1600"/>
              <a:t>”</a:t>
            </a:r>
            <a:r>
              <a:rPr lang="zh-CN" altLang="en-US" sz="1600"/>
              <a:t>，而是</a:t>
            </a:r>
            <a:r>
              <a:rPr lang="zh-CN" altLang="en-US" sz="1600">
                <a:solidFill>
                  <a:srgbClr val="FF0000"/>
                </a:solidFill>
              </a:rPr>
              <a:t>把</a:t>
            </a:r>
            <a:r>
              <a:rPr lang="en-US" altLang="zh-CN" sz="1600">
                <a:solidFill>
                  <a:srgbClr val="FF0000"/>
                </a:solidFill>
              </a:rPr>
              <a:t> LLM </a:t>
            </a:r>
            <a:r>
              <a:rPr lang="zh-CN" altLang="en-US" sz="1600">
                <a:solidFill>
                  <a:srgbClr val="FF0000"/>
                </a:solidFill>
              </a:rPr>
              <a:t>性能优化从</a:t>
            </a:r>
            <a:r>
              <a:rPr lang="en-US" altLang="zh-CN" sz="1600">
                <a:solidFill>
                  <a:srgbClr val="FF0000"/>
                </a:solidFill>
              </a:rPr>
              <a:t> ad hoc </a:t>
            </a:r>
            <a:r>
              <a:rPr lang="zh-CN" altLang="en-US" sz="1600">
                <a:solidFill>
                  <a:srgbClr val="FF0000"/>
                </a:solidFill>
              </a:rPr>
              <a:t>的经验型搜索，转成</a:t>
            </a:r>
            <a:r>
              <a:rPr lang="en-US" altLang="zh-CN" sz="1600">
                <a:solidFill>
                  <a:srgbClr val="FF0000"/>
                </a:solidFill>
              </a:rPr>
              <a:t> evidence-driven </a:t>
            </a:r>
            <a:r>
              <a:rPr lang="zh-CN" altLang="en-US" sz="1600">
                <a:solidFill>
                  <a:srgbClr val="FF0000"/>
                </a:solidFill>
              </a:rPr>
              <a:t>的、可复现的</a:t>
            </a:r>
            <a:r>
              <a:rPr lang="en-US" altLang="zh-CN" sz="1600">
                <a:solidFill>
                  <a:srgbClr val="FF0000"/>
                </a:solidFill>
              </a:rPr>
              <a:t> repo-level optimization pipeline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48345" y="2691884"/>
            <a:ext cx="381000" cy="96983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2303457" y="3258880"/>
            <a:ext cx="7585087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4.Experiment</a:t>
            </a:r>
            <a:endParaRPr lang="en-US" altLang="zh-CN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4.1 Experiment Setup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648315" cy="4881880"/>
          </a:xfrm>
        </p:spPr>
        <p:txBody>
          <a:bodyPr>
            <a:normAutofit lnSpcReduction="10000"/>
          </a:bodyPr>
          <a:p>
            <a:r>
              <a:rPr lang="en-US" altLang="zh-CN"/>
              <a:t>4.1.1 </a:t>
            </a:r>
            <a:r>
              <a:rPr lang="en-US" altLang="zh-CN">
                <a:solidFill>
                  <a:srgbClr val="00B0F0"/>
                </a:solidFill>
              </a:rPr>
              <a:t>数据集</a:t>
            </a:r>
            <a:r>
              <a:rPr lang="en-US" altLang="zh-CN"/>
              <a:t>：为了节省资源，在</a:t>
            </a:r>
            <a:r>
              <a:rPr lang="en-US" altLang="zh-CN">
                <a:solidFill>
                  <a:srgbClr val="FF0000"/>
                </a:solidFill>
              </a:rPr>
              <a:t>swefficiency_lite</a:t>
            </a:r>
            <a:r>
              <a:rPr lang="en-US" altLang="zh-CN"/>
              <a:t>上评测</a:t>
            </a:r>
            <a:endParaRPr lang="en-US" altLang="zh-CN"/>
          </a:p>
          <a:p>
            <a:pPr lvl="1"/>
            <a:r>
              <a:rPr lang="en-US" altLang="zh-CN"/>
              <a:t>swefficiency_lite有100个case，由该论文官方提供，是基于swefficiency，按照难度抽取的。</a:t>
            </a:r>
            <a:endParaRPr lang="en-US" altLang="zh-CN"/>
          </a:p>
          <a:p>
            <a:pPr lvl="1"/>
            <a:r>
              <a:rPr lang="en-US" altLang="zh-CN"/>
              <a:t>过滤： 给每个instance 4h 的评测时间，结果5个case仍然超时，1个case超时了却没有通过correctness评测， 去掉这些case，最终评测数据集有</a:t>
            </a:r>
            <a:r>
              <a:rPr lang="en-US" altLang="zh-CN">
                <a:solidFill>
                  <a:srgbClr val="FF0000"/>
                </a:solidFill>
              </a:rPr>
              <a:t>94个</a:t>
            </a:r>
            <a:endParaRPr lang="en-US" altLang="zh-CN">
              <a:solidFill>
                <a:srgbClr val="FF0000"/>
              </a:solidFill>
            </a:endParaRPr>
          </a:p>
          <a:p>
            <a:pPr lvl="0" algn="l">
              <a:buClrTx/>
              <a:buSzTx/>
            </a:pPr>
            <a:r>
              <a:rPr lang="en-US" altLang="zh-CN"/>
              <a:t>4.1.2 环境&amp;模型：</a:t>
            </a:r>
            <a:endParaRPr lang="en-US" altLang="zh-CN"/>
          </a:p>
          <a:p>
            <a:pPr lvl="1" algn="l" defTabSz="914400">
              <a:lnSpc>
                <a:spcPct val="130000"/>
              </a:lnSpc>
              <a:spcAft>
                <a:spcPts val="1000"/>
              </a:spcAft>
              <a:buClrTx/>
              <a:buSzTx/>
            </a:pPr>
            <a:r>
              <a:rPr lang="en-US" altLang="zh-CN" sz="1800"/>
              <a:t>Ubuntu 20.04.4 LTS (Focal Fossa)，cpu是Intel Xeon Platinum 8358P @ 2.60GHz × 128 核（超线程每核 2 线程）</a:t>
            </a:r>
            <a:endParaRPr lang="en-US" altLang="zh-CN" sz="1800"/>
          </a:p>
          <a:p>
            <a:pPr lvl="1" algn="l" defTabSz="914400">
              <a:lnSpc>
                <a:spcPct val="130000"/>
              </a:lnSpc>
              <a:spcAft>
                <a:spcPts val="1000"/>
              </a:spcAft>
              <a:buClrTx/>
              <a:buSzTx/>
            </a:pPr>
            <a:r>
              <a:rPr lang="en-US" altLang="zh-CN" sz="1800">
                <a:solidFill>
                  <a:srgbClr val="00B0F0"/>
                </a:solidFill>
              </a:rPr>
              <a:t>模型</a:t>
            </a:r>
            <a:r>
              <a:rPr lang="en-US" altLang="zh-CN" sz="1800"/>
              <a:t>选择：gpt-5.4，【deepseek】</a:t>
            </a:r>
            <a:endParaRPr lang="en-US" altLang="zh-CN" sz="1800"/>
          </a:p>
          <a:p>
            <a:pPr lvl="1" algn="l" defTabSz="914400">
              <a:lnSpc>
                <a:spcPct val="130000"/>
              </a:lnSpc>
              <a:spcAft>
                <a:spcPts val="1000"/>
              </a:spcAft>
              <a:buClrTx/>
              <a:buSzTx/>
            </a:pPr>
            <a:r>
              <a:rPr lang="en-US" altLang="zh-CN" sz="1800"/>
              <a:t>对于</a:t>
            </a:r>
            <a:r>
              <a:rPr lang="en-US" altLang="zh-CN" sz="1800">
                <a:solidFill>
                  <a:srgbClr val="92D050"/>
                </a:solidFill>
              </a:rPr>
              <a:t>network/docker error</a:t>
            </a:r>
            <a:r>
              <a:rPr lang="en-US" altLang="zh-CN" sz="1800"/>
              <a:t>的我们重跑直到成功，对于limitsout的重跑一次，如果还是limitsout就按correctness error处理</a:t>
            </a:r>
            <a:endParaRPr lang="en-US" altLang="zh-CN" sz="1800"/>
          </a:p>
          <a:p>
            <a:pPr lvl="0" algn="l">
              <a:buClrTx/>
              <a:buSzTx/>
            </a:pPr>
            <a:r>
              <a:rPr lang="en-US" altLang="zh-CN"/>
              <a:t>4.1.3 </a:t>
            </a:r>
            <a:r>
              <a:rPr lang="en-US" altLang="zh-CN">
                <a:solidFill>
                  <a:srgbClr val="00B0F0"/>
                </a:solidFill>
              </a:rPr>
              <a:t>metric</a:t>
            </a:r>
            <a:r>
              <a:rPr lang="en-US" altLang="zh-CN"/>
              <a:t>(后面介绍)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4.2 RQs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4820" y="1313815"/>
            <a:ext cx="10888980" cy="4384675"/>
          </a:xfrm>
        </p:spPr>
        <p:txBody>
          <a:bodyPr>
            <a:noAutofit/>
          </a:bodyPr>
          <a:p>
            <a:pPr marL="0" indent="0">
              <a:buNone/>
            </a:pPr>
            <a:endParaRPr lang="en-US" altLang="zh-CN" sz="1700"/>
          </a:p>
          <a:p>
            <a:r>
              <a:rPr lang="en-US" altLang="zh-CN" sz="1700"/>
              <a:t>1.</a:t>
            </a:r>
            <a:r>
              <a:rPr lang="zh-CN" altLang="en-US" sz="1700"/>
              <a:t>最终</a:t>
            </a:r>
            <a:r>
              <a:rPr lang="en-US" altLang="zh-CN" sz="1700"/>
              <a:t>speedsup怎么样，</a:t>
            </a:r>
            <a:r>
              <a:rPr lang="zh-CN" altLang="en-US" sz="1700"/>
              <a:t>跟</a:t>
            </a:r>
            <a:r>
              <a:rPr lang="en-US" altLang="zh-CN" sz="1700"/>
              <a:t>mini-swe-agent（即baseline）</a:t>
            </a:r>
            <a:r>
              <a:rPr lang="zh-CN" altLang="en-US" sz="1700"/>
              <a:t>比较怎么样</a:t>
            </a:r>
            <a:r>
              <a:rPr lang="en-US" altLang="zh-CN" sz="1700"/>
              <a:t>，</a:t>
            </a:r>
            <a:r>
              <a:rPr lang="en-US" altLang="zh-CN" sz="1700">
                <a:solidFill>
                  <a:srgbClr val="FF0000"/>
                </a:solidFill>
              </a:rPr>
              <a:t>correct</a:t>
            </a:r>
            <a:r>
              <a:rPr lang="en-US" altLang="zh-CN" sz="1700"/>
              <a:t>、</a:t>
            </a:r>
            <a:r>
              <a:rPr lang="en-US" altLang="zh-CN" sz="1700">
                <a:solidFill>
                  <a:srgbClr val="FF0000"/>
                </a:solidFill>
              </a:rPr>
              <a:t>speedsup rate</a:t>
            </a:r>
            <a:r>
              <a:rPr lang="en-US" altLang="zh-CN" sz="1700"/>
              <a:t>？</a:t>
            </a:r>
            <a:endParaRPr lang="en-US" altLang="zh-CN" sz="1700"/>
          </a:p>
          <a:p>
            <a:pPr marL="0" indent="0">
              <a:buNone/>
            </a:pPr>
            <a:r>
              <a:rPr lang="en-US" altLang="zh-CN" sz="1700"/>
              <a:t>在</a:t>
            </a:r>
            <a:r>
              <a:rPr lang="en-US" altLang="zh-CN" sz="1700">
                <a:solidFill>
                  <a:schemeClr val="accent1"/>
                </a:solidFill>
              </a:rPr>
              <a:t>多模型</a:t>
            </a:r>
            <a:r>
              <a:rPr lang="en-US" altLang="zh-CN" sz="1700"/>
              <a:t>gpt和deepseek是否有效果，在</a:t>
            </a:r>
            <a:r>
              <a:rPr lang="en-US" altLang="zh-CN" sz="1700">
                <a:solidFill>
                  <a:schemeClr val="accent1"/>
                </a:solidFill>
              </a:rPr>
              <a:t>推理模型</a:t>
            </a:r>
            <a:r>
              <a:rPr lang="en-US" altLang="zh-CN" sz="1700"/>
              <a:t>上是否仍旧有效果，gpt-5.4-none和gpt-5.4-high</a:t>
            </a:r>
            <a:endParaRPr lang="en-US" altLang="zh-CN" sz="1700"/>
          </a:p>
          <a:p>
            <a:pPr lvl="1"/>
            <a:endParaRPr lang="en-US" altLang="zh-CN" sz="1700"/>
          </a:p>
          <a:p>
            <a:r>
              <a:rPr lang="en-US" altLang="zh-CN" sz="1700"/>
              <a:t>2. </a:t>
            </a:r>
            <a:r>
              <a:rPr lang="en-US" altLang="zh-CN" sz="1700">
                <a:solidFill>
                  <a:srgbClr val="FF0000"/>
                </a:solidFill>
              </a:rPr>
              <a:t>detail analsysis</a:t>
            </a:r>
            <a:r>
              <a:rPr lang="en-US" altLang="zh-CN" sz="1700"/>
              <a:t>，整体case图是什么情况，不同repo上又是什么情况，</a:t>
            </a:r>
            <a:r>
              <a:rPr lang="en-US" altLang="zh-CN" sz="1700">
                <a:solidFill>
                  <a:schemeClr val="accent1"/>
                </a:solidFill>
              </a:rPr>
              <a:t>edit func</a:t>
            </a:r>
            <a:r>
              <a:rPr lang="en-US" altLang="zh-CN" sz="1700"/>
              <a:t>情况怎么样</a:t>
            </a:r>
            <a:endParaRPr lang="en-US" altLang="zh-CN" sz="1700"/>
          </a:p>
          <a:p>
            <a:endParaRPr lang="zh-CN" altLang="en-US" sz="1700"/>
          </a:p>
          <a:p>
            <a:r>
              <a:rPr lang="en-US" altLang="zh-CN" sz="1700"/>
              <a:t>3. </a:t>
            </a:r>
            <a:r>
              <a:rPr lang="en-US" altLang="zh-CN" sz="1700">
                <a:solidFill>
                  <a:srgbClr val="FF0000"/>
                </a:solidFill>
              </a:rPr>
              <a:t>ablation </a:t>
            </a:r>
            <a:r>
              <a:rPr lang="en-US" altLang="zh-CN" sz="1700"/>
              <a:t>study， 去掉hotspots工具，仅从workload出发进行query_tree怎么样。反之，只提供hotspots工具又会怎么样？ </a:t>
            </a:r>
            <a:endParaRPr lang="zh-CN" altLang="en-US" sz="1700"/>
          </a:p>
          <a:p>
            <a:pPr marL="0" indent="0">
              <a:buNone/>
            </a:pPr>
            <a:endParaRPr lang="zh-CN" altLang="en-US" sz="1700"/>
          </a:p>
          <a:p>
            <a:r>
              <a:rPr lang="en-US" altLang="zh-CN" sz="1700"/>
              <a:t>4.</a:t>
            </a:r>
            <a:r>
              <a:rPr lang="en-US" altLang="zh-CN" sz="1700">
                <a:solidFill>
                  <a:srgbClr val="FF0000"/>
                </a:solidFill>
              </a:rPr>
              <a:t>case study</a:t>
            </a:r>
            <a:r>
              <a:rPr lang="en-US" altLang="zh-CN" sz="1700"/>
              <a:t>，展现性能提升的case、性能回退的case、再展示性能超过expert的case！</a:t>
            </a:r>
            <a:r>
              <a:rPr lang="zh-CN" altLang="en-US" sz="1700"/>
              <a:t>还有</a:t>
            </a:r>
            <a:r>
              <a:rPr lang="en-US" altLang="zh-CN" sz="1700"/>
              <a:t>llm</a:t>
            </a:r>
            <a:r>
              <a:rPr lang="zh-CN" altLang="en-US" sz="1700"/>
              <a:t>会改</a:t>
            </a:r>
            <a:r>
              <a:rPr lang="en-US" altLang="zh-CN" sz="1700"/>
              <a:t>cython</a:t>
            </a:r>
            <a:r>
              <a:rPr lang="zh-CN" altLang="en-US" sz="1700"/>
              <a:t>吗</a:t>
            </a:r>
            <a:r>
              <a:rPr lang="en-US" altLang="zh-CN" sz="1700"/>
              <a:t>？    -</a:t>
            </a:r>
            <a:r>
              <a:rPr lang="zh-CN" altLang="en-US" sz="1700"/>
              <a:t>这个</a:t>
            </a:r>
            <a:r>
              <a:rPr lang="zh-CN" altLang="en-US" sz="1700"/>
              <a:t>全采用</a:t>
            </a:r>
            <a:r>
              <a:rPr lang="en-US" altLang="zh-CN" sz="1700"/>
              <a:t>gpt-5.4-high</a:t>
            </a:r>
            <a:r>
              <a:rPr lang="zh-CN" altLang="en-US" sz="1700"/>
              <a:t>的</a:t>
            </a:r>
            <a:r>
              <a:rPr lang="zh-CN" altLang="en-US" sz="1700"/>
              <a:t>结果</a:t>
            </a:r>
            <a:endParaRPr lang="zh-CN" altLang="en-US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RQ1 总体上correctness&amp;speedup的有效性</a:t>
            </a:r>
            <a:endParaRPr lang="zh-CN" altLang="en-US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37160" y="1522095"/>
          <a:ext cx="11837670" cy="525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515"/>
                <a:gridCol w="1071880"/>
                <a:gridCol w="1503045"/>
                <a:gridCol w="1447165"/>
                <a:gridCol w="1671320"/>
                <a:gridCol w="1534160"/>
                <a:gridCol w="1160780"/>
                <a:gridCol w="1188720"/>
                <a:gridCol w="1188085"/>
              </a:tblGrid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reasoning effort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method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B050"/>
                          </a:solidFill>
                        </a:rPr>
                        <a:t>failed</a:t>
                      </a:r>
                      <a:r>
                        <a:rPr lang="en-US" altLang="zh-CN"/>
                        <a:t> test rate</a:t>
                      </a:r>
                      <a:endParaRPr lang="en-US" altLang="zh-CN"/>
                    </a:p>
                  </a:txBody>
                  <a:tcPr/>
                </a:tc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passed correctness test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4008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faster than pre-edit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faster than expert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&gt;1x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&gt;=5x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&gt;=10x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ym typeface="等线" charset="0"/>
                        </a:rPr>
                        <a:t>deepseek-v4-flash</a:t>
                      </a:r>
                      <a:endParaRPr lang="en-US" altLang="zh-CN">
                        <a:sym typeface="等线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none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mini-swe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41/94 (43.62%)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49/94 (52.13%)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22/94 (23.40%)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49/94 (52.13%)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22/94 (23.40%)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16/94 (17.02%)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32/94 (34.04%)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59/94 (62.77%)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26/94 (27.66%)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59/94 (62.77%)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25/94 (26.60%)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18/94 (19.15%)</a:t>
                      </a:r>
                      <a:endParaRPr lang="en-US" altLang="zh-CN"/>
                    </a:p>
                  </a:txBody>
                  <a:tcPr/>
                </a:tc>
              </a:tr>
              <a:tr h="85725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gpt-5.4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none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mini-swe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31/94 (32.98%)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34/94 (36.17%)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16/94 (17.02%)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49/94 (52.13%)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11/94 (11.70%)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9/94 (9.57%)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  <a:tr h="85661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</a:t>
                      </a:r>
                      <a:r>
                        <a:rPr lang="en-US" altLang="zh-CN"/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25/94 (26.60%)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57/94 (60.64%)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21/94 (22.34%)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57/94 (60.64%)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26/94 (27.66%)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20/94 (21.28%)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  <a:tr h="949960">
                <a:tc vMerge="1"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high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mini-swe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14/94 (14.89%)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>
                          <a:sym typeface="+mn-ea"/>
                        </a:rPr>
                        <a:t>39/94 (41.49%)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>
                          <a:sym typeface="+mn-ea"/>
                        </a:rPr>
                        <a:t>40/94 (42.55%)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>
                          <a:sym typeface="+mn-ea"/>
                        </a:rPr>
                        <a:t>78/94 (82.98%)</a:t>
                      </a:r>
                      <a:endParaRPr lang="en-US" altLang="zh-CN" sz="1800" b="0" i="0"/>
                    </a:p>
                    <a:p>
                      <a:pPr algn="r"/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>
                          <a:sym typeface="+mn-ea"/>
                        </a:rPr>
                        <a:t>34/94 (36.17%)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>
                          <a:sym typeface="+mn-ea"/>
                        </a:rPr>
                        <a:t>24/94 (25.53%)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  <a:tr h="85725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</a:t>
                      </a:r>
                      <a:r>
                        <a:rPr lang="en-US" altLang="zh-CN"/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10/94 (10.64%)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40/94 (42.55%)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43/94 (45.74%)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83/94 (88.30%)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35/94 (37.23%)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27/94 (28.72%)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233420" y="1153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</a:rPr>
              <a:t>correctness</a:t>
            </a:r>
            <a:endParaRPr lang="en-US" altLang="zh-CN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RQ1 </a:t>
            </a:r>
            <a:r>
              <a:rPr lang="en-US" altLang="zh-CN">
                <a:sym typeface="+mn-ea"/>
              </a:rPr>
              <a:t>总体上speedup&amp;speedup的有效性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0" y="2305685"/>
          <a:ext cx="11868150" cy="522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825"/>
                <a:gridCol w="1080135"/>
                <a:gridCol w="2148205"/>
                <a:gridCol w="1283335"/>
                <a:gridCol w="2132330"/>
                <a:gridCol w="1915795"/>
                <a:gridCol w="1914525"/>
              </a:tblGrid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reasoning effort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method</a:t>
                      </a:r>
                      <a:endParaRPr lang="en-US" altLang="zh-CN"/>
                    </a:p>
                  </a:txBody>
                  <a:tcPr/>
                </a:tc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metrics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4008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geomotric speedup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geomotric SR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harmonic speedup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harmonic SR</a:t>
                      </a:r>
                      <a:endParaRPr lang="en-US" altLang="zh-CN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human expert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7.03x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2.92x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100%</a:t>
                      </a:r>
                      <a:endParaRPr lang="en-US" altLang="zh-CN"/>
                    </a:p>
                  </a:txBody>
                  <a:tcPr/>
                </a:tc>
              </a:tr>
              <a:tr h="64008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deepseek-v4-flash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mini-swe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2.91x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41.34%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1.59x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2.68%</a:t>
                      </a:r>
                      <a:endParaRPr lang="en-US" altLang="zh-CN"/>
                    </a:p>
                  </a:txBody>
                  <a:tcPr/>
                </a:tc>
              </a:tr>
              <a:tr h="64008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3.67x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52.12%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1.71x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8.64%</a:t>
                      </a:r>
                      <a:endParaRPr lang="en-US" altLang="zh-CN"/>
                    </a:p>
                  </a:txBody>
                  <a:tcPr/>
                </a:tc>
              </a:tr>
              <a:tr h="38608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gpt-5.4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mini-swe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1.77x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25.13%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1.25x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1.93%</a:t>
                      </a:r>
                      <a:endParaRPr lang="en-US" altLang="zh-CN"/>
                    </a:p>
                  </a:txBody>
                  <a:tcPr/>
                </a:tc>
              </a:tr>
              <a:tr h="30670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</a:t>
                      </a:r>
                      <a:r>
                        <a:rPr lang="en-US" altLang="zh-CN"/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3.29x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46.83%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1.53x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3.98%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  <a:tr h="385445">
                <a:tc vMerge="1"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high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mini-swe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5.55x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78.88%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2.26x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28.76%</a:t>
                      </a:r>
                      <a:endParaRPr lang="en-US" altLang="zh-CN"/>
                    </a:p>
                  </a:txBody>
                  <a:tcPr/>
                </a:tc>
              </a:tr>
              <a:tr h="39941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</a:t>
                      </a:r>
                      <a:r>
                        <a:rPr lang="en-US" altLang="zh-CN"/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6.39x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90.86%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2.20x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37.88%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02970" y="1383665"/>
            <a:ext cx="100622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</a:rPr>
              <a:t>speed up</a:t>
            </a:r>
            <a:endParaRPr lang="en-US" altLang="zh-CN">
              <a:solidFill>
                <a:srgbClr val="0070C0"/>
              </a:solidFill>
            </a:endParaRPr>
          </a:p>
          <a:p>
            <a:r>
              <a:rPr lang="en-US" altLang="zh-CN"/>
              <a:t>speedup:即p</a:t>
            </a:r>
            <a:r>
              <a:rPr lang="en-US" altLang="zh-CN"/>
              <a:t>re-edit runtime / post-edit runtime</a:t>
            </a:r>
            <a:endParaRPr lang="en-US" altLang="zh-CN"/>
          </a:p>
          <a:p>
            <a:r>
              <a:rPr lang="en-US" altLang="zh-CN"/>
              <a:t>SR: 即 model speedup / human speedup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RQ2 detail analysis </a:t>
            </a:r>
            <a:r>
              <a:rPr lang="en-US" altLang="zh-CN">
                <a:sym typeface="+mn-ea"/>
              </a:rPr>
              <a:t>case上的speedup，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43230" y="1280795"/>
            <a:ext cx="111340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gpt-5.4-</a:t>
            </a:r>
            <a:r>
              <a:rPr lang="en-US" altLang="zh-CN">
                <a:solidFill>
                  <a:srgbClr val="FF0000"/>
                </a:solidFill>
              </a:rPr>
              <a:t>none</a:t>
            </a:r>
            <a:endParaRPr lang="en-US" altLang="zh-CN"/>
          </a:p>
          <a:p>
            <a:r>
              <a:rPr lang="en-US" altLang="zh-CN"/>
              <a:t>proper vs baseline       </a:t>
            </a:r>
            <a:r>
              <a:rPr lang="zh-CN" altLang="en-US"/>
              <a:t>灰色是</a:t>
            </a:r>
            <a:r>
              <a:rPr lang="en-US" altLang="zh-CN"/>
              <a:t>human expert、</a:t>
            </a:r>
            <a:r>
              <a:rPr lang="zh-CN" altLang="en-US">
                <a:solidFill>
                  <a:schemeClr val="accent1"/>
                </a:solidFill>
              </a:rPr>
              <a:t>蓝色</a:t>
            </a:r>
            <a:r>
              <a:rPr lang="zh-CN" altLang="en-US"/>
              <a:t>是</a:t>
            </a:r>
            <a:r>
              <a:rPr lang="en-US" altLang="zh-CN"/>
              <a:t>proper、</a:t>
            </a:r>
            <a:r>
              <a:rPr lang="zh-CN" altLang="en-US">
                <a:solidFill>
                  <a:schemeClr val="accent2"/>
                </a:solidFill>
              </a:rPr>
              <a:t>橙色</a:t>
            </a:r>
            <a:r>
              <a:rPr lang="zh-CN" altLang="en-US"/>
              <a:t>是</a:t>
            </a:r>
            <a:r>
              <a:rPr lang="en-US" altLang="zh-CN"/>
              <a:t>mini-</a:t>
            </a:r>
            <a:r>
              <a:rPr lang="en-US" altLang="zh-CN"/>
              <a:t>swe</a:t>
            </a:r>
            <a:endParaRPr lang="en-US" altLang="zh-CN"/>
          </a:p>
          <a:p>
            <a:pPr marL="2286000" lvl="5" indent="457200"/>
            <a:r>
              <a:rPr lang="zh-CN" altLang="en-US">
                <a:solidFill>
                  <a:srgbClr val="FF0000"/>
                </a:solidFill>
              </a:rPr>
              <a:t>红色</a:t>
            </a:r>
            <a:r>
              <a:rPr lang="zh-CN" altLang="en-US"/>
              <a:t>代表</a:t>
            </a:r>
            <a:r>
              <a:rPr lang="en-US" altLang="zh-CN"/>
              <a:t>proper</a:t>
            </a:r>
            <a:r>
              <a:rPr lang="zh-CN" altLang="en-US"/>
              <a:t>更好</a:t>
            </a:r>
            <a:r>
              <a:rPr lang="en-US" altLang="zh-CN"/>
              <a:t>， delta (proper - mini-swe)、 </a:t>
            </a:r>
            <a:r>
              <a:rPr lang="zh-CN" altLang="en-US">
                <a:solidFill>
                  <a:srgbClr val="92D050"/>
                </a:solidFill>
              </a:rPr>
              <a:t>绿色</a:t>
            </a:r>
            <a:r>
              <a:rPr lang="zh-CN" altLang="en-US"/>
              <a:t>反之</a:t>
            </a:r>
            <a:r>
              <a:rPr lang="en-US" altLang="zh-CN"/>
              <a:t>  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" y="2202815"/>
            <a:ext cx="12192000" cy="23158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" y="4340225"/>
            <a:ext cx="4413885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1945" y="365125"/>
            <a:ext cx="11297285" cy="1021715"/>
          </a:xfrm>
        </p:spPr>
        <p:txBody>
          <a:bodyPr>
            <a:normAutofit fontScale="90000"/>
          </a:bodyPr>
          <a:p>
            <a:r>
              <a:rPr lang="en-US" altLang="zh-CN"/>
              <a:t>RQ2 detail analysis </a:t>
            </a:r>
            <a:r>
              <a:rPr lang="en-US" altLang="zh-CN">
                <a:sym typeface="+mn-ea"/>
              </a:rPr>
              <a:t>case上的speedup，各repo上的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43230" y="12807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gpt-5.4-</a:t>
            </a:r>
            <a:r>
              <a:rPr lang="en-US" altLang="zh-CN">
                <a:solidFill>
                  <a:srgbClr val="FF0000"/>
                </a:solidFill>
              </a:rPr>
              <a:t>high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hotspots-query vs baseline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" y="2202815"/>
            <a:ext cx="11874500" cy="2255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" y="4302125"/>
            <a:ext cx="4718050" cy="2555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/>
              <a:t>RQ2 </a:t>
            </a:r>
            <a:r>
              <a:rPr lang="en-US" altLang="zh-CN">
                <a:sym typeface="+mn-ea"/>
              </a:rPr>
              <a:t>detail analysis </a:t>
            </a:r>
            <a:r>
              <a:rPr lang="en-US" altLang="zh-CN"/>
              <a:t>edit fucn命中</a:t>
            </a:r>
            <a:r>
              <a:rPr lang="zh-CN" altLang="en-US"/>
              <a:t>等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4351338"/>
          </a:xfrm>
        </p:spPr>
        <p:txBody>
          <a:bodyPr/>
          <a:p>
            <a:r>
              <a:rPr lang="en-US" altLang="zh-CN"/>
              <a:t>1.mean hit rate : edit func </a:t>
            </a:r>
            <a:r>
              <a:rPr lang="zh-CN" altLang="en-US"/>
              <a:t>现在就是命中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human patch的func</a:t>
            </a:r>
            <a:r>
              <a:rPr lang="zh-CN" altLang="en-US"/>
              <a:t>就算行</a:t>
            </a:r>
            <a:endParaRPr lang="zh-CN" altLang="en-US"/>
          </a:p>
          <a:p>
            <a:r>
              <a:rPr lang="en-US" altLang="zh-CN"/>
              <a:t>2.mean jaccard: 交集除以并集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13410" y="2720340"/>
          <a:ext cx="10299065" cy="397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/>
                <a:gridCol w="1098550"/>
                <a:gridCol w="1689100"/>
                <a:gridCol w="1090295"/>
                <a:gridCol w="1763395"/>
                <a:gridCol w="1842770"/>
                <a:gridCol w="1843405"/>
              </a:tblGrid>
              <a:tr h="8394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reasoning effort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method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file hit rate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file hit jaccard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func hit rate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func hit jaccard</a:t>
                      </a:r>
                      <a:endParaRPr lang="en-US" altLang="zh-CN"/>
                    </a:p>
                  </a:txBody>
                  <a:tcPr/>
                </a:tc>
              </a:tr>
              <a:tr h="91440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gpt-5.4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none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mini-swe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0.42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0.10</a:t>
                      </a:r>
                      <a:endParaRPr lang="en-US" altLang="zh-CN"/>
                    </a:p>
                  </a:txBody>
                  <a:tcPr/>
                </a:tc>
              </a:tr>
              <a:tr h="64008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</a:t>
                      </a:r>
                      <a:r>
                        <a:rPr lang="en-US" altLang="zh-CN"/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0.29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0.17</a:t>
                      </a:r>
                      <a:endParaRPr lang="en-US" altLang="zh-CN"/>
                    </a:p>
                  </a:txBody>
                  <a:tcPr/>
                </a:tc>
              </a:tr>
              <a:tr h="914400">
                <a:tc vMerge="1"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high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mini-swe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0.22</a:t>
                      </a:r>
                      <a:endParaRPr lang="en-US" altLang="zh-CN"/>
                    </a:p>
                  </a:txBody>
                  <a:tcPr/>
                </a:tc>
              </a:tr>
              <a:tr h="66548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  <a:sym typeface="+mn-ea"/>
                        </a:rPr>
                        <a:t>ours</a:t>
                      </a:r>
                      <a:r>
                        <a:rPr lang="en-US" altLang="zh-CN" sz="1800">
                          <a:sym typeface="+mn-ea"/>
                        </a:rPr>
                        <a:t>(</a:t>
                      </a:r>
                      <a:r>
                        <a:rPr lang="en-US" altLang="zh-CN" sz="1800">
                          <a:sym typeface="+mn-ea"/>
                        </a:rPr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0.21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/>
              <a:t>RQ2 </a:t>
            </a:r>
            <a:r>
              <a:rPr lang="en-US" altLang="zh-CN">
                <a:sym typeface="+mn-ea"/>
              </a:rPr>
              <a:t>detail analysis</a:t>
            </a:r>
            <a:r>
              <a:rPr lang="en-US" altLang="zh-CN">
                <a:sym typeface="+mn-ea"/>
              </a:rPr>
              <a:t>(best benifit func &amp;edit func)</a:t>
            </a:r>
            <a:r>
              <a:rPr lang="en-US" altLang="zh-CN">
                <a:sym typeface="+mn-ea"/>
              </a:rPr>
              <a:t> 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5080000"/>
          </a:xfrm>
        </p:spPr>
        <p:txBody>
          <a:bodyPr>
            <a:noAutofit/>
          </a:bodyPr>
          <a:p>
            <a:pPr marL="0" indent="0">
              <a:buNone/>
            </a:pPr>
            <a:endParaRPr lang="zh-CN" altLang="en-US" sz="1400"/>
          </a:p>
          <a:p>
            <a:r>
              <a:rPr lang="en-US" altLang="zh-CN" sz="1400"/>
              <a:t>定义：</a:t>
            </a:r>
            <a:r>
              <a:rPr lang="en-US" altLang="zh-CN" sz="1400">
                <a:solidFill>
                  <a:srgbClr val="00B0F0"/>
                </a:solidFill>
              </a:rPr>
              <a:t>human_top_improved_func</a:t>
            </a:r>
            <a:r>
              <a:rPr lang="en-US" altLang="zh-CN" sz="1400"/>
              <a:t> = human pre profile </a:t>
            </a:r>
            <a:r>
              <a:rPr lang="zh-CN" altLang="en-US" sz="1400"/>
              <a:t>和</a:t>
            </a:r>
            <a:r>
              <a:rPr lang="en-US" altLang="zh-CN" sz="1400"/>
              <a:t> human post profile </a:t>
            </a:r>
            <a:r>
              <a:rPr lang="zh-CN" altLang="en-US" sz="1400"/>
              <a:t>中，</a:t>
            </a:r>
            <a:r>
              <a:rPr lang="en-US" altLang="zh-CN" sz="1400"/>
              <a:t>hybrid delta </a:t>
            </a:r>
            <a:r>
              <a:rPr lang="zh-CN" altLang="en-US" sz="1400"/>
              <a:t>最大的函数</a:t>
            </a:r>
            <a:endParaRPr lang="zh-CN" altLang="en-US" sz="1400"/>
          </a:p>
          <a:p>
            <a:r>
              <a:rPr lang="en-US" altLang="zh-CN" sz="1400">
                <a:solidFill>
                  <a:srgbClr val="00B0F0"/>
                </a:solidFill>
              </a:rPr>
              <a:t>model_top_improved_func</a:t>
            </a:r>
            <a:r>
              <a:rPr lang="en-US" altLang="zh-CN" sz="1400"/>
              <a:t> =model pre profile </a:t>
            </a:r>
            <a:r>
              <a:rPr lang="zh-CN" altLang="en-US" sz="1400"/>
              <a:t>和</a:t>
            </a:r>
            <a:r>
              <a:rPr lang="en-US" altLang="zh-CN" sz="1400"/>
              <a:t> model post profile </a:t>
            </a:r>
            <a:r>
              <a:rPr lang="zh-CN" altLang="en-US" sz="1400"/>
              <a:t>中，</a:t>
            </a:r>
            <a:r>
              <a:rPr lang="en-US" altLang="zh-CN" sz="1400"/>
              <a:t>hybrid delta </a:t>
            </a:r>
            <a:r>
              <a:rPr lang="zh-CN" altLang="en-US" sz="1400"/>
              <a:t>最大的函数</a:t>
            </a:r>
            <a:endParaRPr lang="zh-CN" altLang="en-US" sz="1400"/>
          </a:p>
          <a:p>
            <a:r>
              <a:rPr lang="en-US" altLang="zh-CN" sz="1400"/>
              <a:t>delta = pre_hybrid - post_hybrid</a:t>
            </a:r>
            <a:endParaRPr lang="en-US" altLang="zh-CN" sz="1400"/>
          </a:p>
          <a:p>
            <a:r>
              <a:rPr lang="en-US" altLang="zh-CN" sz="1400">
                <a:solidFill>
                  <a:srgbClr val="FF0000"/>
                </a:solidFill>
              </a:rPr>
              <a:t>optimized_func_match</a:t>
            </a:r>
            <a:r>
              <a:rPr lang="en-US" altLang="zh-CN" sz="1400"/>
              <a:t> = </a:t>
            </a:r>
            <a:r>
              <a:rPr lang="en-US" altLang="zh-CN" sz="1400">
                <a:solidFill>
                  <a:srgbClr val="00B0F0"/>
                </a:solidFill>
              </a:rPr>
              <a:t>human_top_improved_func</a:t>
            </a:r>
            <a:r>
              <a:rPr lang="en-US" altLang="zh-CN" sz="1400"/>
              <a:t> == </a:t>
            </a:r>
            <a:r>
              <a:rPr lang="en-US" altLang="zh-CN" sz="1400">
                <a:solidFill>
                  <a:srgbClr val="00B0F0"/>
                </a:solidFill>
              </a:rPr>
              <a:t>model_top_improved_func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>
                <a:solidFill>
                  <a:srgbClr val="FF0000"/>
                </a:solidFill>
              </a:rPr>
              <a:t>hybrid top-k hit</a:t>
            </a:r>
            <a:r>
              <a:rPr lang="en-US" altLang="zh-CN" sz="1400"/>
              <a:t> </a:t>
            </a:r>
            <a:r>
              <a:rPr lang="zh-CN" altLang="en-US" sz="1400"/>
              <a:t>的意思是：</a:t>
            </a:r>
            <a:r>
              <a:rPr lang="en-US" altLang="zh-CN" sz="1400">
                <a:solidFill>
                  <a:srgbClr val="00B0F0"/>
                </a:solidFill>
                <a:sym typeface="+mn-ea"/>
              </a:rPr>
              <a:t>human_top_improved_func或model_top_improved_func</a:t>
            </a:r>
            <a:r>
              <a:rPr lang="zh-CN" altLang="en-US" sz="1400"/>
              <a:t>是否出现在</a:t>
            </a:r>
            <a:r>
              <a:rPr lang="en-US" altLang="zh-CN" sz="1400"/>
              <a:t> baseline pre profile </a:t>
            </a:r>
            <a:r>
              <a:rPr lang="zh-CN" altLang="en-US" sz="1400"/>
              <a:t>的</a:t>
            </a:r>
            <a:r>
              <a:rPr lang="en-US" altLang="zh-CN" sz="1400"/>
              <a:t> hybrid top-k </a:t>
            </a:r>
            <a:r>
              <a:rPr lang="zh-CN" altLang="en-US" sz="1400"/>
              <a:t>里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>
                <a:solidFill>
                  <a:srgbClr val="FF0000"/>
                </a:solidFill>
                <a:sym typeface="+mn-ea"/>
              </a:rPr>
              <a:t>taget-match edit func matc</a:t>
            </a:r>
            <a:r>
              <a:rPr lang="en-US" altLang="zh-CN" sz="1400">
                <a:sym typeface="+mn-ea"/>
              </a:rPr>
              <a:t>h意思是： </a:t>
            </a:r>
            <a:r>
              <a:rPr lang="en-US" altLang="zh-CN" sz="1400">
                <a:solidFill>
                  <a:srgbClr val="FF0000"/>
                </a:solidFill>
                <a:sym typeface="+mn-ea"/>
              </a:rPr>
              <a:t>optimized_func_match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的情况下，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修改的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patch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能够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edit func命中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>
              <a:buNone/>
            </a:pPr>
            <a:r>
              <a:rPr lang="en-US" altLang="zh-CN" sz="1400">
                <a:sym typeface="+mn-ea"/>
              </a:rPr>
              <a:t> </a:t>
            </a:r>
            <a:r>
              <a:rPr lang="en-US" altLang="zh-CN" sz="1400">
                <a:solidFill>
                  <a:srgbClr val="FF0000"/>
                </a:solidFill>
                <a:sym typeface="+mn-ea"/>
              </a:rPr>
              <a:t>taget-match edit func match gm speedup 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意思是，上述这些命中的对应的geometric speedup</a:t>
            </a:r>
            <a:endParaRPr lang="en-US" altLang="zh-CN" sz="1400"/>
          </a:p>
          <a:p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  <a:p>
            <a:endParaRPr lang="zh-CN" altLang="en-US" sz="1400"/>
          </a:p>
          <a:p>
            <a:endParaRPr lang="en-US" altLang="zh-CN" sz="1400"/>
          </a:p>
          <a:p>
            <a:endParaRPr lang="en-US" altLang="zh-CN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RQ2 </a:t>
            </a:r>
            <a:r>
              <a:rPr lang="en-US" altLang="zh-CN">
                <a:sym typeface="+mn-ea"/>
              </a:rPr>
              <a:t>detail analysis (best benifit func &amp;edit func)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104775" y="1461770"/>
          <a:ext cx="12087225" cy="5282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05"/>
                <a:gridCol w="847090"/>
                <a:gridCol w="1046480"/>
                <a:gridCol w="1101090"/>
                <a:gridCol w="1051560"/>
                <a:gridCol w="1050290"/>
                <a:gridCol w="1696720"/>
                <a:gridCol w="1695450"/>
                <a:gridCol w="1424305"/>
                <a:gridCol w="1423035"/>
              </a:tblGrid>
              <a:tr h="2011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reasoning effort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method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included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hybrid top3 hit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optimized func match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taget-match edit func match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taget-match edit func match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gm speedup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taget-match edit func not match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taget-match edit func not match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gm speedup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92456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gpt-5.4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none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mini-swe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61/94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40/61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26/61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11/26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10.86x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15/26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3.38x</a:t>
                      </a:r>
                      <a:endParaRPr lang="en-US" altLang="zh-CN"/>
                    </a:p>
                  </a:txBody>
                  <a:tcPr/>
                </a:tc>
              </a:tr>
              <a:tr h="71056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ours</a:t>
                      </a:r>
                      <a:r>
                        <a:rPr lang="en-US" altLang="zh-CN"/>
                        <a:t>(</a:t>
                      </a:r>
                      <a:r>
                        <a:rPr lang="en-US" altLang="zh-CN"/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68/94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61/68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47/68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19/47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12.90x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28/47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7.44x</a:t>
                      </a:r>
                      <a:endParaRPr lang="en-US" altLang="zh-CN"/>
                    </a:p>
                  </a:txBody>
                  <a:tcPr/>
                </a:tc>
              </a:tr>
              <a:tr h="924560">
                <a:tc vMerge="1"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high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mini-swe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80/94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73/80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61/80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32/61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12.35x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29/61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8.91x</a:t>
                      </a:r>
                      <a:endParaRPr lang="en-US" altLang="zh-CN"/>
                    </a:p>
                  </a:txBody>
                  <a:tcPr/>
                </a:tc>
              </a:tr>
              <a:tr h="7112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  <a:sym typeface="+mn-ea"/>
                        </a:rPr>
                        <a:t>ours</a:t>
                      </a:r>
                      <a:r>
                        <a:rPr lang="en-US" altLang="zh-CN" sz="1800">
                          <a:sym typeface="+mn-ea"/>
                        </a:rPr>
                        <a:t>(</a:t>
                      </a:r>
                      <a:r>
                        <a:rPr lang="en-US" altLang="zh-CN" sz="1800">
                          <a:sym typeface="+mn-ea"/>
                        </a:rPr>
                        <a:t>proper)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84/94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79/84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66/84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32/66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14.65x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34/66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10.07x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RQ3 ablation study </a:t>
            </a:r>
            <a:endParaRPr lang="zh-CN" altLang="en-US"/>
          </a:p>
        </p:txBody>
      </p:sp>
      <p:graphicFrame>
        <p:nvGraphicFramePr>
          <p:cNvPr id="9" name="内容占位符 8"/>
          <p:cNvGraphicFramePr/>
          <p:nvPr>
            <p:ph idx="1"/>
            <p:custDataLst>
              <p:tags r:id="rId1"/>
            </p:custDataLst>
          </p:nvPr>
        </p:nvGraphicFramePr>
        <p:xfrm>
          <a:off x="599440" y="2152650"/>
          <a:ext cx="11201400" cy="473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695"/>
                <a:gridCol w="1942465"/>
                <a:gridCol w="1390650"/>
                <a:gridCol w="1503680"/>
                <a:gridCol w="1568450"/>
                <a:gridCol w="1209040"/>
                <a:gridCol w="1235075"/>
                <a:gridCol w="1236345"/>
              </a:tblGrid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method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failed test rate</a:t>
                      </a:r>
                      <a:endParaRPr lang="en-US" altLang="zh-CN"/>
                    </a:p>
                  </a:txBody>
                  <a:tcPr/>
                </a:tc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passed correctness test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4772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faster than pre-edit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faster than expert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&gt;1x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&gt;=5x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&gt;=10x</a:t>
                      </a:r>
                      <a:endParaRPr lang="en-US" altLang="zh-CN"/>
                    </a:p>
                  </a:txBody>
                  <a:tcPr/>
                </a:tc>
              </a:tr>
              <a:tr h="879475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gpt-5.4-</a:t>
                      </a:r>
                      <a:r>
                        <a:rPr lang="en-US" altLang="zh-CN" sz="1800">
                          <a:sym typeface="+mn-ea"/>
                        </a:rPr>
                        <a:t>none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baseline(mini-swe)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31/94 (32.98%)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49/94 (52.13%)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16/94 (17.02%)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49/94 (52.13%)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11/94 (11.70%)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9/94 (9.57%)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  <a:tr h="88011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w/o profiler-tree-query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31/94 (32.98%)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53/94 (56.38%)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13/94 (13.83%)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53/94 (56.38%)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19/94 (20.21%)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15/94 (15.96%)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  <a:tr h="88011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w/o hotspots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25/94 (26.60%)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52/94 (55.32%)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23/94 (24.47%)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52/94 (55.32%)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15/94 (15.96%)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800" b="0" i="0"/>
                        <a:t>12/94 (12.77%)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  <a:tr h="88011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proper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25/94 (26.60%)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57/94 (60.64%)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21/94 (22.34%)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57/94 (60.64%)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26/94 (27.66%)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20/94 (21.28%)</a:t>
                      </a:r>
                      <a:endParaRPr lang="en-US" altLang="zh-CN" sz="1800" b="0" i="0"/>
                    </a:p>
                  </a:txBody>
                  <a:tcPr marL="127317" marR="127317" marT="63817" marB="63817" anchor="ctr" anchorCtr="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68655" y="1784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gpt-5.4-none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RQ3 ablation study 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268605" y="2207895"/>
          <a:ext cx="11337927" cy="419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2255"/>
                <a:gridCol w="2804160"/>
                <a:gridCol w="1464310"/>
                <a:gridCol w="318"/>
                <a:gridCol w="1464628"/>
                <a:gridCol w="1337310"/>
                <a:gridCol w="63818"/>
                <a:gridCol w="1401128"/>
              </a:tblGrid>
              <a:tr h="630555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method</a:t>
                      </a:r>
                      <a:endParaRPr lang="en-US" altLang="zh-CN"/>
                    </a:p>
                  </a:txBody>
                  <a:tcPr/>
                </a:tc>
                <a:tc gridSpan="6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metric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23698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geomotric speedup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geomotric SR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harmonic SR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geomotric speedup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</a:tr>
              <a:tr h="489585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gpt-5.4-none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baseline(mini-swe)</a:t>
                      </a:r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1.77x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25.13%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1.25x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1.93%</a:t>
                      </a:r>
                      <a:endParaRPr lang="en-US" altLang="zh-CN"/>
                    </a:p>
                  </a:txBody>
                  <a:tcPr/>
                </a:tc>
              </a:tr>
              <a:tr h="489585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w/o profiler-tree-query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2.68x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38.04%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1.42x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6.99%</a:t>
                      </a:r>
                      <a:endParaRPr lang="en-US" altLang="zh-CN"/>
                    </a:p>
                  </a:txBody>
                  <a:tcPr/>
                </a:tc>
              </a:tr>
              <a:tr h="85598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w/o hotspots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2.41x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34.24%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1.36x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5.21%</a:t>
                      </a:r>
                      <a:endParaRPr lang="en-US" altLang="zh-CN"/>
                    </a:p>
                  </a:txBody>
                  <a:tcPr/>
                </a:tc>
              </a:tr>
              <a:tr h="489585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proper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3.29x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46.83%</a:t>
                      </a:r>
                      <a:endParaRPr lang="en-US" altLang="zh-CN"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1.53x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3.98%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23240" y="1691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gpt-5.4-none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RQ4 case study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1.我们加速效果比baseline好的case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2.我们加速使得超出expert的case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3.回退，不如baseline的case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4.cython上能有优化吗？1是</a:t>
            </a:r>
            <a:r>
              <a:rPr lang="zh-CN" altLang="en-US"/>
              <a:t>通过</a:t>
            </a:r>
            <a:r>
              <a:rPr lang="en-US" altLang="zh-CN"/>
              <a:t> profiler </a:t>
            </a:r>
            <a:r>
              <a:rPr lang="zh-CN" altLang="en-US"/>
              <a:t>判断有没有上层可绕开的语义路径</a:t>
            </a:r>
            <a:r>
              <a:rPr lang="en-US" altLang="zh-CN"/>
              <a:t> 2是直接做cython优化</a:t>
            </a:r>
            <a:endParaRPr lang="en-US" altLang="zh-CN"/>
          </a:p>
          <a:p>
            <a:r>
              <a:rPr lang="en-US" altLang="zh-CN"/>
              <a:t> scikit-learn__scikit-learn-15049 </a:t>
            </a:r>
            <a:r>
              <a:rPr lang="en-US" altLang="en-US"/>
              <a:t>│</a:t>
            </a:r>
            <a:r>
              <a:rPr lang="en-US" altLang="zh-CN"/>
              <a:t> sklearn/metrics/pairwise_fast.pyx </a:t>
            </a:r>
            <a:r>
              <a:rPr lang="en-US" altLang="en-US"/>
              <a:t>│</a:t>
            </a:r>
            <a:r>
              <a:rPr lang="en-US" altLang="zh-CN"/>
              <a:t> none </a:t>
            </a:r>
            <a:r>
              <a:rPr lang="zh-CN" altLang="en-US"/>
              <a:t>下我们</a:t>
            </a:r>
            <a:r>
              <a:rPr lang="en-US" altLang="zh-CN"/>
              <a:t> 21.47x &gt; baseline14.54x</a:t>
            </a:r>
            <a:r>
              <a:rPr lang="zh-CN" altLang="en-US"/>
              <a:t>；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4.4.1 Case study: success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pandas-52430: no-op fillna fast path</a:t>
            </a:r>
            <a:endParaRPr lang="en-US" altLang="zh-CN"/>
          </a:p>
          <a:p>
            <a:r>
              <a:rPr lang="en-US" altLang="zh-CN"/>
              <a:t>workload</a:t>
            </a:r>
            <a:endParaRPr lang="en-US" altLang="zh-CN"/>
          </a:p>
          <a:p>
            <a:pPr lvl="1"/>
            <a:r>
              <a:rPr lang="en-US" altLang="zh-CN"/>
              <a:t>ser.to_numpy(dtype="float64", na_value=np.nan, copy=False)</a:t>
            </a:r>
            <a:endParaRPr lang="en-US" altLang="zh-CN"/>
          </a:p>
          <a:p>
            <a:pPr lvl="1"/>
            <a:r>
              <a:rPr lang="en-US" altLang="zh-CN"/>
              <a:t> </a:t>
            </a:r>
            <a:r>
              <a:rPr lang="zh-CN" altLang="en-US"/>
              <a:t>语义：底层已经是 </a:t>
            </a:r>
            <a:r>
              <a:rPr lang="en-US" altLang="zh-CN"/>
              <a:t>float64 ndarray，</a:t>
            </a:r>
            <a:r>
              <a:rPr lang="zh-CN" altLang="en-US"/>
              <a:t>目标 </a:t>
            </a:r>
            <a:r>
              <a:rPr lang="en-US" altLang="zh-CN"/>
              <a:t>dtype </a:t>
            </a:r>
            <a:r>
              <a:rPr lang="zh-CN" altLang="en-US"/>
              <a:t>不变，</a:t>
            </a:r>
            <a:r>
              <a:rPr lang="en-US" altLang="zh-CN"/>
              <a:t>copy=False，</a:t>
            </a:r>
            <a:r>
              <a:rPr lang="zh-CN" altLang="en-US"/>
              <a:t>且 </a:t>
            </a:r>
            <a:r>
              <a:rPr lang="en-US" altLang="zh-CN"/>
              <a:t>NaN -&gt; NaN </a:t>
            </a:r>
            <a:r>
              <a:rPr lang="zh-CN" altLang="en-US"/>
              <a:t>应该是 </a:t>
            </a:r>
            <a:r>
              <a:rPr lang="en-US" altLang="zh-CN">
                <a:solidFill>
                  <a:srgbClr val="92D050"/>
                </a:solidFill>
              </a:rPr>
              <a:t>no-op</a:t>
            </a:r>
            <a:r>
              <a:rPr lang="en-US" altLang="zh-CN"/>
              <a:t>。</a:t>
            </a:r>
            <a:endParaRPr lang="en-US" altLang="zh-CN"/>
          </a:p>
          <a:p>
            <a:pPr lvl="1"/>
            <a:endParaRPr lang="en-US" altLang="zh-CN"/>
          </a:p>
          <a:p>
            <a:pPr lvl="0"/>
            <a:r>
              <a:rPr lang="en-US" altLang="zh-CN"/>
              <a:t>Profiler </a:t>
            </a:r>
            <a:r>
              <a:rPr lang="zh-CN" altLang="en-US"/>
              <a:t>显示 </a:t>
            </a:r>
            <a:r>
              <a:rPr lang="en-US" altLang="zh-CN"/>
              <a:t>to_numpy </a:t>
            </a:r>
            <a:r>
              <a:rPr lang="zh-CN" altLang="en-US"/>
              <a:t>是高 </a:t>
            </a:r>
            <a:r>
              <a:rPr lang="en-US" altLang="zh-CN"/>
              <a:t>cumtime、</a:t>
            </a:r>
            <a:r>
              <a:rPr lang="zh-CN" altLang="en-US"/>
              <a:t>低 </a:t>
            </a:r>
            <a:r>
              <a:rPr lang="en-US" altLang="zh-CN"/>
              <a:t>self-time；</a:t>
            </a:r>
            <a:r>
              <a:rPr lang="zh-CN" altLang="en-US"/>
              <a:t>真正耗时来自下游 </a:t>
            </a:r>
            <a:r>
              <a:rPr lang="en-US" altLang="zh-CN"/>
              <a:t>isna() </a:t>
            </a:r>
            <a:r>
              <a:rPr lang="zh-CN" altLang="en-US"/>
              <a:t>扫描和 </a:t>
            </a:r>
            <a:r>
              <a:rPr lang="en-US" altLang="zh-CN"/>
              <a:t>ndarray.copy()。</a:t>
            </a:r>
            <a:endParaRPr lang="en-US" altLang="zh-CN"/>
          </a:p>
          <a:p>
            <a:pPr marL="0" lvl="0" indent="457200">
              <a:buNone/>
            </a:pPr>
            <a:r>
              <a:rPr lang="zh-CN" altLang="en-US"/>
              <a:t>- 因此优化点不是让 _</a:t>
            </a:r>
            <a:r>
              <a:rPr lang="en-US" altLang="zh-CN"/>
              <a:t>isna_array </a:t>
            </a:r>
            <a:r>
              <a:rPr lang="zh-CN" altLang="en-US"/>
              <a:t>更快，而是在 </a:t>
            </a:r>
            <a:r>
              <a:rPr lang="en-US" altLang="zh-CN"/>
              <a:t>to_numpy </a:t>
            </a:r>
            <a:r>
              <a:rPr lang="zh-CN" altLang="en-US"/>
              <a:t>层识别 </a:t>
            </a:r>
            <a:r>
              <a:rPr lang="en-US" altLang="zh-CN"/>
              <a:t>no-op fillna，</a:t>
            </a:r>
            <a:r>
              <a:rPr lang="zh-CN" altLang="en-US"/>
              <a:t>直接跳过 </a:t>
            </a:r>
            <a:r>
              <a:rPr lang="en-US" altLang="zh-CN"/>
              <a:t>copy + isna + assignment。</a:t>
            </a:r>
            <a:endParaRPr lang="en-US" altLang="zh-CN"/>
          </a:p>
          <a:p>
            <a:pPr marL="0" lvl="0" indent="457200">
              <a:buNone/>
            </a:pPr>
            <a:endParaRPr lang="en-US" altLang="zh-CN"/>
          </a:p>
          <a:p>
            <a:pPr marL="0" lvl="0" indent="457200">
              <a:buNone/>
            </a:pPr>
            <a:r>
              <a:rPr lang="en-US" altLang="zh-CN">
                <a:solidFill>
                  <a:srgbClr val="00B0F0"/>
                </a:solidFill>
              </a:rPr>
              <a:t>PROPER turns a hotspot into a semantic shortcut: skip the whole measured subtree instead of optimizing its leaf.</a:t>
            </a:r>
            <a:endParaRPr lang="en-US" altLang="zh-CN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4.4.2 Case study: exceeds expert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en-US" altLang="zh-CN"/>
              <a:t>pandas-44594: outperforming expert with a narrower fast path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Workload:</a:t>
            </a:r>
            <a:endParaRPr lang="en-US" altLang="zh-CN"/>
          </a:p>
          <a:p>
            <a:pPr lvl="1"/>
            <a:r>
              <a:rPr lang="en-US" altLang="zh-CN"/>
              <a:t> pd.core.dtypes.cast.find_common_type([np.dtype("float64")] * 10000)</a:t>
            </a:r>
            <a:endParaRPr lang="en-US" altLang="zh-CN"/>
          </a:p>
          <a:p>
            <a:pPr lvl="0"/>
            <a:endParaRPr lang="en-US" altLang="zh-CN" sz="1800"/>
          </a:p>
          <a:p>
            <a:pPr lvl="0"/>
            <a:r>
              <a:rPr lang="en-US" altLang="zh-CN"/>
              <a:t>Profiler </a:t>
            </a:r>
            <a:r>
              <a:rPr lang="zh-CN" altLang="en-US"/>
              <a:t>显示大量时间花在：</a:t>
            </a:r>
            <a:r>
              <a:rPr lang="en-US" altLang="zh-CN"/>
              <a:t>find_common_type -&gt; all -&gt; is_dtype_equal -&gt; get_dtype</a:t>
            </a:r>
            <a:endParaRPr lang="en-US" altLang="zh-CN"/>
          </a:p>
          <a:p>
            <a:pPr lvl="1"/>
            <a:r>
              <a:rPr lang="en-US" altLang="zh-CN"/>
              <a:t>  - Hotspot </a:t>
            </a:r>
            <a:r>
              <a:rPr lang="zh-CN" altLang="en-US"/>
              <a:t>本身是 </a:t>
            </a:r>
            <a:r>
              <a:rPr lang="en-US" altLang="zh-CN"/>
              <a:t>is_dtype_equal/get_dtype，</a:t>
            </a:r>
            <a:r>
              <a:rPr lang="zh-CN" altLang="en-US"/>
              <a:t>但最佳 </a:t>
            </a:r>
            <a:r>
              <a:rPr lang="en-US" altLang="zh-CN"/>
              <a:t>edit layer </a:t>
            </a:r>
            <a:r>
              <a:rPr lang="zh-CN" altLang="en-US"/>
              <a:t>是 </a:t>
            </a:r>
            <a:r>
              <a:rPr lang="en-US" altLang="zh-CN"/>
              <a:t>caller find_common_type。</a:t>
            </a:r>
            <a:r>
              <a:rPr lang="zh-CN" altLang="en-US"/>
              <a:t>原始版本是每次都有走</a:t>
            </a:r>
            <a:r>
              <a:rPr lang="en-US" altLang="zh-CN"/>
              <a:t>pandas</a:t>
            </a:r>
            <a:r>
              <a:rPr lang="zh-CN" altLang="en-US"/>
              <a:t>通用比较路径</a:t>
            </a:r>
            <a:r>
              <a:rPr lang="en-US" altLang="zh-CN"/>
              <a:t>，</a:t>
            </a:r>
            <a:r>
              <a:rPr lang="zh-CN" altLang="en-US"/>
              <a:t>导致需要调用两次</a:t>
            </a:r>
            <a:r>
              <a:rPr lang="en-US" altLang="zh-CN"/>
              <a:t>get_dtype，</a:t>
            </a:r>
            <a:r>
              <a:rPr lang="zh-CN" altLang="en-US"/>
              <a:t>但是因为绝大多数情况下都是</a:t>
            </a:r>
            <a:r>
              <a:rPr lang="en-US" altLang="zh-CN"/>
              <a:t>workload</a:t>
            </a:r>
            <a:r>
              <a:rPr lang="zh-CN" altLang="en-US"/>
              <a:t>这种</a:t>
            </a:r>
            <a:r>
              <a:rPr lang="en-US" altLang="zh-CN"/>
              <a:t>common type</a:t>
            </a:r>
            <a:r>
              <a:rPr lang="zh-CN" altLang="en-US"/>
              <a:t>相同的情况</a:t>
            </a:r>
            <a:r>
              <a:rPr lang="en-US" altLang="zh-CN"/>
              <a:t>，</a:t>
            </a:r>
            <a:r>
              <a:rPr lang="zh-CN" altLang="en-US"/>
              <a:t>所以这里</a:t>
            </a:r>
            <a:r>
              <a:rPr lang="en-US" altLang="zh-CN"/>
              <a:t>human expert</a:t>
            </a:r>
            <a:r>
              <a:rPr lang="zh-CN" altLang="en-US"/>
              <a:t>给进行了特殊优化</a:t>
            </a:r>
            <a:r>
              <a:rPr lang="en-US" altLang="zh-CN"/>
              <a:t>，</a:t>
            </a:r>
            <a:r>
              <a:rPr lang="zh-CN" altLang="en-US"/>
              <a:t>在</a:t>
            </a:r>
            <a:r>
              <a:rPr lang="en-US" altLang="zh-CN"/>
              <a:t>.pyx</a:t>
            </a:r>
            <a:r>
              <a:rPr lang="zh-CN" altLang="en-US"/>
              <a:t>文件加了一个纯</a:t>
            </a:r>
            <a:r>
              <a:rPr lang="en-US" altLang="zh-CN"/>
              <a:t>python</a:t>
            </a:r>
            <a:r>
              <a:rPr lang="zh-CN" altLang="en-US"/>
              <a:t>函数</a:t>
            </a:r>
            <a:r>
              <a:rPr lang="en-US" altLang="zh-CN"/>
              <a:t>。</a:t>
            </a:r>
            <a:r>
              <a:rPr lang="zh-CN" altLang="en-US">
                <a:solidFill>
                  <a:srgbClr val="92D050"/>
                </a:solidFill>
              </a:rPr>
              <a:t>就是简单循环检查</a:t>
            </a:r>
            <a:endParaRPr lang="en-US" altLang="zh-CN"/>
          </a:p>
          <a:p>
            <a:pPr lvl="1"/>
            <a:r>
              <a:rPr lang="en-US" altLang="zh-CN"/>
              <a:t>  - </a:t>
            </a:r>
            <a:r>
              <a:rPr lang="en-US" altLang="zh-CN">
                <a:solidFill>
                  <a:srgbClr val="00B0F0"/>
                </a:solidFill>
              </a:rPr>
              <a:t>Human patch</a:t>
            </a:r>
            <a:r>
              <a:rPr lang="en-US" altLang="zh-CN"/>
              <a:t>  .pyx helper + direct Python object equality t == first </a:t>
            </a:r>
            <a:r>
              <a:rPr lang="zh-CN" altLang="en-US"/>
              <a:t> 绕开 </a:t>
            </a:r>
            <a:r>
              <a:rPr lang="en-US" altLang="zh-CN"/>
              <a:t>is_dtype_equal/get_dtype</a:t>
            </a:r>
            <a:endParaRPr lang="en-US" altLang="zh-CN"/>
          </a:p>
          <a:p>
            <a:pPr lvl="1"/>
            <a:r>
              <a:rPr lang="en-US" altLang="zh-CN"/>
              <a:t>  - </a:t>
            </a:r>
            <a:r>
              <a:rPr lang="en-US" altLang="zh-CN">
                <a:solidFill>
                  <a:srgbClr val="00B0F0"/>
                </a:solidFill>
              </a:rPr>
              <a:t>PROPER </a:t>
            </a:r>
            <a:r>
              <a:rPr lang="zh-CN" altLang="en-US"/>
              <a:t>在 </a:t>
            </a:r>
            <a:r>
              <a:rPr lang="en-US" altLang="zh-CN"/>
              <a:t>Python </a:t>
            </a:r>
            <a:r>
              <a:rPr lang="zh-CN" altLang="en-US"/>
              <a:t>层识别 </a:t>
            </a:r>
            <a:r>
              <a:rPr lang="en-US" altLang="zh-CN"/>
              <a:t>homogeneous numpy dtype list：</a:t>
            </a:r>
            <a:endParaRPr lang="en-US" altLang="zh-CN"/>
          </a:p>
          <a:p>
            <a:pPr lvl="2"/>
            <a:r>
              <a:rPr lang="en-US" altLang="zh-CN"/>
              <a:t>    if isinstance(first, np.dtype) and types.count(first) == len(types): return first</a:t>
            </a:r>
            <a:endParaRPr lang="en-US" altLang="zh-CN"/>
          </a:p>
          <a:p>
            <a:pPr lvl="2"/>
            <a:r>
              <a:rPr lang="en-US" altLang="zh-CN"/>
              <a:t>  Python </a:t>
            </a:r>
            <a:r>
              <a:rPr lang="zh-CN" altLang="en-US"/>
              <a:t>层更窄 </a:t>
            </a:r>
            <a:r>
              <a:rPr lang="en-US" altLang="zh-CN"/>
              <a:t>guard + </a:t>
            </a:r>
            <a:r>
              <a:rPr lang="en-US" altLang="zh-CN">
                <a:solidFill>
                  <a:srgbClr val="92D050"/>
                </a:solidFill>
              </a:rPr>
              <a:t>list.count</a:t>
            </a:r>
            <a:r>
              <a:rPr lang="en-US" altLang="zh-CN"/>
              <a:t> </a:t>
            </a:r>
            <a:r>
              <a:rPr lang="zh-CN" altLang="en-US"/>
              <a:t>的 </a:t>
            </a:r>
            <a:r>
              <a:rPr lang="en-US" altLang="zh-CN"/>
              <a:t>CPython C-level loop</a:t>
            </a:r>
            <a:endParaRPr lang="en-US" altLang="zh-CN"/>
          </a:p>
          <a:p>
            <a:pPr marL="914400" lvl="2" indent="0">
              <a:buNone/>
            </a:pPr>
            <a:r>
              <a:rPr lang="zh-CN" altLang="en-US"/>
              <a:t>  - 结果：</a:t>
            </a:r>
            <a:r>
              <a:rPr lang="zh-CN" altLang="en-US" u="sng"/>
              <a:t>262.95</a:t>
            </a:r>
            <a:r>
              <a:rPr lang="en-US" altLang="zh-CN" u="sng"/>
              <a:t>x，</a:t>
            </a:r>
            <a:r>
              <a:rPr lang="zh-CN" altLang="en-US" u="sng"/>
              <a:t>超过 </a:t>
            </a:r>
            <a:r>
              <a:rPr lang="en-US" altLang="zh-CN" u="sng"/>
              <a:t>h</a:t>
            </a:r>
            <a:r>
              <a:rPr lang="en-US" altLang="zh-CN" u="sng"/>
              <a:t>suman expert </a:t>
            </a:r>
            <a:r>
              <a:rPr lang="zh-CN" altLang="en-US" u="sng"/>
              <a:t>的 17.18</a:t>
            </a:r>
            <a:r>
              <a:rPr lang="en-US" altLang="zh-CN" u="sng"/>
              <a:t>x。</a:t>
            </a:r>
            <a:endParaRPr lang="en-US" altLang="zh-CN" u="sng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4.4.3 Case study: </a:t>
            </a:r>
            <a:r>
              <a:rPr lang="en-US" altLang="zh-CN">
                <a:solidFill>
                  <a:srgbClr val="0070C0"/>
                </a:solidFill>
              </a:rPr>
              <a:t>failure</a:t>
            </a:r>
            <a:endParaRPr lang="en-US" altLang="zh-CN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25000"/>
          </a:bodyPr>
          <a:p>
            <a:r>
              <a:rPr lang="en-US" altLang="zh-CN" sz="5600"/>
              <a:t>matplotlib-17995: profiler finds the right place, </a:t>
            </a:r>
            <a:r>
              <a:rPr lang="en-US" altLang="zh-CN" sz="5600">
                <a:solidFill>
                  <a:srgbClr val="00B0F0"/>
                </a:solidFill>
              </a:rPr>
              <a:t>patch is unsafe</a:t>
            </a:r>
            <a:endParaRPr lang="en-US" altLang="zh-CN" sz="5600"/>
          </a:p>
          <a:p>
            <a:endParaRPr lang="en-US" altLang="zh-CN" sz="5600"/>
          </a:p>
          <a:p>
            <a:r>
              <a:rPr lang="en-US" altLang="zh-CN" sz="5600"/>
              <a:t>  Workload:</a:t>
            </a:r>
            <a:endParaRPr lang="en-US" altLang="zh-CN" sz="5600"/>
          </a:p>
          <a:p>
            <a:pPr lvl="1"/>
            <a:r>
              <a:rPr lang="en-US" altLang="zh-CN" sz="4975"/>
              <a:t>  fig.tight_layout()</a:t>
            </a:r>
            <a:endParaRPr lang="en-US" altLang="zh-CN" sz="4975"/>
          </a:p>
          <a:p>
            <a:pPr lvl="1"/>
            <a:r>
              <a:rPr lang="en-US" altLang="zh-CN" sz="4975"/>
              <a:t>  fig.savefig(...)</a:t>
            </a:r>
            <a:endParaRPr lang="en-US" altLang="zh-CN" sz="4975"/>
          </a:p>
          <a:p>
            <a:pPr lvl="1"/>
            <a:endParaRPr lang="en-US" altLang="zh-CN" sz="5600"/>
          </a:p>
          <a:p>
            <a:r>
              <a:rPr lang="en-US" altLang="zh-CN" sz="5600"/>
              <a:t>  - Profiler </a:t>
            </a:r>
            <a:r>
              <a:rPr lang="zh-CN" altLang="en-US" sz="5600"/>
              <a:t>定位到：</a:t>
            </a:r>
            <a:r>
              <a:rPr lang="en-US" altLang="zh-CN" sz="5600"/>
              <a:t>    tight_layout/savefig -&gt; get_tightbbox -&gt; Path.get_extents -&gt; iter_bezier -&gt; BezierSegment</a:t>
            </a:r>
            <a:endParaRPr lang="en-US" altLang="zh-CN" sz="5600"/>
          </a:p>
          <a:p>
            <a:pPr lvl="1"/>
            <a:r>
              <a:rPr lang="zh-CN" altLang="en-US" sz="4975"/>
              <a:t>  - 慢点不是 </a:t>
            </a:r>
            <a:r>
              <a:rPr lang="en-US" altLang="zh-CN" sz="4975"/>
              <a:t>drawing </a:t>
            </a:r>
            <a:r>
              <a:rPr lang="zh-CN" altLang="en-US" sz="4975"/>
              <a:t>本身，而是 </a:t>
            </a:r>
            <a:r>
              <a:rPr lang="en-US" altLang="zh-CN" sz="4975"/>
              <a:t>layout </a:t>
            </a:r>
            <a:r>
              <a:rPr lang="zh-CN" altLang="en-US" sz="4975"/>
              <a:t>阶段反复计算 </a:t>
            </a:r>
            <a:r>
              <a:rPr lang="en-US" altLang="zh-CN" sz="4975"/>
              <a:t>path bbox。</a:t>
            </a:r>
            <a:endParaRPr lang="en-US" altLang="zh-CN" sz="4975"/>
          </a:p>
          <a:p>
            <a:pPr lvl="1"/>
            <a:r>
              <a:rPr lang="en-US" altLang="zh-CN" sz="4975"/>
              <a:t>  - PROPER </a:t>
            </a:r>
            <a:r>
              <a:rPr lang="zh-CN" altLang="en-US" sz="4975"/>
              <a:t>选择在 </a:t>
            </a:r>
            <a:r>
              <a:rPr lang="en-US" altLang="zh-CN" sz="4975"/>
              <a:t>Path.get_extents </a:t>
            </a:r>
            <a:r>
              <a:rPr lang="zh-CN" altLang="en-US" sz="4975"/>
              <a:t>中为 </a:t>
            </a:r>
            <a:r>
              <a:rPr lang="en-US" altLang="zh-CN" sz="4975"/>
              <a:t>linear path </a:t>
            </a:r>
            <a:r>
              <a:rPr lang="zh-CN" altLang="en-US" sz="4975"/>
              <a:t>手写 </a:t>
            </a:r>
            <a:r>
              <a:rPr lang="en-US" altLang="zh-CN" sz="4975"/>
              <a:t>vertices.min/max fast path。</a:t>
            </a:r>
            <a:endParaRPr lang="en-US" altLang="zh-CN" sz="4975"/>
          </a:p>
          <a:p>
            <a:pPr lvl="1"/>
            <a:r>
              <a:rPr lang="en-US" altLang="zh-CN" sz="4975"/>
              <a:t>  - Raw speedup </a:t>
            </a:r>
            <a:r>
              <a:rPr lang="zh-CN" altLang="en-US" sz="4975"/>
              <a:t>有效：17.22</a:t>
            </a:r>
            <a:r>
              <a:rPr lang="en-US" altLang="zh-CN" sz="4975"/>
              <a:t>x，</a:t>
            </a:r>
            <a:r>
              <a:rPr lang="zh-CN" altLang="en-US" sz="4975"/>
              <a:t>但</a:t>
            </a:r>
            <a:r>
              <a:rPr lang="zh-CN" altLang="en-US" sz="4975">
                <a:solidFill>
                  <a:srgbClr val="0070C0"/>
                </a:solidFill>
              </a:rPr>
              <a:t> </a:t>
            </a:r>
            <a:r>
              <a:rPr lang="en-US" altLang="zh-CN" sz="4975">
                <a:solidFill>
                  <a:srgbClr val="0070C0"/>
                </a:solidFill>
              </a:rPr>
              <a:t>correctness fail</a:t>
            </a:r>
            <a:r>
              <a:rPr lang="en-US" altLang="zh-CN" sz="4975"/>
              <a:t>。</a:t>
            </a:r>
            <a:r>
              <a:rPr lang="zh-CN" altLang="en-US" sz="4975">
                <a:solidFill>
                  <a:srgbClr val="FF0000"/>
                </a:solidFill>
              </a:rPr>
              <a:t>瓶颈和定位都是对的</a:t>
            </a:r>
            <a:r>
              <a:rPr lang="en-US" altLang="zh-CN" sz="4975">
                <a:solidFill>
                  <a:srgbClr val="FF0000"/>
                </a:solidFill>
              </a:rPr>
              <a:t>，</a:t>
            </a:r>
            <a:r>
              <a:rPr lang="zh-CN" altLang="en-US" sz="4975">
                <a:solidFill>
                  <a:srgbClr val="FF0000"/>
                </a:solidFill>
              </a:rPr>
              <a:t>但是改的太激进了</a:t>
            </a:r>
            <a:r>
              <a:rPr lang="en-US" altLang="zh-CN" sz="4975"/>
              <a:t>。</a:t>
            </a:r>
            <a:endParaRPr lang="en-US" altLang="zh-CN" sz="4975"/>
          </a:p>
          <a:p>
            <a:pPr lvl="1"/>
            <a:r>
              <a:rPr lang="en-US" altLang="zh-CN" sz="4975"/>
              <a:t>  - </a:t>
            </a:r>
            <a:r>
              <a:rPr lang="zh-CN" altLang="en-US" sz="4975"/>
              <a:t>而</a:t>
            </a:r>
            <a:r>
              <a:rPr lang="en-US" altLang="zh-CN" sz="4975"/>
              <a:t>Baseline </a:t>
            </a:r>
            <a:r>
              <a:rPr lang="zh-CN" altLang="en-US" sz="4975">
                <a:solidFill>
                  <a:srgbClr val="00B0F0"/>
                </a:solidFill>
              </a:rPr>
              <a:t>复用 </a:t>
            </a:r>
            <a:r>
              <a:rPr lang="en-US" altLang="zh-CN" sz="4975">
                <a:solidFill>
                  <a:srgbClr val="00B0F0"/>
                </a:solidFill>
              </a:rPr>
              <a:t>matplotlib </a:t>
            </a:r>
            <a:r>
              <a:rPr lang="zh-CN" altLang="en-US" sz="4975">
                <a:solidFill>
                  <a:srgbClr val="00B0F0"/>
                </a:solidFill>
              </a:rPr>
              <a:t>既有的</a:t>
            </a:r>
            <a:r>
              <a:rPr lang="en-US" altLang="zh-CN" sz="4975"/>
              <a:t> _path.get_path_extents extension API.，</a:t>
            </a:r>
            <a:r>
              <a:rPr lang="zh-CN" altLang="en-US" sz="4975"/>
              <a:t>通过 </a:t>
            </a:r>
            <a:r>
              <a:rPr lang="en-US" altLang="zh-CN" sz="4975"/>
              <a:t>correctness，</a:t>
            </a:r>
            <a:r>
              <a:rPr lang="zh-CN" altLang="en-US" sz="4975"/>
              <a:t>并达到 18.90</a:t>
            </a:r>
            <a:r>
              <a:rPr lang="en-US" altLang="zh-CN" sz="4975"/>
              <a:t>x。</a:t>
            </a:r>
            <a:endParaRPr lang="en-US" altLang="zh-CN" sz="4975"/>
          </a:p>
          <a:p>
            <a:pPr lvl="1"/>
            <a:endParaRPr lang="en-US" altLang="zh-CN" sz="5600"/>
          </a:p>
          <a:p>
            <a:r>
              <a:rPr lang="en-US" altLang="zh-CN" sz="5600"/>
              <a:t>  Profiling can identify the performance layer, but complex geometry/layout semantics still require conservative implementation choices.</a:t>
            </a:r>
            <a:endParaRPr lang="en-US" altLang="zh-CN" sz="5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4.4.4 Case study: </a:t>
            </a:r>
            <a:r>
              <a:rPr lang="en-US" altLang="zh-CN"/>
              <a:t>cython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25000"/>
          </a:bodyPr>
          <a:p>
            <a:r>
              <a:rPr lang="en-US" altLang="zh-CN" sz="6400"/>
              <a:t>scikit-learn-15049: </a:t>
            </a:r>
            <a:r>
              <a:rPr lang="en-US" altLang="zh-CN" sz="6400">
                <a:solidFill>
                  <a:srgbClr val="00B0F0"/>
                </a:solidFill>
              </a:rPr>
              <a:t>Cython </a:t>
            </a:r>
            <a:r>
              <a:rPr lang="en-US" altLang="zh-CN" sz="6400"/>
              <a:t>kernel case  </a:t>
            </a:r>
            <a:endParaRPr lang="en-US" altLang="zh-CN" sz="6400"/>
          </a:p>
          <a:p>
            <a:endParaRPr lang="en-US" altLang="zh-CN" sz="6400"/>
          </a:p>
          <a:p>
            <a:r>
              <a:rPr lang="en-US" altLang="zh-CN" sz="6400"/>
              <a:t>  Workload:</a:t>
            </a:r>
            <a:endParaRPr lang="en-US" altLang="zh-CN" sz="6400"/>
          </a:p>
          <a:p>
            <a:pPr lvl="1"/>
            <a:r>
              <a:rPr lang="en-US" altLang="zh-CN" sz="5685"/>
              <a:t> manhattan_distances(random(2000, 1000, 0.001, "csr"))</a:t>
            </a:r>
            <a:endParaRPr lang="en-US" altLang="zh-CN" sz="5685"/>
          </a:p>
          <a:p>
            <a:pPr lvl="1"/>
            <a:endParaRPr lang="en-US" altLang="zh-CN" sz="6400"/>
          </a:p>
          <a:p>
            <a:pPr lvl="0"/>
            <a:r>
              <a:rPr lang="en-US" altLang="zh-CN" sz="6395"/>
              <a:t>  - Sparse CSR </a:t>
            </a:r>
            <a:r>
              <a:rPr lang="zh-CN" altLang="en-US" sz="6395"/>
              <a:t>输入极稀疏，但旧 _</a:t>
            </a:r>
            <a:r>
              <a:rPr lang="en-US" altLang="zh-CN" sz="6395"/>
              <a:t>sparse_manhattan </a:t>
            </a:r>
            <a:r>
              <a:rPr lang="zh-CN" altLang="en-US" sz="6395"/>
              <a:t>对每一对 </a:t>
            </a:r>
            <a:r>
              <a:rPr lang="en-US" altLang="zh-CN" sz="6395"/>
              <a:t>row </a:t>
            </a:r>
            <a:r>
              <a:rPr lang="zh-CN" altLang="en-US" sz="6395"/>
              <a:t>都 </a:t>
            </a:r>
            <a:r>
              <a:rPr lang="en-US" altLang="zh-CN" sz="6395"/>
              <a:t>densify </a:t>
            </a:r>
            <a:r>
              <a:rPr lang="zh-CN" altLang="en-US" sz="6395"/>
              <a:t>一个长度为 </a:t>
            </a:r>
            <a:r>
              <a:rPr lang="en-US" altLang="zh-CN" sz="6395"/>
              <a:t>n_features </a:t>
            </a:r>
            <a:r>
              <a:rPr lang="zh-CN" altLang="en-US" sz="6395"/>
              <a:t>的 </a:t>
            </a:r>
            <a:r>
              <a:rPr lang="en-US" altLang="zh-CN" sz="6395"/>
              <a:t>buffer，</a:t>
            </a:r>
            <a:r>
              <a:rPr lang="zh-CN" altLang="en-US" sz="6395"/>
              <a:t>再全量 _</a:t>
            </a:r>
            <a:r>
              <a:rPr lang="en-US" altLang="zh-CN" sz="6395"/>
              <a:t>asum。</a:t>
            </a:r>
            <a:endParaRPr lang="en-US" altLang="zh-CN" sz="6395"/>
          </a:p>
          <a:p>
            <a:pPr lvl="1"/>
            <a:r>
              <a:rPr lang="en-US" altLang="zh-CN" sz="5685"/>
              <a:t>  - Profiler/</a:t>
            </a:r>
            <a:r>
              <a:rPr lang="zh-CN" altLang="en-US" sz="5685"/>
              <a:t>源码共同说明瓶颈不是 </a:t>
            </a:r>
            <a:r>
              <a:rPr lang="en-US" altLang="zh-CN" sz="5685"/>
              <a:t>Python validation，</a:t>
            </a:r>
            <a:r>
              <a:rPr lang="zh-CN" altLang="en-US" sz="5685"/>
              <a:t>而是 </a:t>
            </a:r>
            <a:r>
              <a:rPr lang="en-US" altLang="zh-CN" sz="5685"/>
              <a:t>Cython sparse kernel </a:t>
            </a:r>
            <a:r>
              <a:rPr lang="zh-CN" altLang="en-US" sz="5685"/>
              <a:t>的算法复杂度：</a:t>
            </a:r>
            <a:r>
              <a:rPr lang="en-US" altLang="zh-CN" sz="5685"/>
              <a:t>O(n_samples^2 * n_features)。</a:t>
            </a:r>
            <a:endParaRPr lang="en-US" altLang="zh-CN" sz="5685"/>
          </a:p>
          <a:p>
            <a:pPr lvl="1"/>
            <a:r>
              <a:rPr lang="en-US" altLang="zh-CN" sz="5685"/>
              <a:t>  - PROPER </a:t>
            </a:r>
            <a:r>
              <a:rPr lang="zh-CN" altLang="en-US" sz="5685"/>
              <a:t>将 </a:t>
            </a:r>
            <a:r>
              <a:rPr lang="en-US" altLang="zh-CN" sz="5685"/>
              <a:t>kernel </a:t>
            </a:r>
            <a:r>
              <a:rPr lang="zh-CN" altLang="en-US" sz="5685"/>
              <a:t>改成按 </a:t>
            </a:r>
            <a:r>
              <a:rPr lang="en-US" altLang="zh-CN" sz="5685"/>
              <a:t>CSR index merge，</a:t>
            </a:r>
            <a:r>
              <a:rPr lang="zh-CN" altLang="en-US" sz="5685"/>
              <a:t>复杂度接近：</a:t>
            </a:r>
            <a:r>
              <a:rPr lang="en-US" altLang="zh-CN" sz="5685"/>
              <a:t> O(nnz(row_i) + nnz(row_j))。</a:t>
            </a:r>
            <a:endParaRPr lang="en-US" altLang="zh-CN" sz="5685"/>
          </a:p>
          <a:p>
            <a:pPr lvl="1"/>
            <a:r>
              <a:rPr lang="en-US" altLang="zh-CN" sz="5685"/>
              <a:t>PROPER 21.47x，baseline 14.54x，human 65.68x。 </a:t>
            </a:r>
            <a:endParaRPr lang="en-US" altLang="zh-CN" sz="5685"/>
          </a:p>
          <a:p>
            <a:pPr lvl="1"/>
            <a:endParaRPr lang="en-US" altLang="zh-CN" sz="6400"/>
          </a:p>
          <a:p>
            <a:r>
              <a:rPr lang="en-US" altLang="zh-CN" sz="6400"/>
              <a:t>  The plugin is not limited to Python-level edits; profiler evidence can justify crossing into compiled kernels when the measured bottleneck is </a:t>
            </a:r>
            <a:r>
              <a:rPr lang="en-US" altLang="zh-CN" sz="6400"/>
              <a:t>nearby there.</a:t>
            </a:r>
            <a:endParaRPr lang="en-US" altLang="zh-CN" sz="6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48345" y="2691884"/>
            <a:ext cx="381000" cy="96983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1668780" y="3258820"/>
            <a:ext cx="8900795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 &amp; Conclude</a:t>
            </a:r>
            <a:endParaRPr lang="en-US" altLang="zh-CN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Limits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profile只是对</a:t>
            </a:r>
            <a:r>
              <a:rPr lang="en-US" altLang="zh-CN">
                <a:solidFill>
                  <a:schemeClr val="accent6"/>
                </a:solidFill>
              </a:rPr>
              <a:t>python level</a:t>
            </a:r>
            <a:r>
              <a:rPr lang="en-US" altLang="zh-CN"/>
              <a:t>的分析，对于这些extremly high start swe repo， 很多是要结合cython代码优化的，需要更好的混合多语言尤其是c语言的profile</a:t>
            </a:r>
            <a:endParaRPr lang="en-US" altLang="zh-CN"/>
          </a:p>
          <a:p>
            <a:r>
              <a:rPr lang="en-US" altLang="zh-CN"/>
              <a:t>此外，</a:t>
            </a:r>
            <a:r>
              <a:rPr lang="en-US" altLang="zh-CN">
                <a:solidFill>
                  <a:srgbClr val="FF0000"/>
                </a:solidFill>
              </a:rPr>
              <a:t>memory</a:t>
            </a:r>
            <a:r>
              <a:rPr lang="en-US" altLang="zh-CN"/>
              <a:t>_profiler是未考虑的</a:t>
            </a:r>
            <a:endParaRPr lang="en-US" altLang="zh-CN"/>
          </a:p>
          <a:p>
            <a:r>
              <a:rPr lang="en-US" altLang="zh-CN"/>
              <a:t>hybrid time的形成有待商榷，profiler call graph也有精度损失</a:t>
            </a:r>
            <a:r>
              <a:rPr lang="zh-CN" altLang="en-US"/>
              <a:t>，</a:t>
            </a:r>
            <a:r>
              <a:rPr lang="en-US" altLang="zh-CN"/>
              <a:t>profiler</a:t>
            </a:r>
            <a:r>
              <a:rPr lang="zh-CN" altLang="en-US"/>
              <a:t>是一种动态的程序执行语义</a:t>
            </a:r>
            <a:r>
              <a:rPr lang="en-US" altLang="zh-CN"/>
              <a:t>，</a:t>
            </a:r>
            <a:r>
              <a:rPr lang="zh-CN" altLang="en-US"/>
              <a:t>对于</a:t>
            </a:r>
            <a:r>
              <a:rPr lang="en-US" altLang="zh-CN"/>
              <a:t>if else</a:t>
            </a:r>
            <a:r>
              <a:rPr lang="zh-CN" altLang="en-US"/>
              <a:t>这种可能只考虑一个路径</a:t>
            </a:r>
            <a:r>
              <a:rPr lang="en-US" altLang="zh-CN"/>
              <a:t>，</a:t>
            </a:r>
            <a:r>
              <a:rPr lang="zh-CN" altLang="en-US"/>
              <a:t>不过</a:t>
            </a:r>
            <a:r>
              <a:rPr lang="en-US" altLang="zh-CN"/>
              <a:t>mini-swe</a:t>
            </a:r>
            <a:r>
              <a:rPr lang="zh-CN" altLang="en-US"/>
              <a:t>本身可以看源代码</a:t>
            </a:r>
            <a:r>
              <a:rPr lang="en-US" altLang="zh-CN"/>
              <a:t>，</a:t>
            </a:r>
            <a:r>
              <a:rPr lang="zh-CN" altLang="en-US"/>
              <a:t>一定程度弥补了静态语义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本方法主要在找</a:t>
            </a:r>
            <a:r>
              <a:rPr lang="en-US" altLang="zh-CN"/>
              <a:t>hotspots，</a:t>
            </a:r>
            <a:r>
              <a:rPr lang="zh-CN" altLang="en-US"/>
              <a:t>然后找</a:t>
            </a:r>
            <a:r>
              <a:rPr lang="en-US" altLang="zh-CN"/>
              <a:t>best benefited and safe edit layer</a:t>
            </a:r>
            <a:r>
              <a:rPr lang="zh-CN" altLang="en-US"/>
              <a:t>，关于</a:t>
            </a:r>
            <a:r>
              <a:rPr lang="zh-CN" altLang="en-US">
                <a:solidFill>
                  <a:srgbClr val="FF0000"/>
                </a:solidFill>
              </a:rPr>
              <a:t>组合优化</a:t>
            </a:r>
            <a:r>
              <a:rPr lang="en-US" altLang="zh-CN">
                <a:solidFill>
                  <a:srgbClr val="FF0000"/>
                </a:solidFill>
              </a:rPr>
              <a:t>、</a:t>
            </a:r>
            <a:r>
              <a:rPr lang="zh-CN" altLang="en-US">
                <a:solidFill>
                  <a:srgbClr val="FF0000"/>
                </a:solidFill>
              </a:rPr>
              <a:t>优化策略等关注度不够</a:t>
            </a:r>
            <a:r>
              <a:rPr lang="zh-CN" altLang="en-US"/>
              <a:t>的</a:t>
            </a:r>
            <a:r>
              <a:rPr lang="en-US" altLang="zh-CN"/>
              <a:t>，</a:t>
            </a:r>
            <a:r>
              <a:rPr lang="zh-CN" altLang="en-US"/>
              <a:t>很多</a:t>
            </a:r>
            <a:r>
              <a:rPr lang="en-US" altLang="zh-CN"/>
              <a:t>case</a:t>
            </a:r>
            <a:r>
              <a:rPr lang="zh-CN" altLang="en-US"/>
              <a:t>都是找对</a:t>
            </a:r>
            <a:r>
              <a:rPr lang="en-US" altLang="zh-CN"/>
              <a:t>edit layer</a:t>
            </a:r>
            <a:r>
              <a:rPr lang="zh-CN" altLang="en-US"/>
              <a:t>但改不对</a:t>
            </a:r>
            <a:r>
              <a:rPr lang="en-US" altLang="zh-CN"/>
              <a:t>，</a:t>
            </a:r>
            <a:r>
              <a:rPr lang="zh-CN" altLang="en-US"/>
              <a:t>或者只改了一个点导致不如</a:t>
            </a:r>
            <a:r>
              <a:rPr lang="en-US" altLang="zh-CN"/>
              <a:t>human </a:t>
            </a:r>
            <a:r>
              <a:rPr lang="en-US" altLang="zh-CN"/>
              <a:t>expert。</a:t>
            </a:r>
            <a:endParaRPr lang="en-US" altLang="zh-CN"/>
          </a:p>
          <a:p>
            <a:r>
              <a:rPr lang="zh-CN" altLang="en-US"/>
              <a:t>没有在更大规模数据集和更多模型上做</a:t>
            </a:r>
            <a:endParaRPr lang="zh-CN" altLang="en-US"/>
          </a:p>
          <a:p>
            <a:r>
              <a:rPr lang="zh-CN" altLang="en-US"/>
              <a:t>等等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762760" y="4756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997709" y="2921168"/>
            <a:ext cx="81965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恳请老师</a:t>
            </a:r>
            <a:r>
              <a:rPr lang="en-US" altLang="zh-CN" sz="60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师兄</a:t>
            </a:r>
            <a:r>
              <a:rPr lang="zh-CN" altLang="en-US" sz="60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批评指正</a:t>
            </a:r>
            <a:endParaRPr lang="en-US" altLang="zh-CN" sz="60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63933" y="5388248"/>
            <a:ext cx="2332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汇报人：</a:t>
            </a:r>
            <a:r>
              <a:rPr lang="en-US" altLang="zh-CN" sz="2400" b="1" dirty="0"/>
              <a:t>xxx</a:t>
            </a:r>
            <a:endParaRPr lang="en-US" altLang="zh-CN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473389" y="5388248"/>
            <a:ext cx="4045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指导教师：沾沾喜气  教授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可能的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这个数据集</a:t>
            </a:r>
            <a:r>
              <a:rPr lang="en-US" altLang="zh-CN"/>
              <a:t>ICLR</a:t>
            </a:r>
            <a:r>
              <a:rPr lang="zh-CN" altLang="en-US"/>
              <a:t>没中</a:t>
            </a:r>
            <a:r>
              <a:rPr lang="en-US" altLang="zh-CN"/>
              <a:t>，</a:t>
            </a:r>
            <a:r>
              <a:rPr lang="zh-CN" altLang="en-US"/>
              <a:t>最大原因应该是每一个</a:t>
            </a:r>
            <a:r>
              <a:rPr lang="en-US" altLang="zh-CN"/>
              <a:t>instance，</a:t>
            </a:r>
            <a:r>
              <a:rPr lang="zh-CN" altLang="en-US"/>
              <a:t>它想要多个</a:t>
            </a:r>
            <a:r>
              <a:rPr lang="en-US" altLang="zh-CN"/>
              <a:t>workload</a:t>
            </a:r>
            <a:endParaRPr lang="en-US" altLang="zh-CN"/>
          </a:p>
          <a:p>
            <a:pPr lvl="1"/>
            <a:r>
              <a:rPr lang="zh-CN" altLang="en-US"/>
              <a:t>可能的回应</a:t>
            </a:r>
            <a:r>
              <a:rPr lang="en-US" altLang="zh-CN"/>
              <a:t>， </a:t>
            </a:r>
            <a:r>
              <a:rPr lang="zh-CN" altLang="en-US"/>
              <a:t>这里的每个</a:t>
            </a:r>
            <a:r>
              <a:rPr lang="en-US" altLang="zh-CN"/>
              <a:t>workload</a:t>
            </a:r>
            <a:r>
              <a:rPr lang="zh-CN" altLang="en-US"/>
              <a:t>都是</a:t>
            </a:r>
            <a:r>
              <a:rPr lang="en-US" altLang="zh-CN"/>
              <a:t>issue</a:t>
            </a:r>
            <a:r>
              <a:rPr lang="zh-CN" altLang="en-US"/>
              <a:t>中提出来的针对性的性能测试</a:t>
            </a:r>
            <a:r>
              <a:rPr lang="en-US" altLang="zh-CN"/>
              <a:t>，</a:t>
            </a:r>
            <a:r>
              <a:rPr lang="zh-CN" altLang="en-US"/>
              <a:t>因此我们相当于修这种</a:t>
            </a:r>
            <a:r>
              <a:rPr lang="en-US" altLang="zh-CN"/>
              <a:t>performance issue</a:t>
            </a:r>
            <a:r>
              <a:rPr lang="zh-CN" altLang="en-US"/>
              <a:t>的样子</a:t>
            </a:r>
            <a:r>
              <a:rPr lang="en-US" altLang="zh-CN"/>
              <a:t>，</a:t>
            </a:r>
            <a:r>
              <a:rPr lang="zh-CN" altLang="en-US"/>
              <a:t>对于多</a:t>
            </a:r>
            <a:r>
              <a:rPr lang="en-US" altLang="zh-CN"/>
              <a:t>workload</a:t>
            </a:r>
            <a:r>
              <a:rPr lang="zh-CN" altLang="en-US"/>
              <a:t>问题可以进行延展。此外</a:t>
            </a:r>
            <a:r>
              <a:rPr lang="en-US" altLang="zh-CN"/>
              <a:t>，</a:t>
            </a:r>
            <a:r>
              <a:rPr lang="zh-CN" altLang="en-US"/>
              <a:t>我们的重点是</a:t>
            </a:r>
            <a:r>
              <a:rPr lang="en-US" altLang="zh-CN"/>
              <a:t>agent</a:t>
            </a:r>
            <a:r>
              <a:rPr lang="zh-CN" altLang="en-US"/>
              <a:t>结合</a:t>
            </a:r>
            <a:r>
              <a:rPr lang="en-US" altLang="zh-CN"/>
              <a:t>profiler</a:t>
            </a:r>
            <a:r>
              <a:rPr lang="zh-CN" altLang="en-US"/>
              <a:t>工具</a:t>
            </a:r>
            <a:r>
              <a:rPr lang="en-US" altLang="zh-CN"/>
              <a:t>，</a:t>
            </a:r>
            <a:r>
              <a:rPr lang="zh-CN" altLang="en-US"/>
              <a:t>对于这种评测问题</a:t>
            </a:r>
            <a:r>
              <a:rPr lang="en-US" altLang="zh-CN"/>
              <a:t>，</a:t>
            </a:r>
            <a:r>
              <a:rPr lang="zh-CN" altLang="en-US"/>
              <a:t>可以认为影响不是很大</a:t>
            </a:r>
            <a:r>
              <a:rPr lang="en-US" altLang="zh-CN"/>
              <a:t>。</a:t>
            </a:r>
            <a:endParaRPr lang="en-US" altLang="zh-CN"/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TEMPLATE_CATEGORY" val="diagram"/>
  <p:tag name="KSO_WM_TEMPLATE_INDEX" val="600"/>
  <p:tag name="KSO_WM_UNIT_TYPE" val="a"/>
  <p:tag name="KSO_WM_UNIT_INDEX" val="1"/>
  <p:tag name="KSO_WM_UNIT_ID" val="258*a*1"/>
  <p:tag name="KSO_WM_UNIT_CLEAR" val="1"/>
  <p:tag name="KSO_WM_UNIT_LAYERLEVEL" val="1"/>
  <p:tag name="KSO_WM_UNIT_VALUE" val="34"/>
  <p:tag name="KSO_WM_UNIT_ISCONTENTSTITLE" val="0"/>
  <p:tag name="KSO_WM_UNIT_HIGHLIGHT" val="0"/>
  <p:tag name="KSO_WM_UNIT_COMPATIBLE" val="1"/>
  <p:tag name="KSO_WM_UNIT_PRESET_TEXT_INDEX" val="3"/>
  <p:tag name="KSO_WM_UNIT_PRESET_TEXT_LEN" val="17"/>
  <p:tag name="KSO_WM_BEAUTIFY_FLAG" val="#wm#"/>
  <p:tag name="KSO_WM_TAG_VERSION" val="1.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TABLE_ENDDRAG_ORIGIN_RECT" val="470*107"/>
  <p:tag name="TABLE_ENDDRAG_RECT" val="55*384*470*107"/>
</p:tagLst>
</file>

<file path=ppt/tags/tag67.xml><?xml version="1.0" encoding="utf-8"?>
<p:tagLst xmlns:p="http://schemas.openxmlformats.org/presentationml/2006/main">
  <p:tag name="TABLE_ENDDRAG_ORIGIN_RECT" val="932*408"/>
  <p:tag name="TABLE_ENDDRAG_RECT" val="10*119*932*408"/>
</p:tagLst>
</file>

<file path=ppt/tags/tag68.xml><?xml version="1.0" encoding="utf-8"?>
<p:tagLst xmlns:p="http://schemas.openxmlformats.org/presentationml/2006/main">
  <p:tag name="TABLE_ENDDRAG_ORIGIN_RECT" val="934*272"/>
  <p:tag name="TABLE_ENDDRAG_RECT" val="17*353*934*272"/>
</p:tagLst>
</file>

<file path=ppt/tags/tag69.xml><?xml version="1.0" encoding="utf-8"?>
<p:tagLst xmlns:p="http://schemas.openxmlformats.org/presentationml/2006/main">
  <p:tag name="TABLE_ENDDRAG_ORIGIN_RECT" val="810*297"/>
  <p:tag name="TABLE_ENDDRAG_RECT" val="48*251*810*297"/>
</p:tagLst>
</file>

<file path=ppt/tags/tag70.xml><?xml version="1.0" encoding="utf-8"?>
<p:tagLst xmlns:p="http://schemas.openxmlformats.org/presentationml/2006/main">
  <p:tag name="TABLE_ENDDRAG_ORIGIN_RECT" val="951*397"/>
  <p:tag name="TABLE_ENDDRAG_RECT" val="8*179*951*398"/>
</p:tagLst>
</file>

<file path=ppt/tags/tag71.xml><?xml version="1.0" encoding="utf-8"?>
<p:tagLst xmlns:p="http://schemas.openxmlformats.org/presentationml/2006/main">
  <p:tag name="TABLE_ENDDRAG_ORIGIN_RECT" val="864*417"/>
  <p:tag name="TABLE_ENDDRAG_RECT" val="47*169*864*417"/>
</p:tagLst>
</file>

<file path=ppt/tags/tag72.xml><?xml version="1.0" encoding="utf-8"?>
<p:tagLst xmlns:p="http://schemas.openxmlformats.org/presentationml/2006/main">
  <p:tag name="TABLE_ENDDRAG_ORIGIN_RECT" val="892*330"/>
  <p:tag name="TABLE_ENDDRAG_RECT" val="33*133*892*33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11806</Words>
  <Application>WPS 演示</Application>
  <PresentationFormat>宽屏</PresentationFormat>
  <Paragraphs>1022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6" baseType="lpstr">
      <vt:lpstr>Arial</vt:lpstr>
      <vt:lpstr>宋体</vt:lpstr>
      <vt:lpstr>Wingdings</vt:lpstr>
      <vt:lpstr>Wingdings</vt:lpstr>
      <vt:lpstr>黑体</vt:lpstr>
      <vt:lpstr>Georgia</vt:lpstr>
      <vt:lpstr>汉仪中黑KW</vt:lpstr>
      <vt:lpstr>Calibri Light</vt:lpstr>
      <vt:lpstr>Helvetica Neue</vt:lpstr>
      <vt:lpstr>Impact</vt:lpstr>
      <vt:lpstr>苹方-简</vt:lpstr>
      <vt:lpstr>微软雅黑</vt:lpstr>
      <vt:lpstr>汉仪旗黑</vt:lpstr>
      <vt:lpstr>宋体</vt:lpstr>
      <vt:lpstr>Arial Unicode MS</vt:lpstr>
      <vt:lpstr>等线</vt:lpstr>
      <vt:lpstr>汉仪中等线KW</vt:lpstr>
      <vt:lpstr>Songti SC Regular</vt:lpstr>
      <vt:lpstr>汉仪书宋二KW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总目标</vt:lpstr>
      <vt:lpstr>PowerPoint 演示文稿</vt:lpstr>
      <vt:lpstr>motivation example</vt:lpstr>
      <vt:lpstr>PowerPoint 演示文稿</vt:lpstr>
      <vt:lpstr>The hottest function is often a symptom,    not the best edit location.</vt:lpstr>
      <vt:lpstr>思路</vt:lpstr>
      <vt:lpstr>PowerPoint 演示文稿</vt:lpstr>
      <vt:lpstr>3.Method</vt:lpstr>
      <vt:lpstr>PowerPoint 演示文稿</vt:lpstr>
      <vt:lpstr>方法优势</vt:lpstr>
      <vt:lpstr>PowerPoint 演示文稿</vt:lpstr>
      <vt:lpstr>4.1 Experiment Setup</vt:lpstr>
      <vt:lpstr>4.2 RQs</vt:lpstr>
      <vt:lpstr>RQ1 总体上correctness&amp;speedup的有效性</vt:lpstr>
      <vt:lpstr>RQ1 总体上speedup&amp;speedup的有效性</vt:lpstr>
      <vt:lpstr>RQ2 detail analysis case上的speedup，</vt:lpstr>
      <vt:lpstr>RQ2 detail analysis case上的speedup，各repo上的</vt:lpstr>
      <vt:lpstr>RQ2 detail analysis edit fucn命中等 </vt:lpstr>
      <vt:lpstr>RQ2 detail analysis(best benifit func &amp;edit func)  </vt:lpstr>
      <vt:lpstr>RQ2 detail analysis (best benifit func &amp;edit func)</vt:lpstr>
      <vt:lpstr>RQ3 ablation study </vt:lpstr>
      <vt:lpstr>RQ3 ablation study </vt:lpstr>
      <vt:lpstr>RQ4 case study </vt:lpstr>
      <vt:lpstr>4.4.1 Case study: success</vt:lpstr>
      <vt:lpstr>4.4.2 Case study: exceeds expert</vt:lpstr>
      <vt:lpstr>4.4.3 Case study: failure</vt:lpstr>
      <vt:lpstr>4.4.4 Case study: cython</vt:lpstr>
      <vt:lpstr>PowerPoint 演示文稿</vt:lpstr>
      <vt:lpstr>Limits</vt:lpstr>
      <vt:lpstr>PowerPoint 演示文稿</vt:lpstr>
      <vt:lpstr>可能的问题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ベ断桥烟雨ミ</cp:lastModifiedBy>
  <cp:revision>313</cp:revision>
  <dcterms:created xsi:type="dcterms:W3CDTF">2026-05-28T02:25:44Z</dcterms:created>
  <dcterms:modified xsi:type="dcterms:W3CDTF">2026-05-28T02:25:44Z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FC3AFB28DFC1F6E82AB9136A9CBC4D9D_41</vt:lpwstr>
  </property>
</Properties>
</file>